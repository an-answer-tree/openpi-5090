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240000" cy="5257800"/>
  <p:notesSz cx="52578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 third-slide replacement: title, shared-input banner and objective/deployment footer removed.
Teacher and student occupy adjacent rows in one continuous frame. PCD and ACL are embedded on the right; there is no full-width loss aisle.
Teacher cues use native action-token attention at layer 10, with original normalization, output projection and time-conditioned scaling.
PCD compares each view separately. The plus sign in the student path is only the sum for cue fusion.
Gate denotes tanh(gamma), initialized at zero. sg blocks action-loss gradients through predicted cues.
Cue predictors and the gate remain active at deployment. ACL uses the same noisy actions and flow times for both models.
Ground-truth flow supervision remains active; its full objective is omitted from this compact main figure.
Attention colors are schematic. Camera inputs are genuine synchronized Spatial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91440"/>
            <a:ext cx="15014448" cy="5056632"/>
          </a:xfrm>
          <a:prstGeom prst="rect">
            <a:avLst/>
          </a:prstGeom>
          <a:solidFill>
            <a:srgbClr val="FFFFFF"/>
          </a:solidFill>
          <a:ln w="11430">
            <a:solidFill>
              <a:srgbClr val="CAD8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28016"/>
            <a:ext cx="14941296" cy="2404872"/>
          </a:xfrm>
          <a:prstGeom prst="rect">
            <a:avLst/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2532888"/>
            <a:ext cx="14941296" cy="2578608"/>
          </a:xfrm>
          <a:prstGeom prst="rect">
            <a:avLst/>
          </a:prstGeom>
          <a:solidFill>
            <a:srgbClr val="F1F8F5"/>
          </a:solidFill>
          <a:ln w="12700">
            <a:solidFill>
              <a:srgbClr val="F1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32888"/>
            <a:ext cx="14904720" cy="0"/>
          </a:xfrm>
          <a:prstGeom prst="line">
            <a:avLst/>
          </a:prstGeom>
          <a:noFill/>
          <a:ln w="8890">
            <a:solidFill>
              <a:srgbClr val="D6E3E9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02336" y="292608"/>
            <a:ext cx="5577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teacher (frozen)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02336" y="2688336"/>
            <a:ext cx="3794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Single-view student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1585448" y="374904"/>
            <a:ext cx="301752" cy="0"/>
          </a:xfrm>
          <a:prstGeom prst="line">
            <a:avLst/>
          </a:prstGeom>
          <a:noFill/>
          <a:ln w="15240">
            <a:solidFill>
              <a:srgbClr val="26364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1960352" y="246888"/>
            <a:ext cx="97840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139928" y="374904"/>
            <a:ext cx="301752" cy="0"/>
          </a:xfrm>
          <a:prstGeom prst="line">
            <a:avLst/>
          </a:prstGeom>
          <a:noFill/>
          <a:ln w="1524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514832" y="246888"/>
            <a:ext cx="1344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1060704"/>
            <a:ext cx="768096" cy="768096"/>
          </a:xfrm>
          <a:prstGeom prst="rect">
            <a:avLst/>
          </a:prstGeom>
          <a:solidFill>
            <a:srgbClr val="FFFFFF"/>
          </a:solidFill>
          <a:ln w="11430">
            <a:solidFill>
              <a:srgbClr val="356796"/>
            </a:solidFill>
            <a:prstDash val="solid"/>
          </a:ln>
        </p:spPr>
      </p:sp>
      <p:pic>
        <p:nvPicPr>
          <p:cNvPr id="13" name="Image 0" descr="/home/liutong/Projects/openpi-5090/paper/Figures/ACPD_method_overview/assets/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078992"/>
            <a:ext cx="731520" cy="731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9184" y="1860804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98448" y="1060704"/>
            <a:ext cx="768096" cy="768096"/>
          </a:xfrm>
          <a:prstGeom prst="rect">
            <a:avLst/>
          </a:prstGeom>
          <a:solidFill>
            <a:srgbClr val="FFFFFF"/>
          </a:solidFill>
          <a:ln w="11430">
            <a:solidFill>
              <a:srgbClr val="C79A45"/>
            </a:solidFill>
            <a:prstDash val="solid"/>
          </a:ln>
        </p:spPr>
      </p:sp>
      <p:pic>
        <p:nvPicPr>
          <p:cNvPr id="16" name="Image 1" descr="/home/liutong/Projects/openpi-5090/paper/Figures/ACPD_method_overview/assets/wr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078992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43584" y="1860804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423160" y="987552"/>
            <a:ext cx="1554480" cy="950976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3567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05456" y="1115568"/>
            <a:ext cx="13898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389120" y="685800"/>
            <a:ext cx="2103120" cy="1664208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35679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98848" y="795528"/>
            <a:ext cx="1883664" cy="58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Flow-matching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expert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4535424" y="1581912"/>
            <a:ext cx="181051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35679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99432" y="1623060"/>
            <a:ext cx="1005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10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660136" y="165963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70448" y="165963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0760" y="165963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35424" y="2057400"/>
            <a:ext cx="1810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states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2103120" y="1463040"/>
            <a:ext cx="25603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4032504" y="1463040"/>
            <a:ext cx="292608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004304" y="777240"/>
            <a:ext cx="1984248" cy="16093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9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04888" y="896112"/>
            <a:ext cx="17830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extraction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7214616" y="1316736"/>
            <a:ext cx="155448" cy="155448"/>
          </a:xfrm>
          <a:prstGeom prst="rect">
            <a:avLst/>
          </a:prstGeom>
          <a:solidFill>
            <a:srgbClr val="6E92B3"/>
          </a:solidFill>
          <a:ln w="12700">
            <a:solidFill>
              <a:srgbClr val="6E92B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97496" y="1316736"/>
            <a:ext cx="155448" cy="155448"/>
          </a:xfrm>
          <a:prstGeom prst="rect">
            <a:avLst/>
          </a:prstGeom>
          <a:solidFill>
            <a:srgbClr val="A6BCD1"/>
          </a:solidFill>
          <a:ln w="12700">
            <a:solidFill>
              <a:srgbClr val="A6BCD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580376" y="1316736"/>
            <a:ext cx="155448" cy="155448"/>
          </a:xfrm>
          <a:prstGeom prst="rect">
            <a:avLst/>
          </a:prstGeom>
          <a:solidFill>
            <a:srgbClr val="EFE3CB"/>
          </a:solidFill>
          <a:ln w="12700">
            <a:solidFill>
              <a:srgbClr val="EFE3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763256" y="1316736"/>
            <a:ext cx="155448" cy="155448"/>
          </a:xfrm>
          <a:prstGeom prst="rect">
            <a:avLst/>
          </a:prstGeom>
          <a:solidFill>
            <a:srgbClr val="E0C799"/>
          </a:solidFill>
          <a:ln w="12700">
            <a:solidFill>
              <a:srgbClr val="E0C79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946136" y="1316736"/>
            <a:ext cx="155448" cy="155448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129016" y="1316736"/>
            <a:ext cx="155448" cy="155448"/>
          </a:xfrm>
          <a:prstGeom prst="rect">
            <a:avLst/>
          </a:prstGeom>
          <a:solidFill>
            <a:srgbClr val="E7E9ED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311896" y="1316736"/>
            <a:ext cx="155448" cy="15544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494776" y="1316736"/>
            <a:ext cx="155448" cy="155448"/>
          </a:xfrm>
          <a:prstGeom prst="rect">
            <a:avLst/>
          </a:prstGeom>
          <a:solidFill>
            <a:srgbClr val="EDEEF1"/>
          </a:solidFill>
          <a:ln w="12700">
            <a:solidFill>
              <a:srgbClr val="EDEEF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214616" y="1504188"/>
            <a:ext cx="155448" cy="155448"/>
          </a:xfrm>
          <a:prstGeom prst="rect">
            <a:avLst/>
          </a:prstGeom>
          <a:solidFill>
            <a:srgbClr val="B6C8D9"/>
          </a:solidFill>
          <a:ln w="12700">
            <a:solidFill>
              <a:srgbClr val="B6C8D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397496" y="1504188"/>
            <a:ext cx="155448" cy="155448"/>
          </a:xfrm>
          <a:prstGeom prst="rect">
            <a:avLst/>
          </a:prstGeom>
          <a:solidFill>
            <a:srgbClr val="82A1BE"/>
          </a:solidFill>
          <a:ln w="12700">
            <a:solidFill>
              <a:srgbClr val="82A1B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580376" y="1504188"/>
            <a:ext cx="155448" cy="155448"/>
          </a:xfrm>
          <a:prstGeom prst="rect">
            <a:avLst/>
          </a:prstGeom>
          <a:solidFill>
            <a:srgbClr val="D5B374"/>
          </a:solidFill>
          <a:ln w="12700">
            <a:solidFill>
              <a:srgbClr val="D5B374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763256" y="1504188"/>
            <a:ext cx="155448" cy="155448"/>
          </a:xfrm>
          <a:prstGeom prst="rect">
            <a:avLst/>
          </a:prstGeom>
          <a:solidFill>
            <a:srgbClr val="E7D5B1"/>
          </a:solidFill>
          <a:ln w="12700">
            <a:solidFill>
              <a:srgbClr val="E7D5B1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946136" y="1504188"/>
            <a:ext cx="155448" cy="155448"/>
          </a:xfrm>
          <a:prstGeom prst="rect">
            <a:avLst/>
          </a:prstGeom>
          <a:solidFill>
            <a:srgbClr val="E4E7EB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29016" y="1504188"/>
            <a:ext cx="155448" cy="155448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311896" y="1504188"/>
            <a:ext cx="155448" cy="155448"/>
          </a:xfrm>
          <a:prstGeom prst="rect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494776" y="1504188"/>
            <a:ext cx="155448" cy="15544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214616" y="1691640"/>
            <a:ext cx="155448" cy="155448"/>
          </a:xfrm>
          <a:prstGeom prst="rect">
            <a:avLst/>
          </a:prstGeom>
          <a:solidFill>
            <a:srgbClr val="8CA8C3"/>
          </a:solidFill>
          <a:ln w="12700">
            <a:solidFill>
              <a:srgbClr val="8CA8C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97496" y="1691640"/>
            <a:ext cx="155448" cy="155448"/>
          </a:xfrm>
          <a:prstGeom prst="rect">
            <a:avLst/>
          </a:prstGeom>
          <a:solidFill>
            <a:srgbClr val="D5DFE9"/>
          </a:solidFill>
          <a:ln w="12700">
            <a:solidFill>
              <a:srgbClr val="D5DFE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580376" y="1691640"/>
            <a:ext cx="155448" cy="155448"/>
          </a:xfrm>
          <a:prstGeom prst="rect">
            <a:avLst/>
          </a:prstGeom>
          <a:solidFill>
            <a:srgbClr val="EAD9B8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763256" y="1691640"/>
            <a:ext cx="155448" cy="155448"/>
          </a:xfrm>
          <a:prstGeom prst="rect">
            <a:avLst/>
          </a:prstGeom>
          <a:solidFill>
            <a:srgbClr val="D6B475"/>
          </a:solidFill>
          <a:ln w="12700">
            <a:solidFill>
              <a:srgbClr val="D6B475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946136" y="1691640"/>
            <a:ext cx="155448" cy="155448"/>
          </a:xfrm>
          <a:prstGeom prst="rect">
            <a:avLst/>
          </a:prstGeom>
          <a:solidFill>
            <a:srgbClr val="EBEDF0"/>
          </a:solidFill>
          <a:ln w="12700">
            <a:solidFill>
              <a:srgbClr val="EBEDF0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129016" y="1691640"/>
            <a:ext cx="155448" cy="155448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311896" y="1691640"/>
            <a:ext cx="155448" cy="15544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494776" y="1691640"/>
            <a:ext cx="155448" cy="155448"/>
          </a:xfrm>
          <a:prstGeom prst="rect">
            <a:avLst/>
          </a:prstGeom>
          <a:solidFill>
            <a:srgbClr val="E8EBEE"/>
          </a:solidFill>
          <a:ln w="12700">
            <a:solidFill>
              <a:srgbClr val="E8EBEE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095744" y="1920240"/>
            <a:ext cx="180136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× values</a:t>
            </a:r>
            <a:endParaRPr lang="en-US" sz="1650" dirty="0"/>
          </a:p>
        </p:txBody>
      </p:sp>
      <p:sp>
        <p:nvSpPr>
          <p:cNvPr id="57" name="Text 53"/>
          <p:cNvSpPr/>
          <p:nvPr/>
        </p:nvSpPr>
        <p:spPr>
          <a:xfrm>
            <a:off x="7077456" y="2157984"/>
            <a:ext cx="18379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+ scaling</a:t>
            </a:r>
            <a:endParaRPr lang="en-US" sz="1550" dirty="0"/>
          </a:p>
        </p:txBody>
      </p:sp>
      <p:sp>
        <p:nvSpPr>
          <p:cNvPr id="58" name="Shape 54"/>
          <p:cNvSpPr/>
          <p:nvPr/>
        </p:nvSpPr>
        <p:spPr>
          <a:xfrm>
            <a:off x="6547104" y="1737360"/>
            <a:ext cx="39319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9354312" y="886968"/>
            <a:ext cx="1764792" cy="1216152"/>
          </a:xfrm>
          <a:prstGeom prst="roundRect">
            <a:avLst/>
          </a:prstGeom>
          <a:solidFill>
            <a:srgbClr val="F7F9FC"/>
          </a:solidFill>
          <a:ln w="7620">
            <a:solidFill>
              <a:srgbClr val="E1E9F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9445752" y="978408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356796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9518904" y="1010412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300" dirty="0"/>
          </a:p>
        </p:txBody>
      </p:sp>
      <p:sp>
        <p:nvSpPr>
          <p:cNvPr id="62" name="Shape 58"/>
          <p:cNvSpPr/>
          <p:nvPr/>
        </p:nvSpPr>
        <p:spPr>
          <a:xfrm>
            <a:off x="10323576" y="111556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0469880" y="111556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0616184" y="111556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0762488" y="111556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445752" y="1563624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79A4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518904" y="1595628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2300" dirty="0"/>
          </a:p>
        </p:txBody>
      </p:sp>
      <p:sp>
        <p:nvSpPr>
          <p:cNvPr id="68" name="Shape 64"/>
          <p:cNvSpPr/>
          <p:nvPr/>
        </p:nvSpPr>
        <p:spPr>
          <a:xfrm>
            <a:off x="10323576" y="170078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469880" y="170078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0616184" y="170078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762488" y="170078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034272" y="1664208"/>
            <a:ext cx="146304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3" name="Shape 69"/>
          <p:cNvSpPr/>
          <p:nvPr/>
        </p:nvSpPr>
        <p:spPr>
          <a:xfrm flipV="1">
            <a:off x="9180576" y="1188720"/>
            <a:ext cx="0" cy="475488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4" name="Shape 70"/>
          <p:cNvSpPr/>
          <p:nvPr/>
        </p:nvSpPr>
        <p:spPr>
          <a:xfrm>
            <a:off x="9180576" y="1188720"/>
            <a:ext cx="21031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75" name="Shape 71"/>
          <p:cNvSpPr/>
          <p:nvPr/>
        </p:nvSpPr>
        <p:spPr>
          <a:xfrm>
            <a:off x="9180576" y="1664208"/>
            <a:ext cx="0" cy="109728"/>
          </a:xfrm>
          <a:prstGeom prst="line">
            <a:avLst/>
          </a:prstGeom>
          <a:noFill/>
          <a:ln w="19050">
            <a:solidFill>
              <a:srgbClr val="C79A45"/>
            </a:solidFill>
            <a:prstDash val="solid"/>
            <a:headEnd type="none"/>
            <a:tailEnd type="none"/>
          </a:ln>
        </p:spPr>
      </p:sp>
      <p:sp>
        <p:nvSpPr>
          <p:cNvPr id="76" name="Shape 72"/>
          <p:cNvSpPr/>
          <p:nvPr/>
        </p:nvSpPr>
        <p:spPr>
          <a:xfrm>
            <a:off x="9180576" y="1773936"/>
            <a:ext cx="210312" cy="0"/>
          </a:xfrm>
          <a:prstGeom prst="line">
            <a:avLst/>
          </a:prstGeom>
          <a:noFill/>
          <a:ln w="19050">
            <a:solidFill>
              <a:srgbClr val="C79A45"/>
            </a:solidFill>
            <a:prstDash val="solid"/>
            <a:headEnd type="none"/>
            <a:tailEnd type="triangle"/>
          </a:ln>
        </p:spPr>
      </p:sp>
      <p:sp>
        <p:nvSpPr>
          <p:cNvPr id="77" name="Shape 73"/>
          <p:cNvSpPr/>
          <p:nvPr/>
        </p:nvSpPr>
        <p:spPr>
          <a:xfrm>
            <a:off x="6547104" y="1033272"/>
            <a:ext cx="201168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8" name="Shape 74"/>
          <p:cNvSpPr/>
          <p:nvPr/>
        </p:nvSpPr>
        <p:spPr>
          <a:xfrm flipV="1">
            <a:off x="6748272" y="640080"/>
            <a:ext cx="0" cy="393192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9" name="Shape 75"/>
          <p:cNvSpPr/>
          <p:nvPr/>
        </p:nvSpPr>
        <p:spPr>
          <a:xfrm>
            <a:off x="6748272" y="640080"/>
            <a:ext cx="7306056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80" name="Shape 76"/>
          <p:cNvSpPr/>
          <p:nvPr/>
        </p:nvSpPr>
        <p:spPr>
          <a:xfrm>
            <a:off x="14054328" y="640080"/>
            <a:ext cx="0" cy="301752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81" name="Text 77"/>
          <p:cNvSpPr/>
          <p:nvPr/>
        </p:nvSpPr>
        <p:spPr>
          <a:xfrm>
            <a:off x="13761720" y="1005840"/>
            <a:ext cx="58521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567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vᵗ</a:t>
            </a:r>
            <a:endParaRPr lang="en-US" sz="3000" dirty="0"/>
          </a:p>
        </p:txBody>
      </p:sp>
      <p:sp>
        <p:nvSpPr>
          <p:cNvPr id="82" name="Text 78"/>
          <p:cNvSpPr/>
          <p:nvPr/>
        </p:nvSpPr>
        <p:spPr>
          <a:xfrm>
            <a:off x="13112496" y="1435608"/>
            <a:ext cx="18196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velocity</a:t>
            </a:r>
            <a:endParaRPr lang="en-US" sz="1600" dirty="0"/>
          </a:p>
        </p:txBody>
      </p:sp>
      <p:sp>
        <p:nvSpPr>
          <p:cNvPr id="83" name="Shape 79"/>
          <p:cNvSpPr/>
          <p:nvPr/>
        </p:nvSpPr>
        <p:spPr>
          <a:xfrm>
            <a:off x="13441680" y="1874520"/>
            <a:ext cx="1234440" cy="448056"/>
          </a:xfrm>
          <a:prstGeom prst="roundRect">
            <a:avLst/>
          </a:prstGeom>
          <a:solidFill>
            <a:srgbClr val="FFF6E6"/>
          </a:solidFill>
          <a:ln w="11430">
            <a:solidFill>
              <a:srgbClr val="E6D4AF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13533120" y="1938528"/>
            <a:ext cx="105156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2200" dirty="0"/>
          </a:p>
        </p:txBody>
      </p:sp>
      <p:sp>
        <p:nvSpPr>
          <p:cNvPr id="85" name="Shape 81"/>
          <p:cNvSpPr/>
          <p:nvPr/>
        </p:nvSpPr>
        <p:spPr>
          <a:xfrm>
            <a:off x="14054328" y="1719072"/>
            <a:ext cx="0" cy="100584"/>
          </a:xfrm>
          <a:prstGeom prst="line">
            <a:avLst/>
          </a:prstGeom>
          <a:noFill/>
          <a:ln w="19050">
            <a:solidFill>
              <a:srgbClr val="356796"/>
            </a:solidFill>
            <a:prstDash val="dash"/>
            <a:headEnd type="none"/>
            <a:tailEnd type="triangle"/>
          </a:ln>
        </p:spPr>
      </p:sp>
      <p:sp>
        <p:nvSpPr>
          <p:cNvPr id="86" name="Shape 82"/>
          <p:cNvSpPr/>
          <p:nvPr/>
        </p:nvSpPr>
        <p:spPr>
          <a:xfrm>
            <a:off x="11695176" y="1874520"/>
            <a:ext cx="1234440" cy="448056"/>
          </a:xfrm>
          <a:prstGeom prst="roundRect">
            <a:avLst/>
          </a:prstGeom>
          <a:solidFill>
            <a:srgbClr val="F5EFFB"/>
          </a:solidFill>
          <a:ln w="11430">
            <a:solidFill>
              <a:srgbClr val="DCCDEE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11786616" y="1938528"/>
            <a:ext cx="105156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</a:t>
            </a:r>
            <a:endParaRPr lang="en-US" sz="2200" dirty="0"/>
          </a:p>
        </p:txBody>
      </p:sp>
      <p:sp>
        <p:nvSpPr>
          <p:cNvPr id="88" name="Shape 84"/>
          <p:cNvSpPr/>
          <p:nvPr/>
        </p:nvSpPr>
        <p:spPr>
          <a:xfrm>
            <a:off x="11164824" y="1499616"/>
            <a:ext cx="24688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89" name="Shape 85"/>
          <p:cNvSpPr/>
          <p:nvPr/>
        </p:nvSpPr>
        <p:spPr>
          <a:xfrm>
            <a:off x="11411712" y="1499616"/>
            <a:ext cx="0" cy="603504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0" name="Shape 86"/>
          <p:cNvSpPr/>
          <p:nvPr/>
        </p:nvSpPr>
        <p:spPr>
          <a:xfrm>
            <a:off x="11411712" y="2103120"/>
            <a:ext cx="22860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91" name="Shape 87"/>
          <p:cNvSpPr/>
          <p:nvPr/>
        </p:nvSpPr>
        <p:spPr>
          <a:xfrm>
            <a:off x="11155680" y="3328416"/>
            <a:ext cx="10972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2" name="Shape 88"/>
          <p:cNvSpPr/>
          <p:nvPr/>
        </p:nvSpPr>
        <p:spPr>
          <a:xfrm flipV="1">
            <a:off x="11265408" y="2423160"/>
            <a:ext cx="0" cy="905256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3" name="Shape 89"/>
          <p:cNvSpPr/>
          <p:nvPr/>
        </p:nvSpPr>
        <p:spPr>
          <a:xfrm>
            <a:off x="11265408" y="2423160"/>
            <a:ext cx="105156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4" name="Shape 90"/>
          <p:cNvSpPr/>
          <p:nvPr/>
        </p:nvSpPr>
        <p:spPr>
          <a:xfrm flipV="1">
            <a:off x="12316968" y="2368296"/>
            <a:ext cx="0" cy="54864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95" name="Shape 91"/>
          <p:cNvSpPr/>
          <p:nvPr/>
        </p:nvSpPr>
        <p:spPr>
          <a:xfrm>
            <a:off x="822960" y="3044952"/>
            <a:ext cx="987552" cy="987552"/>
          </a:xfrm>
          <a:prstGeom prst="rect">
            <a:avLst/>
          </a:prstGeom>
          <a:solidFill>
            <a:srgbClr val="FFFFFF"/>
          </a:solidFill>
          <a:ln w="11430">
            <a:solidFill>
              <a:srgbClr val="187C70"/>
            </a:solidFill>
            <a:prstDash val="solid"/>
          </a:ln>
        </p:spPr>
      </p:sp>
      <p:pic>
        <p:nvPicPr>
          <p:cNvPr id="96" name="Image 2" descr="/home/liutong/Projects/openpi-5090/paper/Figures/ACPD_method_overview/assets/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063240"/>
            <a:ext cx="950976" cy="950976"/>
          </a:xfrm>
          <a:prstGeom prst="rect">
            <a:avLst/>
          </a:prstGeom>
        </p:spPr>
      </p:pic>
      <p:sp>
        <p:nvSpPr>
          <p:cNvPr id="97" name="Text 92"/>
          <p:cNvSpPr/>
          <p:nvPr/>
        </p:nvSpPr>
        <p:spPr>
          <a:xfrm>
            <a:off x="768096" y="4064508"/>
            <a:ext cx="10972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view</a:t>
            </a:r>
            <a:endParaRPr lang="en-US" sz="1800" dirty="0"/>
          </a:p>
        </p:txBody>
      </p:sp>
      <p:sp>
        <p:nvSpPr>
          <p:cNvPr id="98" name="Shape 93"/>
          <p:cNvSpPr/>
          <p:nvPr/>
        </p:nvSpPr>
        <p:spPr>
          <a:xfrm>
            <a:off x="2423160" y="3063240"/>
            <a:ext cx="1554480" cy="950976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87C70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2505456" y="3191256"/>
            <a:ext cx="13898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2000" dirty="0"/>
          </a:p>
        </p:txBody>
      </p:sp>
      <p:sp>
        <p:nvSpPr>
          <p:cNvPr id="100" name="Shape 95"/>
          <p:cNvSpPr/>
          <p:nvPr/>
        </p:nvSpPr>
        <p:spPr>
          <a:xfrm>
            <a:off x="4389120" y="2834640"/>
            <a:ext cx="2103120" cy="1664208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87C70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4498848" y="2944368"/>
            <a:ext cx="1883664" cy="58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Flow-matching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expert</a:t>
            </a:r>
            <a:endParaRPr lang="en-US" sz="2100" dirty="0"/>
          </a:p>
        </p:txBody>
      </p:sp>
      <p:sp>
        <p:nvSpPr>
          <p:cNvPr id="102" name="Shape 97"/>
          <p:cNvSpPr/>
          <p:nvPr/>
        </p:nvSpPr>
        <p:spPr>
          <a:xfrm>
            <a:off x="4535424" y="3730752"/>
            <a:ext cx="181051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187C70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4599432" y="3771900"/>
            <a:ext cx="1005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10</a:t>
            </a:r>
            <a:endParaRPr lang="en-US" sz="1700" dirty="0"/>
          </a:p>
        </p:txBody>
      </p:sp>
      <p:sp>
        <p:nvSpPr>
          <p:cNvPr id="104" name="Shape 99"/>
          <p:cNvSpPr/>
          <p:nvPr/>
        </p:nvSpPr>
        <p:spPr>
          <a:xfrm>
            <a:off x="5660136" y="380847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5870448" y="380847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6080760" y="380847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4535424" y="4206240"/>
            <a:ext cx="1810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states</a:t>
            </a:r>
            <a:endParaRPr lang="en-US" sz="1650" dirty="0"/>
          </a:p>
        </p:txBody>
      </p:sp>
      <p:sp>
        <p:nvSpPr>
          <p:cNvPr id="108" name="Shape 103"/>
          <p:cNvSpPr/>
          <p:nvPr/>
        </p:nvSpPr>
        <p:spPr>
          <a:xfrm>
            <a:off x="1865376" y="3538728"/>
            <a:ext cx="493776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09" name="Shape 104"/>
          <p:cNvSpPr/>
          <p:nvPr/>
        </p:nvSpPr>
        <p:spPr>
          <a:xfrm>
            <a:off x="4032504" y="3538728"/>
            <a:ext cx="292608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10" name="Shape 105"/>
          <p:cNvSpPr/>
          <p:nvPr/>
        </p:nvSpPr>
        <p:spPr>
          <a:xfrm>
            <a:off x="7004304" y="3410712"/>
            <a:ext cx="1517904" cy="9326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53AC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7095744" y="3538728"/>
            <a:ext cx="13350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</a:t>
            </a:r>
            <a:endParaRPr lang="en-US" sz="1900" dirty="0"/>
          </a:p>
        </p:txBody>
      </p:sp>
      <p:sp>
        <p:nvSpPr>
          <p:cNvPr id="112" name="Text 107"/>
          <p:cNvSpPr/>
          <p:nvPr/>
        </p:nvSpPr>
        <p:spPr>
          <a:xfrm>
            <a:off x="7086600" y="4096512"/>
            <a:ext cx="13533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 + affine</a:t>
            </a:r>
            <a:endParaRPr lang="en-US" sz="1600" dirty="0"/>
          </a:p>
        </p:txBody>
      </p:sp>
      <p:sp>
        <p:nvSpPr>
          <p:cNvPr id="113" name="Shape 108"/>
          <p:cNvSpPr/>
          <p:nvPr/>
        </p:nvSpPr>
        <p:spPr>
          <a:xfrm>
            <a:off x="6547104" y="3877056"/>
            <a:ext cx="39319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14" name="Text 109"/>
          <p:cNvSpPr/>
          <p:nvPr/>
        </p:nvSpPr>
        <p:spPr>
          <a:xfrm>
            <a:off x="9336024" y="2862072"/>
            <a:ext cx="18013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cues</a:t>
            </a:r>
            <a:endParaRPr lang="en-US" sz="1800" dirty="0"/>
          </a:p>
        </p:txBody>
      </p:sp>
      <p:sp>
        <p:nvSpPr>
          <p:cNvPr id="115" name="Shape 110"/>
          <p:cNvSpPr/>
          <p:nvPr/>
        </p:nvSpPr>
        <p:spPr>
          <a:xfrm>
            <a:off x="9354312" y="3200400"/>
            <a:ext cx="1764792" cy="1216152"/>
          </a:xfrm>
          <a:prstGeom prst="roundRect">
            <a:avLst/>
          </a:prstGeom>
          <a:solidFill>
            <a:srgbClr val="F5EFFB"/>
          </a:solidFill>
          <a:ln w="7620">
            <a:solidFill>
              <a:srgbClr val="E5D9F1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445752" y="3291840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B53AC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9518904" y="3323844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300" dirty="0"/>
          </a:p>
        </p:txBody>
      </p:sp>
      <p:sp>
        <p:nvSpPr>
          <p:cNvPr id="118" name="Shape 113"/>
          <p:cNvSpPr/>
          <p:nvPr/>
        </p:nvSpPr>
        <p:spPr>
          <a:xfrm>
            <a:off x="10323576" y="342900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69880" y="342900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10616184" y="342900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10762488" y="342900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9445752" y="3877056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B53AC"/>
            </a:solidFill>
            <a:prstDash val="solid"/>
          </a:ln>
        </p:spPr>
      </p:sp>
      <p:sp>
        <p:nvSpPr>
          <p:cNvPr id="123" name="Text 118"/>
          <p:cNvSpPr/>
          <p:nvPr/>
        </p:nvSpPr>
        <p:spPr>
          <a:xfrm>
            <a:off x="9518904" y="3909060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2300" dirty="0"/>
          </a:p>
        </p:txBody>
      </p:sp>
      <p:sp>
        <p:nvSpPr>
          <p:cNvPr id="124" name="Shape 119"/>
          <p:cNvSpPr/>
          <p:nvPr/>
        </p:nvSpPr>
        <p:spPr>
          <a:xfrm>
            <a:off x="10323576" y="401421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10469880" y="401421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10616184" y="401421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10762488" y="401421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8577072" y="3877056"/>
            <a:ext cx="45720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29" name="Shape 124"/>
          <p:cNvSpPr/>
          <p:nvPr/>
        </p:nvSpPr>
        <p:spPr>
          <a:xfrm flipV="1">
            <a:off x="9034272" y="3502152"/>
            <a:ext cx="0" cy="374904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0" name="Shape 125"/>
          <p:cNvSpPr/>
          <p:nvPr/>
        </p:nvSpPr>
        <p:spPr>
          <a:xfrm>
            <a:off x="9034272" y="3502152"/>
            <a:ext cx="356616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31" name="Shape 126"/>
          <p:cNvSpPr/>
          <p:nvPr/>
        </p:nvSpPr>
        <p:spPr>
          <a:xfrm>
            <a:off x="9034272" y="3877056"/>
            <a:ext cx="0" cy="210312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2" name="Shape 127"/>
          <p:cNvSpPr/>
          <p:nvPr/>
        </p:nvSpPr>
        <p:spPr>
          <a:xfrm>
            <a:off x="9034272" y="4087368"/>
            <a:ext cx="356616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33" name="Text 128"/>
          <p:cNvSpPr/>
          <p:nvPr/>
        </p:nvSpPr>
        <p:spPr>
          <a:xfrm>
            <a:off x="11539728" y="2862072"/>
            <a:ext cx="20299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cue fusion</a:t>
            </a:r>
            <a:endParaRPr lang="en-US" sz="1900" dirty="0"/>
          </a:p>
        </p:txBody>
      </p:sp>
      <p:sp>
        <p:nvSpPr>
          <p:cNvPr id="134" name="Shape 129"/>
          <p:cNvSpPr/>
          <p:nvPr/>
        </p:nvSpPr>
        <p:spPr>
          <a:xfrm>
            <a:off x="11082528" y="3502152"/>
            <a:ext cx="25603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5" name="Shape 130"/>
          <p:cNvSpPr/>
          <p:nvPr/>
        </p:nvSpPr>
        <p:spPr>
          <a:xfrm>
            <a:off x="11338560" y="3502152"/>
            <a:ext cx="0" cy="292608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6" name="Shape 131"/>
          <p:cNvSpPr/>
          <p:nvPr/>
        </p:nvSpPr>
        <p:spPr>
          <a:xfrm>
            <a:off x="11082528" y="4087368"/>
            <a:ext cx="25603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7" name="Shape 132"/>
          <p:cNvSpPr/>
          <p:nvPr/>
        </p:nvSpPr>
        <p:spPr>
          <a:xfrm flipV="1">
            <a:off x="11338560" y="3794760"/>
            <a:ext cx="0" cy="292608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8" name="Shape 133"/>
          <p:cNvSpPr/>
          <p:nvPr/>
        </p:nvSpPr>
        <p:spPr>
          <a:xfrm>
            <a:off x="11215116" y="3671316"/>
            <a:ext cx="246888" cy="24688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7B53AC"/>
            </a:solidFill>
            <a:prstDash val="solid"/>
          </a:ln>
        </p:spPr>
      </p:sp>
      <p:sp>
        <p:nvSpPr>
          <p:cNvPr id="139" name="Text 134"/>
          <p:cNvSpPr/>
          <p:nvPr/>
        </p:nvSpPr>
        <p:spPr>
          <a:xfrm>
            <a:off x="11247120" y="3703320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40" name="Shape 135"/>
          <p:cNvSpPr/>
          <p:nvPr/>
        </p:nvSpPr>
        <p:spPr>
          <a:xfrm>
            <a:off x="11484864" y="3794760"/>
            <a:ext cx="15544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41" name="Shape 136"/>
          <p:cNvSpPr/>
          <p:nvPr/>
        </p:nvSpPr>
        <p:spPr>
          <a:xfrm>
            <a:off x="11704320" y="3593592"/>
            <a:ext cx="420624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AD94C6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11731752" y="3639312"/>
            <a:ext cx="3657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B5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</a:t>
            </a:r>
            <a:endParaRPr lang="en-US" sz="2000" dirty="0"/>
          </a:p>
        </p:txBody>
      </p:sp>
      <p:sp>
        <p:nvSpPr>
          <p:cNvPr id="143" name="Shape 138"/>
          <p:cNvSpPr/>
          <p:nvPr/>
        </p:nvSpPr>
        <p:spPr>
          <a:xfrm>
            <a:off x="12170664" y="3794760"/>
            <a:ext cx="146304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44" name="Shape 139"/>
          <p:cNvSpPr/>
          <p:nvPr/>
        </p:nvSpPr>
        <p:spPr>
          <a:xfrm>
            <a:off x="12380976" y="3511296"/>
            <a:ext cx="859536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7C70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12444984" y="364845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000" dirty="0"/>
          </a:p>
        </p:txBody>
      </p:sp>
      <p:sp>
        <p:nvSpPr>
          <p:cNvPr id="146" name="Shape 141"/>
          <p:cNvSpPr/>
          <p:nvPr/>
        </p:nvSpPr>
        <p:spPr>
          <a:xfrm>
            <a:off x="13295376" y="3794760"/>
            <a:ext cx="45720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7" name="Shape 142"/>
          <p:cNvSpPr/>
          <p:nvPr/>
        </p:nvSpPr>
        <p:spPr>
          <a:xfrm>
            <a:off x="13341096" y="3794760"/>
            <a:ext cx="0" cy="521208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8" name="Shape 143"/>
          <p:cNvSpPr/>
          <p:nvPr/>
        </p:nvSpPr>
        <p:spPr>
          <a:xfrm flipH="1">
            <a:off x="13085064" y="4315968"/>
            <a:ext cx="256032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9" name="Shape 144"/>
          <p:cNvSpPr/>
          <p:nvPr/>
        </p:nvSpPr>
        <p:spPr>
          <a:xfrm>
            <a:off x="13085064" y="4315968"/>
            <a:ext cx="0" cy="100584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0" name="Shape 145"/>
          <p:cNvSpPr/>
          <p:nvPr/>
        </p:nvSpPr>
        <p:spPr>
          <a:xfrm>
            <a:off x="6547104" y="4306824"/>
            <a:ext cx="210312" cy="0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51" name="Shape 146"/>
          <p:cNvSpPr/>
          <p:nvPr/>
        </p:nvSpPr>
        <p:spPr>
          <a:xfrm>
            <a:off x="6757416" y="4306824"/>
            <a:ext cx="0" cy="338328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52" name="Shape 147"/>
          <p:cNvSpPr/>
          <p:nvPr/>
        </p:nvSpPr>
        <p:spPr>
          <a:xfrm>
            <a:off x="6757416" y="4645152"/>
            <a:ext cx="6062472" cy="0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3" name="Text 148"/>
          <p:cNvSpPr/>
          <p:nvPr/>
        </p:nvSpPr>
        <p:spPr>
          <a:xfrm>
            <a:off x="7370064" y="4818888"/>
            <a:ext cx="45811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representations</a:t>
            </a:r>
            <a:endParaRPr lang="en-US" sz="1800" dirty="0"/>
          </a:p>
        </p:txBody>
      </p:sp>
      <p:sp>
        <p:nvSpPr>
          <p:cNvPr id="154" name="Shape 149"/>
          <p:cNvSpPr/>
          <p:nvPr/>
        </p:nvSpPr>
        <p:spPr>
          <a:xfrm>
            <a:off x="12888468" y="4448556"/>
            <a:ext cx="393192" cy="3931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87C70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12920472" y="4480560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56" name="Shape 151"/>
          <p:cNvSpPr/>
          <p:nvPr/>
        </p:nvSpPr>
        <p:spPr>
          <a:xfrm>
            <a:off x="13322808" y="4645152"/>
            <a:ext cx="146304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7" name="Shape 152"/>
          <p:cNvSpPr/>
          <p:nvPr/>
        </p:nvSpPr>
        <p:spPr>
          <a:xfrm>
            <a:off x="13533120" y="4279392"/>
            <a:ext cx="90525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7C70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13587984" y="4407408"/>
            <a:ext cx="79552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50" dirty="0"/>
          </a:p>
        </p:txBody>
      </p:sp>
      <p:sp>
        <p:nvSpPr>
          <p:cNvPr id="159" name="Shape 154"/>
          <p:cNvSpPr/>
          <p:nvPr/>
        </p:nvSpPr>
        <p:spPr>
          <a:xfrm>
            <a:off x="14484096" y="4645152"/>
            <a:ext cx="109728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60" name="Text 155"/>
          <p:cNvSpPr/>
          <p:nvPr/>
        </p:nvSpPr>
        <p:spPr>
          <a:xfrm>
            <a:off x="14630400" y="4443984"/>
            <a:ext cx="34747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rgbClr val="187C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vˢ</a:t>
            </a:r>
            <a:endParaRPr lang="en-US" sz="2900" dirty="0"/>
          </a:p>
        </p:txBody>
      </p:sp>
      <p:sp>
        <p:nvSpPr>
          <p:cNvPr id="161" name="Shape 156"/>
          <p:cNvSpPr/>
          <p:nvPr/>
        </p:nvSpPr>
        <p:spPr>
          <a:xfrm>
            <a:off x="14804136" y="4389120"/>
            <a:ext cx="164592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none"/>
          </a:ln>
        </p:spPr>
      </p:sp>
      <p:sp>
        <p:nvSpPr>
          <p:cNvPr id="162" name="Shape 157"/>
          <p:cNvSpPr/>
          <p:nvPr/>
        </p:nvSpPr>
        <p:spPr>
          <a:xfrm flipV="1">
            <a:off x="14968728" y="2103120"/>
            <a:ext cx="0" cy="228600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none"/>
          </a:ln>
        </p:spPr>
      </p:sp>
      <p:sp>
        <p:nvSpPr>
          <p:cNvPr id="163" name="Shape 158"/>
          <p:cNvSpPr/>
          <p:nvPr/>
        </p:nvSpPr>
        <p:spPr>
          <a:xfrm flipH="1">
            <a:off x="14740128" y="2103120"/>
            <a:ext cx="228600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ACPD method overview</dc:title>
  <dc:subject>Compact teacher/student diagram with embedded cue and velocity supervision</dc:subject>
  <dc:creator>ACPD research</dc:creator>
  <cp:lastModifiedBy>ACPD research</cp:lastModifiedBy>
  <cp:revision>1</cp:revision>
  <dcterms:created xsi:type="dcterms:W3CDTF">2026-10-29T05:49:14Z</dcterms:created>
  <dcterms:modified xsi:type="dcterms:W3CDTF">2026-10-29T05:49:14Z</dcterms:modified>
</cp:coreProperties>
</file>