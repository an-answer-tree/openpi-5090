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5240000" cy="5257800"/>
  <p:notesSz cx="5257800" cy="1524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Compact third-slide replacement: title, shared-input banner and objective/deployment footer removed.
Teacher and student occupy adjacent rows in one continuous frame. PCD and ACL are embedded on the right; there is no full-width loss aisle.
Teacher cues use native action-token attention at layer 10, with original normalization, output projection and time-conditioned scaling.
PCD compares each view separately. The plus sign in the student path is only the sum for cue fusion.
Gate denotes tanh(gamma), initialized at zero. sg blocks action-loss gradients through predicted cues.
Cue predictors and the gate remain active at deployment. ACL uses the same noisy actions and flow times for both models.
Ground-truth flow supervision remains active; its full objective is omitted from this compact main figure.
Attention colors are schematic. Camera inputs are genuine synchronized Spatial images.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" y="91440"/>
            <a:ext cx="15014448" cy="5056632"/>
          </a:xfrm>
          <a:prstGeom prst="rect">
            <a:avLst/>
          </a:prstGeom>
          <a:solidFill>
            <a:srgbClr val="FFFFFF"/>
          </a:solidFill>
          <a:ln w="15431">
            <a:solidFill>
              <a:srgbClr val="CAD8E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6304" y="128016"/>
            <a:ext cx="14941296" cy="2404872"/>
          </a:xfrm>
          <a:prstGeom prst="rect">
            <a:avLst/>
          </a:prstGeom>
          <a:solidFill>
            <a:srgbClr val="F4F8FD"/>
          </a:solidFill>
          <a:ln w="12700">
            <a:solidFill>
              <a:srgbClr val="F4F8F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46304" y="2532888"/>
            <a:ext cx="14941296" cy="2578608"/>
          </a:xfrm>
          <a:prstGeom prst="rect">
            <a:avLst/>
          </a:prstGeom>
          <a:solidFill>
            <a:srgbClr val="F1F8F5"/>
          </a:solidFill>
          <a:ln w="12700">
            <a:solidFill>
              <a:srgbClr val="F1F8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4592" y="2532888"/>
            <a:ext cx="14904720" cy="0"/>
          </a:xfrm>
          <a:prstGeom prst="line">
            <a:avLst/>
          </a:prstGeom>
          <a:noFill/>
          <a:ln w="11113">
            <a:solidFill>
              <a:srgbClr val="D6E3E9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402336" y="292608"/>
            <a:ext cx="557784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567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Multi-view teacher (frozen)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402336" y="2688336"/>
            <a:ext cx="3794760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87C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Single-view student</a:t>
            </a:r>
            <a:endParaRPr lang="en-US" sz="2500" dirty="0"/>
          </a:p>
        </p:txBody>
      </p:sp>
      <p:sp>
        <p:nvSpPr>
          <p:cNvPr id="8" name="Shape 6"/>
          <p:cNvSpPr/>
          <p:nvPr/>
        </p:nvSpPr>
        <p:spPr>
          <a:xfrm>
            <a:off x="11585448" y="374904"/>
            <a:ext cx="301752" cy="0"/>
          </a:xfrm>
          <a:prstGeom prst="line">
            <a:avLst/>
          </a:prstGeom>
          <a:noFill/>
          <a:ln w="19050">
            <a:solidFill>
              <a:srgbClr val="26364B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11960352" y="246888"/>
            <a:ext cx="978408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636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3139928" y="374904"/>
            <a:ext cx="301752" cy="0"/>
          </a:xfrm>
          <a:prstGeom prst="line">
            <a:avLst/>
          </a:prstGeom>
          <a:noFill/>
          <a:ln w="19050">
            <a:solidFill>
              <a:srgbClr val="7B53AC"/>
            </a:solidFill>
            <a:prstDash val="dash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13514832" y="246888"/>
            <a:ext cx="1344168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636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Supervision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" y="923544"/>
            <a:ext cx="969264" cy="969264"/>
          </a:xfrm>
          <a:prstGeom prst="rect">
            <a:avLst/>
          </a:prstGeom>
          <a:solidFill>
            <a:srgbClr val="FFFFFF"/>
          </a:solidFill>
          <a:ln w="15431">
            <a:solidFill>
              <a:srgbClr val="356796"/>
            </a:solidFill>
            <a:prstDash val="solid"/>
          </a:ln>
        </p:spPr>
      </p:sp>
      <p:pic>
        <p:nvPicPr>
          <p:cNvPr id="13" name="Image 0" descr="/home/liutong/Projects/openpi-5090/paper/Figures/ACPD_method_overview/assets/ag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7744" y="941832"/>
            <a:ext cx="932688" cy="932688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64592" y="1924812"/>
            <a:ext cx="1078992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567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1335024" y="923544"/>
            <a:ext cx="969264" cy="969264"/>
          </a:xfrm>
          <a:prstGeom prst="rect">
            <a:avLst/>
          </a:prstGeom>
          <a:solidFill>
            <a:srgbClr val="FFFFFF"/>
          </a:solidFill>
          <a:ln w="15431">
            <a:solidFill>
              <a:srgbClr val="C79A45"/>
            </a:solidFill>
            <a:prstDash val="solid"/>
          </a:ln>
        </p:spPr>
      </p:sp>
      <p:pic>
        <p:nvPicPr>
          <p:cNvPr id="16" name="Image 1" descr="/home/liutong/Projects/openpi-5090/paper/Figures/ACPD_method_overview/assets/wri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3312" y="941832"/>
            <a:ext cx="932688" cy="932688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280160" y="1924812"/>
            <a:ext cx="1078992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79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Wrist</a:t>
            </a:r>
            <a:endParaRPr lang="en-US" sz="2000" dirty="0"/>
          </a:p>
        </p:txBody>
      </p:sp>
      <p:sp>
        <p:nvSpPr>
          <p:cNvPr id="18" name="Shape 14"/>
          <p:cNvSpPr/>
          <p:nvPr/>
        </p:nvSpPr>
        <p:spPr>
          <a:xfrm>
            <a:off x="2523744" y="822960"/>
            <a:ext cx="1700784" cy="1188720"/>
          </a:xfrm>
          <a:prstGeom prst="roundRect">
            <a:avLst/>
          </a:prstGeom>
          <a:solidFill>
            <a:srgbClr val="FFFFFF"/>
          </a:solidFill>
          <a:ln w="19717">
            <a:solidFill>
              <a:srgbClr val="35679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06040" y="1014984"/>
            <a:ext cx="1536192" cy="7863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636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VLA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2636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backbone</a:t>
            </a:r>
            <a:endParaRPr lang="en-US" sz="2200" dirty="0"/>
          </a:p>
        </p:txBody>
      </p:sp>
      <p:sp>
        <p:nvSpPr>
          <p:cNvPr id="20" name="Shape 16"/>
          <p:cNvSpPr/>
          <p:nvPr/>
        </p:nvSpPr>
        <p:spPr>
          <a:xfrm>
            <a:off x="4425696" y="658368"/>
            <a:ext cx="2249424" cy="1828800"/>
          </a:xfrm>
          <a:prstGeom prst="roundRect">
            <a:avLst/>
          </a:prstGeom>
          <a:solidFill>
            <a:srgbClr val="FFFFFF"/>
          </a:solidFill>
          <a:ln w="19717">
            <a:solidFill>
              <a:srgbClr val="356796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4526280" y="795528"/>
            <a:ext cx="2048256" cy="6309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636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Flow-matching</a:t>
            </a:r>
            <a:endParaRPr lang="en-US" sz="2300" dirty="0"/>
          </a:p>
          <a:p>
            <a:pPr algn="ctr" indent="0" marL="0">
              <a:buNone/>
            </a:pPr>
            <a:r>
              <a:rPr lang="en-US" sz="2300" b="1" dirty="0">
                <a:solidFill>
                  <a:srgbClr val="2636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expert</a:t>
            </a:r>
            <a:endParaRPr lang="en-US" sz="2300" dirty="0"/>
          </a:p>
        </p:txBody>
      </p:sp>
      <p:sp>
        <p:nvSpPr>
          <p:cNvPr id="22" name="Shape 18"/>
          <p:cNvSpPr/>
          <p:nvPr/>
        </p:nvSpPr>
        <p:spPr>
          <a:xfrm>
            <a:off x="4572000" y="1600200"/>
            <a:ext cx="1956816" cy="365760"/>
          </a:xfrm>
          <a:prstGeom prst="rect">
            <a:avLst/>
          </a:prstGeom>
          <a:solidFill>
            <a:srgbClr val="FFFFFF"/>
          </a:solidFill>
          <a:ln w="10287">
            <a:solidFill>
              <a:srgbClr val="356796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4636008" y="1659636"/>
            <a:ext cx="1042416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567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10</a:t>
            </a:r>
            <a:endParaRPr lang="en-US" sz="1900" dirty="0"/>
          </a:p>
        </p:txBody>
      </p:sp>
      <p:sp>
        <p:nvSpPr>
          <p:cNvPr id="24" name="Shape 20"/>
          <p:cNvSpPr/>
          <p:nvPr/>
        </p:nvSpPr>
        <p:spPr>
          <a:xfrm>
            <a:off x="5769864" y="1691640"/>
            <a:ext cx="164592" cy="164592"/>
          </a:xfrm>
          <a:prstGeom prst="rect">
            <a:avLst/>
          </a:prstGeom>
          <a:solidFill>
            <a:srgbClr val="356796"/>
          </a:solidFill>
          <a:ln w="12700">
            <a:solidFill>
              <a:srgbClr val="356796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5993892" y="1691640"/>
            <a:ext cx="164592" cy="164592"/>
          </a:xfrm>
          <a:prstGeom prst="rect">
            <a:avLst/>
          </a:prstGeom>
          <a:solidFill>
            <a:srgbClr val="356796"/>
          </a:solidFill>
          <a:ln w="12700">
            <a:solidFill>
              <a:srgbClr val="35679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6217920" y="1691640"/>
            <a:ext cx="164592" cy="164592"/>
          </a:xfrm>
          <a:prstGeom prst="rect">
            <a:avLst/>
          </a:prstGeom>
          <a:solidFill>
            <a:srgbClr val="356796"/>
          </a:solidFill>
          <a:ln w="12700">
            <a:solidFill>
              <a:srgbClr val="35679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4562856" y="2203704"/>
            <a:ext cx="19751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50" dirty="0">
                <a:solidFill>
                  <a:srgbClr val="6678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action states</a:t>
            </a:r>
            <a:endParaRPr lang="en-US" sz="1850" dirty="0"/>
          </a:p>
        </p:txBody>
      </p:sp>
      <p:sp>
        <p:nvSpPr>
          <p:cNvPr id="28" name="Shape 24"/>
          <p:cNvSpPr/>
          <p:nvPr/>
        </p:nvSpPr>
        <p:spPr>
          <a:xfrm>
            <a:off x="2340864" y="1417320"/>
            <a:ext cx="128016" cy="0"/>
          </a:xfrm>
          <a:prstGeom prst="line">
            <a:avLst/>
          </a:prstGeom>
          <a:noFill/>
          <a:ln w="23813">
            <a:solidFill>
              <a:srgbClr val="356796"/>
            </a:solidFill>
            <a:prstDash val="solid"/>
            <a:headEnd type="none"/>
            <a:tailEnd type="triangle"/>
          </a:ln>
        </p:spPr>
      </p:sp>
      <p:sp>
        <p:nvSpPr>
          <p:cNvPr id="29" name="Shape 25"/>
          <p:cNvSpPr/>
          <p:nvPr/>
        </p:nvSpPr>
        <p:spPr>
          <a:xfrm>
            <a:off x="4261104" y="1417320"/>
            <a:ext cx="118872" cy="0"/>
          </a:xfrm>
          <a:prstGeom prst="line">
            <a:avLst/>
          </a:prstGeom>
          <a:noFill/>
          <a:ln w="23813">
            <a:solidFill>
              <a:srgbClr val="356796"/>
            </a:solidFill>
            <a:prstDash val="solid"/>
            <a:headEnd type="none"/>
            <a:tailEnd type="triangle"/>
          </a:ln>
        </p:spPr>
      </p:sp>
      <p:sp>
        <p:nvSpPr>
          <p:cNvPr id="30" name="Shape 26"/>
          <p:cNvSpPr/>
          <p:nvPr/>
        </p:nvSpPr>
        <p:spPr>
          <a:xfrm>
            <a:off x="6949440" y="713232"/>
            <a:ext cx="2103120" cy="1746504"/>
          </a:xfrm>
          <a:prstGeom prst="roundRect">
            <a:avLst/>
          </a:prstGeom>
          <a:solidFill>
            <a:srgbClr val="FFFFFF"/>
          </a:solidFill>
          <a:ln w="15431">
            <a:solidFill>
              <a:srgbClr val="C9D9E8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7059168" y="859536"/>
            <a:ext cx="1883664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567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Cue extraction</a:t>
            </a:r>
            <a:endParaRPr lang="en-US" sz="2200" dirty="0"/>
          </a:p>
        </p:txBody>
      </p:sp>
      <p:sp>
        <p:nvSpPr>
          <p:cNvPr id="32" name="Shape 28"/>
          <p:cNvSpPr/>
          <p:nvPr/>
        </p:nvSpPr>
        <p:spPr>
          <a:xfrm>
            <a:off x="7205472" y="1271016"/>
            <a:ext cx="173736" cy="173736"/>
          </a:xfrm>
          <a:prstGeom prst="rect">
            <a:avLst/>
          </a:prstGeom>
          <a:solidFill>
            <a:srgbClr val="6E92B3"/>
          </a:solidFill>
          <a:ln w="12700">
            <a:solidFill>
              <a:srgbClr val="6E92B3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7406640" y="1271016"/>
            <a:ext cx="173736" cy="173736"/>
          </a:xfrm>
          <a:prstGeom prst="rect">
            <a:avLst/>
          </a:prstGeom>
          <a:solidFill>
            <a:srgbClr val="A6BCD1"/>
          </a:solidFill>
          <a:ln w="12700">
            <a:solidFill>
              <a:srgbClr val="A6BCD1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7607808" y="1271016"/>
            <a:ext cx="173736" cy="173736"/>
          </a:xfrm>
          <a:prstGeom prst="rect">
            <a:avLst/>
          </a:prstGeom>
          <a:solidFill>
            <a:srgbClr val="EFE3CB"/>
          </a:solidFill>
          <a:ln w="12700">
            <a:solidFill>
              <a:srgbClr val="EFE3CB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808976" y="1271016"/>
            <a:ext cx="173736" cy="173736"/>
          </a:xfrm>
          <a:prstGeom prst="rect">
            <a:avLst/>
          </a:prstGeom>
          <a:solidFill>
            <a:srgbClr val="E0C799"/>
          </a:solidFill>
          <a:ln w="12700">
            <a:solidFill>
              <a:srgbClr val="E0C799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8010144" y="1271016"/>
            <a:ext cx="173736" cy="173736"/>
          </a:xfrm>
          <a:prstGeom prst="rect">
            <a:avLst/>
          </a:prstGeom>
          <a:solidFill>
            <a:srgbClr val="EEF0F2"/>
          </a:solidFill>
          <a:ln w="12700">
            <a:solidFill>
              <a:srgbClr val="EEF0F2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8211312" y="1271016"/>
            <a:ext cx="173736" cy="173736"/>
          </a:xfrm>
          <a:prstGeom prst="rect">
            <a:avLst/>
          </a:prstGeom>
          <a:solidFill>
            <a:srgbClr val="E7E9ED"/>
          </a:solidFill>
          <a:ln w="12700">
            <a:solidFill>
              <a:srgbClr val="E7E9ED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8412480" y="1271016"/>
            <a:ext cx="173736" cy="173736"/>
          </a:xfrm>
          <a:prstGeom prst="rect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8613648" y="1271016"/>
            <a:ext cx="173736" cy="173736"/>
          </a:xfrm>
          <a:prstGeom prst="rect">
            <a:avLst/>
          </a:prstGeom>
          <a:solidFill>
            <a:srgbClr val="EDEEF1"/>
          </a:solidFill>
          <a:ln w="12700">
            <a:solidFill>
              <a:srgbClr val="EDEEF1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7205472" y="1481328"/>
            <a:ext cx="173736" cy="173736"/>
          </a:xfrm>
          <a:prstGeom prst="rect">
            <a:avLst/>
          </a:prstGeom>
          <a:solidFill>
            <a:srgbClr val="B6C8D9"/>
          </a:solidFill>
          <a:ln w="12700">
            <a:solidFill>
              <a:srgbClr val="B6C8D9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7406640" y="1481328"/>
            <a:ext cx="173736" cy="173736"/>
          </a:xfrm>
          <a:prstGeom prst="rect">
            <a:avLst/>
          </a:prstGeom>
          <a:solidFill>
            <a:srgbClr val="82A1BE"/>
          </a:solidFill>
          <a:ln w="12700">
            <a:solidFill>
              <a:srgbClr val="82A1BE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7607808" y="1481328"/>
            <a:ext cx="173736" cy="173736"/>
          </a:xfrm>
          <a:prstGeom prst="rect">
            <a:avLst/>
          </a:prstGeom>
          <a:solidFill>
            <a:srgbClr val="D5B374"/>
          </a:solidFill>
          <a:ln w="12700">
            <a:solidFill>
              <a:srgbClr val="D5B374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7808976" y="1481328"/>
            <a:ext cx="173736" cy="173736"/>
          </a:xfrm>
          <a:prstGeom prst="rect">
            <a:avLst/>
          </a:prstGeom>
          <a:solidFill>
            <a:srgbClr val="E7D5B1"/>
          </a:solidFill>
          <a:ln w="12700">
            <a:solidFill>
              <a:srgbClr val="E7D5B1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8010144" y="1481328"/>
            <a:ext cx="173736" cy="173736"/>
          </a:xfrm>
          <a:prstGeom prst="rect">
            <a:avLst/>
          </a:prstGeom>
          <a:solidFill>
            <a:srgbClr val="E4E7EB"/>
          </a:solidFill>
          <a:ln w="12700">
            <a:solidFill>
              <a:srgbClr val="E4E7EB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8211312" y="1481328"/>
            <a:ext cx="173736" cy="173736"/>
          </a:xfrm>
          <a:prstGeom prst="rect">
            <a:avLst/>
          </a:prstGeom>
          <a:solidFill>
            <a:srgbClr val="EEF0F2"/>
          </a:solidFill>
          <a:ln w="12700">
            <a:solidFill>
              <a:srgbClr val="EEF0F2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8412480" y="1481328"/>
            <a:ext cx="173736" cy="173736"/>
          </a:xfrm>
          <a:prstGeom prst="rect">
            <a:avLst/>
          </a:prstGeom>
          <a:solidFill>
            <a:srgbClr val="EAECEF"/>
          </a:solidFill>
          <a:ln w="12700">
            <a:solidFill>
              <a:srgbClr val="EAECEF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8613648" y="1481328"/>
            <a:ext cx="173736" cy="173736"/>
          </a:xfrm>
          <a:prstGeom prst="rect">
            <a:avLst/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7205472" y="1691640"/>
            <a:ext cx="173736" cy="173736"/>
          </a:xfrm>
          <a:prstGeom prst="rect">
            <a:avLst/>
          </a:prstGeom>
          <a:solidFill>
            <a:srgbClr val="8CA8C3"/>
          </a:solidFill>
          <a:ln w="12700">
            <a:solidFill>
              <a:srgbClr val="8CA8C3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7406640" y="1691640"/>
            <a:ext cx="173736" cy="173736"/>
          </a:xfrm>
          <a:prstGeom prst="rect">
            <a:avLst/>
          </a:prstGeom>
          <a:solidFill>
            <a:srgbClr val="D5DFE9"/>
          </a:solidFill>
          <a:ln w="12700">
            <a:solidFill>
              <a:srgbClr val="D5DFE9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7607808" y="1691640"/>
            <a:ext cx="173736" cy="173736"/>
          </a:xfrm>
          <a:prstGeom prst="rect">
            <a:avLst/>
          </a:prstGeom>
          <a:solidFill>
            <a:srgbClr val="EAD9B8"/>
          </a:solidFill>
          <a:ln w="12700">
            <a:solidFill>
              <a:srgbClr val="EAD9B8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7808976" y="1691640"/>
            <a:ext cx="173736" cy="173736"/>
          </a:xfrm>
          <a:prstGeom prst="rect">
            <a:avLst/>
          </a:prstGeom>
          <a:solidFill>
            <a:srgbClr val="D6B475"/>
          </a:solidFill>
          <a:ln w="12700">
            <a:solidFill>
              <a:srgbClr val="D6B475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8010144" y="1691640"/>
            <a:ext cx="173736" cy="173736"/>
          </a:xfrm>
          <a:prstGeom prst="rect">
            <a:avLst/>
          </a:prstGeom>
          <a:solidFill>
            <a:srgbClr val="EBEDF0"/>
          </a:solidFill>
          <a:ln w="12700">
            <a:solidFill>
              <a:srgbClr val="EBEDF0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8211312" y="1691640"/>
            <a:ext cx="173736" cy="173736"/>
          </a:xfrm>
          <a:prstGeom prst="rect">
            <a:avLst/>
          </a:prstGeom>
          <a:solidFill>
            <a:srgbClr val="F1F2F5"/>
          </a:solidFill>
          <a:ln w="12700">
            <a:solidFill>
              <a:srgbClr val="F1F2F5"/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8412480" y="1691640"/>
            <a:ext cx="173736" cy="173736"/>
          </a:xfrm>
          <a:prstGeom prst="rect">
            <a:avLst/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55" name="Shape 51"/>
          <p:cNvSpPr/>
          <p:nvPr/>
        </p:nvSpPr>
        <p:spPr>
          <a:xfrm>
            <a:off x="8613648" y="1691640"/>
            <a:ext cx="173736" cy="173736"/>
          </a:xfrm>
          <a:prstGeom prst="rect">
            <a:avLst/>
          </a:prstGeom>
          <a:solidFill>
            <a:srgbClr val="E8EBEE"/>
          </a:solidFill>
          <a:ln w="12700">
            <a:solidFill>
              <a:srgbClr val="E8EBEE"/>
            </a:solidFill>
            <a:prstDash val="solid"/>
          </a:ln>
        </p:spPr>
      </p:sp>
      <p:sp>
        <p:nvSpPr>
          <p:cNvPr id="56" name="Text 52"/>
          <p:cNvSpPr/>
          <p:nvPr/>
        </p:nvSpPr>
        <p:spPr>
          <a:xfrm>
            <a:off x="7040880" y="1947672"/>
            <a:ext cx="19202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50" dirty="0">
                <a:solidFill>
                  <a:srgbClr val="6678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 × values</a:t>
            </a:r>
            <a:endParaRPr lang="en-US" sz="1850" dirty="0"/>
          </a:p>
        </p:txBody>
      </p:sp>
      <p:sp>
        <p:nvSpPr>
          <p:cNvPr id="57" name="Text 53"/>
          <p:cNvSpPr/>
          <p:nvPr/>
        </p:nvSpPr>
        <p:spPr>
          <a:xfrm>
            <a:off x="7031736" y="2221992"/>
            <a:ext cx="1938528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567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Projection + scaling</a:t>
            </a:r>
            <a:endParaRPr lang="en-US" sz="1750" dirty="0"/>
          </a:p>
        </p:txBody>
      </p:sp>
      <p:sp>
        <p:nvSpPr>
          <p:cNvPr id="58" name="Shape 54"/>
          <p:cNvSpPr/>
          <p:nvPr/>
        </p:nvSpPr>
        <p:spPr>
          <a:xfrm>
            <a:off x="6720840" y="1783080"/>
            <a:ext cx="173736" cy="0"/>
          </a:xfrm>
          <a:prstGeom prst="line">
            <a:avLst/>
          </a:prstGeom>
          <a:noFill/>
          <a:ln w="23813">
            <a:solidFill>
              <a:srgbClr val="356796"/>
            </a:solidFill>
            <a:prstDash val="solid"/>
            <a:headEnd type="none"/>
            <a:tailEnd type="triangle"/>
          </a:ln>
        </p:spPr>
      </p:sp>
      <p:sp>
        <p:nvSpPr>
          <p:cNvPr id="59" name="Shape 55"/>
          <p:cNvSpPr/>
          <p:nvPr/>
        </p:nvSpPr>
        <p:spPr>
          <a:xfrm>
            <a:off x="9354312" y="841248"/>
            <a:ext cx="1847088" cy="1371600"/>
          </a:xfrm>
          <a:prstGeom prst="roundRect">
            <a:avLst/>
          </a:prstGeom>
          <a:solidFill>
            <a:srgbClr val="F7F9FC"/>
          </a:solidFill>
          <a:ln w="10287">
            <a:solidFill>
              <a:srgbClr val="E1E9F2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>
            <a:off x="9445752" y="941832"/>
            <a:ext cx="1664208" cy="493776"/>
          </a:xfrm>
          <a:prstGeom prst="roundRect">
            <a:avLst/>
          </a:prstGeom>
          <a:solidFill>
            <a:srgbClr val="FFFFFF"/>
          </a:solidFill>
          <a:ln w="14573">
            <a:solidFill>
              <a:srgbClr val="356796"/>
            </a:solidFill>
            <a:prstDash val="solid"/>
          </a:ln>
        </p:spPr>
      </p:sp>
      <p:sp>
        <p:nvSpPr>
          <p:cNvPr id="61" name="Text 57"/>
          <p:cNvSpPr/>
          <p:nvPr/>
        </p:nvSpPr>
        <p:spPr>
          <a:xfrm>
            <a:off x="9518904" y="1010412"/>
            <a:ext cx="841248" cy="3383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500" i="1" dirty="0">
                <a:solidFill>
                  <a:srgbClr val="2636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indent="0" marL="0">
              <a:buNone/>
            </a:pPr>
            <a:r>
              <a:rPr lang="en-US" sz="1600" baseline="-40000" dirty="0">
                <a:solidFill>
                  <a:srgbClr val="2636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</a:t>
            </a:r>
            <a:endParaRPr lang="en-US" sz="2500" dirty="0"/>
          </a:p>
        </p:txBody>
      </p:sp>
      <p:sp>
        <p:nvSpPr>
          <p:cNvPr id="62" name="Shape 58"/>
          <p:cNvSpPr/>
          <p:nvPr/>
        </p:nvSpPr>
        <p:spPr>
          <a:xfrm>
            <a:off x="10415016" y="1106424"/>
            <a:ext cx="109728" cy="164592"/>
          </a:xfrm>
          <a:prstGeom prst="rect">
            <a:avLst/>
          </a:prstGeom>
          <a:solidFill>
            <a:srgbClr val="356796"/>
          </a:solidFill>
          <a:ln w="12700">
            <a:solidFill>
              <a:srgbClr val="356796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10561320" y="1106424"/>
            <a:ext cx="109728" cy="164592"/>
          </a:xfrm>
          <a:prstGeom prst="rect">
            <a:avLst/>
          </a:prstGeom>
          <a:solidFill>
            <a:srgbClr val="356796"/>
          </a:solidFill>
          <a:ln w="12700">
            <a:solidFill>
              <a:srgbClr val="356796"/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10707624" y="1106424"/>
            <a:ext cx="109728" cy="164592"/>
          </a:xfrm>
          <a:prstGeom prst="rect">
            <a:avLst/>
          </a:prstGeom>
          <a:solidFill>
            <a:srgbClr val="356796"/>
          </a:solidFill>
          <a:ln w="12700">
            <a:solidFill>
              <a:srgbClr val="356796"/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>
            <a:off x="10853928" y="1106424"/>
            <a:ext cx="109728" cy="164592"/>
          </a:xfrm>
          <a:prstGeom prst="rect">
            <a:avLst/>
          </a:prstGeom>
          <a:solidFill>
            <a:srgbClr val="356796"/>
          </a:solidFill>
          <a:ln w="12700">
            <a:solidFill>
              <a:srgbClr val="356796"/>
            </a:solidFill>
            <a:prstDash val="solid"/>
          </a:ln>
        </p:spPr>
      </p:sp>
      <p:sp>
        <p:nvSpPr>
          <p:cNvPr id="66" name="Shape 62"/>
          <p:cNvSpPr/>
          <p:nvPr/>
        </p:nvSpPr>
        <p:spPr>
          <a:xfrm>
            <a:off x="9445752" y="1618488"/>
            <a:ext cx="1664208" cy="493776"/>
          </a:xfrm>
          <a:prstGeom prst="roundRect">
            <a:avLst/>
          </a:prstGeom>
          <a:solidFill>
            <a:srgbClr val="FFFFFF"/>
          </a:solidFill>
          <a:ln w="14573">
            <a:solidFill>
              <a:srgbClr val="C79A45"/>
            </a:solidFill>
            <a:prstDash val="solid"/>
          </a:ln>
        </p:spPr>
      </p:sp>
      <p:sp>
        <p:nvSpPr>
          <p:cNvPr id="67" name="Text 63"/>
          <p:cNvSpPr/>
          <p:nvPr/>
        </p:nvSpPr>
        <p:spPr>
          <a:xfrm>
            <a:off x="9518904" y="1687068"/>
            <a:ext cx="841248" cy="3383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500" i="1" dirty="0">
                <a:solidFill>
                  <a:srgbClr val="2636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indent="0" marL="0">
              <a:buNone/>
            </a:pPr>
            <a:r>
              <a:rPr lang="en-US" sz="1600" baseline="-40000" dirty="0">
                <a:solidFill>
                  <a:srgbClr val="2636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wrist</a:t>
            </a:r>
            <a:endParaRPr lang="en-US" sz="2500" dirty="0"/>
          </a:p>
        </p:txBody>
      </p:sp>
      <p:sp>
        <p:nvSpPr>
          <p:cNvPr id="68" name="Shape 64"/>
          <p:cNvSpPr/>
          <p:nvPr/>
        </p:nvSpPr>
        <p:spPr>
          <a:xfrm>
            <a:off x="10415016" y="1783080"/>
            <a:ext cx="109728" cy="164592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10561320" y="1783080"/>
            <a:ext cx="109728" cy="164592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70" name="Shape 66"/>
          <p:cNvSpPr/>
          <p:nvPr/>
        </p:nvSpPr>
        <p:spPr>
          <a:xfrm>
            <a:off x="10707624" y="1783080"/>
            <a:ext cx="109728" cy="164592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71" name="Shape 67"/>
          <p:cNvSpPr/>
          <p:nvPr/>
        </p:nvSpPr>
        <p:spPr>
          <a:xfrm>
            <a:off x="10853928" y="1783080"/>
            <a:ext cx="109728" cy="164592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72" name="Shape 68"/>
          <p:cNvSpPr/>
          <p:nvPr/>
        </p:nvSpPr>
        <p:spPr>
          <a:xfrm>
            <a:off x="9089136" y="1664208"/>
            <a:ext cx="137160" cy="0"/>
          </a:xfrm>
          <a:prstGeom prst="line">
            <a:avLst/>
          </a:prstGeom>
          <a:noFill/>
          <a:ln w="23813">
            <a:solidFill>
              <a:srgbClr val="356796"/>
            </a:solidFill>
            <a:prstDash val="solid"/>
            <a:headEnd type="none"/>
            <a:tailEnd type="none"/>
          </a:ln>
        </p:spPr>
      </p:sp>
      <p:sp>
        <p:nvSpPr>
          <p:cNvPr id="73" name="Shape 69"/>
          <p:cNvSpPr/>
          <p:nvPr/>
        </p:nvSpPr>
        <p:spPr>
          <a:xfrm flipV="1">
            <a:off x="9226296" y="1188720"/>
            <a:ext cx="0" cy="475488"/>
          </a:xfrm>
          <a:prstGeom prst="line">
            <a:avLst/>
          </a:prstGeom>
          <a:noFill/>
          <a:ln w="23813">
            <a:solidFill>
              <a:srgbClr val="356796"/>
            </a:solidFill>
            <a:prstDash val="solid"/>
            <a:headEnd type="none"/>
            <a:tailEnd type="none"/>
          </a:ln>
        </p:spPr>
      </p:sp>
      <p:sp>
        <p:nvSpPr>
          <p:cNvPr id="74" name="Shape 70"/>
          <p:cNvSpPr/>
          <p:nvPr/>
        </p:nvSpPr>
        <p:spPr>
          <a:xfrm>
            <a:off x="9226296" y="1188720"/>
            <a:ext cx="164592" cy="0"/>
          </a:xfrm>
          <a:prstGeom prst="line">
            <a:avLst/>
          </a:prstGeom>
          <a:noFill/>
          <a:ln w="23813">
            <a:solidFill>
              <a:srgbClr val="356796"/>
            </a:solidFill>
            <a:prstDash val="solid"/>
            <a:headEnd type="none"/>
            <a:tailEnd type="triangle"/>
          </a:ln>
        </p:spPr>
      </p:sp>
      <p:sp>
        <p:nvSpPr>
          <p:cNvPr id="75" name="Shape 71"/>
          <p:cNvSpPr/>
          <p:nvPr/>
        </p:nvSpPr>
        <p:spPr>
          <a:xfrm>
            <a:off x="9226296" y="1664208"/>
            <a:ext cx="0" cy="201168"/>
          </a:xfrm>
          <a:prstGeom prst="line">
            <a:avLst/>
          </a:prstGeom>
          <a:noFill/>
          <a:ln w="23813">
            <a:solidFill>
              <a:srgbClr val="C79A45"/>
            </a:solidFill>
            <a:prstDash val="solid"/>
            <a:headEnd type="none"/>
            <a:tailEnd type="none"/>
          </a:ln>
        </p:spPr>
      </p:sp>
      <p:sp>
        <p:nvSpPr>
          <p:cNvPr id="76" name="Shape 72"/>
          <p:cNvSpPr/>
          <p:nvPr/>
        </p:nvSpPr>
        <p:spPr>
          <a:xfrm>
            <a:off x="9226296" y="1865376"/>
            <a:ext cx="164592" cy="0"/>
          </a:xfrm>
          <a:prstGeom prst="line">
            <a:avLst/>
          </a:prstGeom>
          <a:noFill/>
          <a:ln w="23813">
            <a:solidFill>
              <a:srgbClr val="C79A45"/>
            </a:solidFill>
            <a:prstDash val="solid"/>
            <a:headEnd type="none"/>
            <a:tailEnd type="triangle"/>
          </a:ln>
        </p:spPr>
      </p:sp>
      <p:sp>
        <p:nvSpPr>
          <p:cNvPr id="77" name="Shape 73"/>
          <p:cNvSpPr/>
          <p:nvPr/>
        </p:nvSpPr>
        <p:spPr>
          <a:xfrm>
            <a:off x="6720840" y="1033272"/>
            <a:ext cx="100584" cy="0"/>
          </a:xfrm>
          <a:prstGeom prst="line">
            <a:avLst/>
          </a:prstGeom>
          <a:noFill/>
          <a:ln w="23813">
            <a:solidFill>
              <a:srgbClr val="356796"/>
            </a:solidFill>
            <a:prstDash val="solid"/>
            <a:headEnd type="none"/>
            <a:tailEnd type="none"/>
          </a:ln>
        </p:spPr>
      </p:sp>
      <p:sp>
        <p:nvSpPr>
          <p:cNvPr id="78" name="Shape 74"/>
          <p:cNvSpPr/>
          <p:nvPr/>
        </p:nvSpPr>
        <p:spPr>
          <a:xfrm flipV="1">
            <a:off x="6821424" y="640080"/>
            <a:ext cx="0" cy="393192"/>
          </a:xfrm>
          <a:prstGeom prst="line">
            <a:avLst/>
          </a:prstGeom>
          <a:noFill/>
          <a:ln w="23813">
            <a:solidFill>
              <a:srgbClr val="356796"/>
            </a:solidFill>
            <a:prstDash val="solid"/>
            <a:headEnd type="none"/>
            <a:tailEnd type="none"/>
          </a:ln>
        </p:spPr>
      </p:sp>
      <p:sp>
        <p:nvSpPr>
          <p:cNvPr id="79" name="Shape 75"/>
          <p:cNvSpPr/>
          <p:nvPr/>
        </p:nvSpPr>
        <p:spPr>
          <a:xfrm>
            <a:off x="6821424" y="640080"/>
            <a:ext cx="7232904" cy="0"/>
          </a:xfrm>
          <a:prstGeom prst="line">
            <a:avLst/>
          </a:prstGeom>
          <a:noFill/>
          <a:ln w="23813">
            <a:solidFill>
              <a:srgbClr val="356796"/>
            </a:solidFill>
            <a:prstDash val="solid"/>
            <a:headEnd type="none"/>
            <a:tailEnd type="none"/>
          </a:ln>
        </p:spPr>
      </p:sp>
      <p:sp>
        <p:nvSpPr>
          <p:cNvPr id="80" name="Shape 76"/>
          <p:cNvSpPr/>
          <p:nvPr/>
        </p:nvSpPr>
        <p:spPr>
          <a:xfrm>
            <a:off x="14054328" y="640080"/>
            <a:ext cx="0" cy="301752"/>
          </a:xfrm>
          <a:prstGeom prst="line">
            <a:avLst/>
          </a:prstGeom>
          <a:noFill/>
          <a:ln w="23813">
            <a:solidFill>
              <a:srgbClr val="356796"/>
            </a:solidFill>
            <a:prstDash val="solid"/>
            <a:headEnd type="none"/>
            <a:tailEnd type="triangle"/>
          </a:ln>
        </p:spPr>
      </p:sp>
      <p:sp>
        <p:nvSpPr>
          <p:cNvPr id="81" name="Text 77"/>
          <p:cNvSpPr/>
          <p:nvPr/>
        </p:nvSpPr>
        <p:spPr>
          <a:xfrm>
            <a:off x="13761720" y="1005840"/>
            <a:ext cx="585216" cy="3931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3567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ctr" indent="0" marL="0">
              <a:buNone/>
            </a:pPr>
            <a:r>
              <a:rPr lang="en-US" sz="2000" baseline="30000" dirty="0">
                <a:solidFill>
                  <a:srgbClr val="3567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3200" dirty="0"/>
          </a:p>
        </p:txBody>
      </p:sp>
      <p:sp>
        <p:nvSpPr>
          <p:cNvPr id="82" name="Text 78"/>
          <p:cNvSpPr/>
          <p:nvPr/>
        </p:nvSpPr>
        <p:spPr>
          <a:xfrm>
            <a:off x="13030200" y="1435608"/>
            <a:ext cx="1984248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567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 velocity</a:t>
            </a:r>
            <a:endParaRPr lang="en-US" sz="1800" dirty="0"/>
          </a:p>
        </p:txBody>
      </p:sp>
      <p:sp>
        <p:nvSpPr>
          <p:cNvPr id="83" name="Shape 79"/>
          <p:cNvSpPr/>
          <p:nvPr/>
        </p:nvSpPr>
        <p:spPr>
          <a:xfrm>
            <a:off x="13350240" y="1819656"/>
            <a:ext cx="1417320" cy="548640"/>
          </a:xfrm>
          <a:prstGeom prst="roundRect">
            <a:avLst/>
          </a:prstGeom>
          <a:solidFill>
            <a:srgbClr val="FFF6E6"/>
          </a:solidFill>
          <a:ln w="15431">
            <a:solidFill>
              <a:srgbClr val="E6D4AF"/>
            </a:solidFill>
            <a:prstDash val="solid"/>
          </a:ln>
        </p:spPr>
      </p:sp>
      <p:sp>
        <p:nvSpPr>
          <p:cNvPr id="84" name="Text 80"/>
          <p:cNvSpPr/>
          <p:nvPr/>
        </p:nvSpPr>
        <p:spPr>
          <a:xfrm>
            <a:off x="13478256" y="1920240"/>
            <a:ext cx="1161288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975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ACL</a:t>
            </a:r>
            <a:endParaRPr lang="en-US" sz="2400" dirty="0"/>
          </a:p>
        </p:txBody>
      </p:sp>
      <p:sp>
        <p:nvSpPr>
          <p:cNvPr id="85" name="Shape 81"/>
          <p:cNvSpPr/>
          <p:nvPr/>
        </p:nvSpPr>
        <p:spPr>
          <a:xfrm>
            <a:off x="14054328" y="1719072"/>
            <a:ext cx="0" cy="64008"/>
          </a:xfrm>
          <a:prstGeom prst="line">
            <a:avLst/>
          </a:prstGeom>
          <a:noFill/>
          <a:ln w="23813">
            <a:solidFill>
              <a:srgbClr val="356796"/>
            </a:solidFill>
            <a:prstDash val="dash"/>
            <a:headEnd type="none"/>
            <a:tailEnd type="triangle"/>
          </a:ln>
        </p:spPr>
      </p:sp>
      <p:sp>
        <p:nvSpPr>
          <p:cNvPr id="86" name="Shape 82"/>
          <p:cNvSpPr/>
          <p:nvPr/>
        </p:nvSpPr>
        <p:spPr>
          <a:xfrm>
            <a:off x="11603736" y="1819656"/>
            <a:ext cx="1417320" cy="548640"/>
          </a:xfrm>
          <a:prstGeom prst="roundRect">
            <a:avLst/>
          </a:prstGeom>
          <a:solidFill>
            <a:srgbClr val="F5EFFB"/>
          </a:solidFill>
          <a:ln w="15431">
            <a:solidFill>
              <a:srgbClr val="DCCDEE"/>
            </a:solidFill>
            <a:prstDash val="solid"/>
          </a:ln>
        </p:spPr>
      </p:sp>
      <p:sp>
        <p:nvSpPr>
          <p:cNvPr id="87" name="Text 83"/>
          <p:cNvSpPr/>
          <p:nvPr/>
        </p:nvSpPr>
        <p:spPr>
          <a:xfrm>
            <a:off x="11731752" y="1920240"/>
            <a:ext cx="1161288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7B5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PCD</a:t>
            </a:r>
            <a:endParaRPr lang="en-US" sz="2400" dirty="0"/>
          </a:p>
        </p:txBody>
      </p:sp>
      <p:sp>
        <p:nvSpPr>
          <p:cNvPr id="88" name="Shape 84"/>
          <p:cNvSpPr/>
          <p:nvPr/>
        </p:nvSpPr>
        <p:spPr>
          <a:xfrm>
            <a:off x="11247120" y="1527048"/>
            <a:ext cx="164592" cy="0"/>
          </a:xfrm>
          <a:prstGeom prst="line">
            <a:avLst/>
          </a:prstGeom>
          <a:noFill/>
          <a:ln w="23813">
            <a:solidFill>
              <a:srgbClr val="7B53AC"/>
            </a:solidFill>
            <a:prstDash val="dash"/>
            <a:headEnd type="none"/>
            <a:tailEnd type="none"/>
          </a:ln>
        </p:spPr>
      </p:sp>
      <p:sp>
        <p:nvSpPr>
          <p:cNvPr id="89" name="Shape 85"/>
          <p:cNvSpPr/>
          <p:nvPr/>
        </p:nvSpPr>
        <p:spPr>
          <a:xfrm>
            <a:off x="11411712" y="1527048"/>
            <a:ext cx="0" cy="576072"/>
          </a:xfrm>
          <a:prstGeom prst="line">
            <a:avLst/>
          </a:prstGeom>
          <a:noFill/>
          <a:ln w="23813">
            <a:solidFill>
              <a:srgbClr val="7B53AC"/>
            </a:solidFill>
            <a:prstDash val="dash"/>
            <a:headEnd type="none"/>
            <a:tailEnd type="none"/>
          </a:ln>
        </p:spPr>
      </p:sp>
      <p:sp>
        <p:nvSpPr>
          <p:cNvPr id="90" name="Shape 86"/>
          <p:cNvSpPr/>
          <p:nvPr/>
        </p:nvSpPr>
        <p:spPr>
          <a:xfrm>
            <a:off x="11411712" y="2103120"/>
            <a:ext cx="137160" cy="0"/>
          </a:xfrm>
          <a:prstGeom prst="line">
            <a:avLst/>
          </a:prstGeom>
          <a:noFill/>
          <a:ln w="23813">
            <a:solidFill>
              <a:srgbClr val="7B53AC"/>
            </a:solidFill>
            <a:prstDash val="dash"/>
            <a:headEnd type="none"/>
            <a:tailEnd type="triangle"/>
          </a:ln>
        </p:spPr>
      </p:sp>
      <p:sp>
        <p:nvSpPr>
          <p:cNvPr id="91" name="Shape 87"/>
          <p:cNvSpPr/>
          <p:nvPr/>
        </p:nvSpPr>
        <p:spPr>
          <a:xfrm>
            <a:off x="11237976" y="3282696"/>
            <a:ext cx="91440" cy="0"/>
          </a:xfrm>
          <a:prstGeom prst="line">
            <a:avLst/>
          </a:prstGeom>
          <a:noFill/>
          <a:ln w="23813">
            <a:solidFill>
              <a:srgbClr val="7B53AC"/>
            </a:solidFill>
            <a:prstDash val="dash"/>
            <a:headEnd type="none"/>
            <a:tailEnd type="none"/>
          </a:ln>
        </p:spPr>
      </p:sp>
      <p:sp>
        <p:nvSpPr>
          <p:cNvPr id="92" name="Shape 88"/>
          <p:cNvSpPr/>
          <p:nvPr/>
        </p:nvSpPr>
        <p:spPr>
          <a:xfrm flipV="1">
            <a:off x="11329416" y="2459736"/>
            <a:ext cx="0" cy="822960"/>
          </a:xfrm>
          <a:prstGeom prst="line">
            <a:avLst/>
          </a:prstGeom>
          <a:noFill/>
          <a:ln w="23813">
            <a:solidFill>
              <a:srgbClr val="7B53AC"/>
            </a:solidFill>
            <a:prstDash val="dash"/>
            <a:headEnd type="none"/>
            <a:tailEnd type="none"/>
          </a:ln>
        </p:spPr>
      </p:sp>
      <p:sp>
        <p:nvSpPr>
          <p:cNvPr id="93" name="Shape 89"/>
          <p:cNvSpPr/>
          <p:nvPr/>
        </p:nvSpPr>
        <p:spPr>
          <a:xfrm>
            <a:off x="11329416" y="2459736"/>
            <a:ext cx="987552" cy="0"/>
          </a:xfrm>
          <a:prstGeom prst="line">
            <a:avLst/>
          </a:prstGeom>
          <a:noFill/>
          <a:ln w="23813">
            <a:solidFill>
              <a:srgbClr val="7B53AC"/>
            </a:solidFill>
            <a:prstDash val="dash"/>
            <a:headEnd type="none"/>
            <a:tailEnd type="none"/>
          </a:ln>
        </p:spPr>
      </p:sp>
      <p:sp>
        <p:nvSpPr>
          <p:cNvPr id="94" name="Shape 90"/>
          <p:cNvSpPr/>
          <p:nvPr/>
        </p:nvSpPr>
        <p:spPr>
          <a:xfrm flipV="1">
            <a:off x="12316968" y="2414016"/>
            <a:ext cx="0" cy="45720"/>
          </a:xfrm>
          <a:prstGeom prst="line">
            <a:avLst/>
          </a:prstGeom>
          <a:noFill/>
          <a:ln w="23813">
            <a:solidFill>
              <a:srgbClr val="7B53AC"/>
            </a:solidFill>
            <a:prstDash val="dash"/>
            <a:headEnd type="none"/>
            <a:tailEnd type="triangle"/>
          </a:ln>
        </p:spPr>
      </p:sp>
      <p:sp>
        <p:nvSpPr>
          <p:cNvPr id="95" name="Shape 91"/>
          <p:cNvSpPr/>
          <p:nvPr/>
        </p:nvSpPr>
        <p:spPr>
          <a:xfrm>
            <a:off x="676656" y="3017520"/>
            <a:ext cx="1280160" cy="1280160"/>
          </a:xfrm>
          <a:prstGeom prst="rect">
            <a:avLst/>
          </a:prstGeom>
          <a:solidFill>
            <a:srgbClr val="FFFFFF"/>
          </a:solidFill>
          <a:ln w="15431">
            <a:solidFill>
              <a:srgbClr val="187C70"/>
            </a:solidFill>
            <a:prstDash val="solid"/>
          </a:ln>
        </p:spPr>
      </p:sp>
      <p:pic>
        <p:nvPicPr>
          <p:cNvPr id="96" name="Image 2" descr="/home/liutong/Projects/openpi-5090/paper/Figures/ACPD_method_overview/assets/ba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3035808"/>
            <a:ext cx="1243584" cy="1243584"/>
          </a:xfrm>
          <a:prstGeom prst="rect">
            <a:avLst/>
          </a:prstGeom>
        </p:spPr>
      </p:pic>
      <p:sp>
        <p:nvSpPr>
          <p:cNvPr id="97" name="Text 92"/>
          <p:cNvSpPr/>
          <p:nvPr/>
        </p:nvSpPr>
        <p:spPr>
          <a:xfrm>
            <a:off x="621792" y="4329684"/>
            <a:ext cx="1389888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87C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 view</a:t>
            </a:r>
            <a:endParaRPr lang="en-US" sz="2000" dirty="0"/>
          </a:p>
        </p:txBody>
      </p:sp>
      <p:sp>
        <p:nvSpPr>
          <p:cNvPr id="98" name="Shape 93"/>
          <p:cNvSpPr/>
          <p:nvPr/>
        </p:nvSpPr>
        <p:spPr>
          <a:xfrm>
            <a:off x="2523744" y="3081528"/>
            <a:ext cx="1700784" cy="1188720"/>
          </a:xfrm>
          <a:prstGeom prst="roundRect">
            <a:avLst/>
          </a:prstGeom>
          <a:solidFill>
            <a:srgbClr val="FFFFFF"/>
          </a:solidFill>
          <a:ln w="19717">
            <a:solidFill>
              <a:srgbClr val="187C70"/>
            </a:solidFill>
            <a:prstDash val="solid"/>
          </a:ln>
        </p:spPr>
      </p:sp>
      <p:sp>
        <p:nvSpPr>
          <p:cNvPr id="99" name="Text 94"/>
          <p:cNvSpPr/>
          <p:nvPr/>
        </p:nvSpPr>
        <p:spPr>
          <a:xfrm>
            <a:off x="2606040" y="3273552"/>
            <a:ext cx="1536192" cy="7863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636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VLA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2636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backbone</a:t>
            </a:r>
            <a:endParaRPr lang="en-US" sz="2200" dirty="0"/>
          </a:p>
        </p:txBody>
      </p:sp>
      <p:sp>
        <p:nvSpPr>
          <p:cNvPr id="100" name="Shape 95"/>
          <p:cNvSpPr/>
          <p:nvPr/>
        </p:nvSpPr>
        <p:spPr>
          <a:xfrm>
            <a:off x="4425696" y="2816352"/>
            <a:ext cx="2249424" cy="1828800"/>
          </a:xfrm>
          <a:prstGeom prst="roundRect">
            <a:avLst/>
          </a:prstGeom>
          <a:solidFill>
            <a:srgbClr val="FFFFFF"/>
          </a:solidFill>
          <a:ln w="19717">
            <a:solidFill>
              <a:srgbClr val="187C70"/>
            </a:solidFill>
            <a:prstDash val="solid"/>
          </a:ln>
        </p:spPr>
      </p:sp>
      <p:sp>
        <p:nvSpPr>
          <p:cNvPr id="101" name="Text 96"/>
          <p:cNvSpPr/>
          <p:nvPr/>
        </p:nvSpPr>
        <p:spPr>
          <a:xfrm>
            <a:off x="4526280" y="2953512"/>
            <a:ext cx="2048256" cy="6309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636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Flow-matching</a:t>
            </a:r>
            <a:endParaRPr lang="en-US" sz="2300" dirty="0"/>
          </a:p>
          <a:p>
            <a:pPr algn="ctr" indent="0" marL="0">
              <a:buNone/>
            </a:pPr>
            <a:r>
              <a:rPr lang="en-US" sz="2300" b="1" dirty="0">
                <a:solidFill>
                  <a:srgbClr val="2636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expert</a:t>
            </a:r>
            <a:endParaRPr lang="en-US" sz="2300" dirty="0"/>
          </a:p>
        </p:txBody>
      </p:sp>
      <p:sp>
        <p:nvSpPr>
          <p:cNvPr id="102" name="Shape 97"/>
          <p:cNvSpPr/>
          <p:nvPr/>
        </p:nvSpPr>
        <p:spPr>
          <a:xfrm>
            <a:off x="4572000" y="3758184"/>
            <a:ext cx="1956816" cy="365760"/>
          </a:xfrm>
          <a:prstGeom prst="rect">
            <a:avLst/>
          </a:prstGeom>
          <a:solidFill>
            <a:srgbClr val="FFFFFF"/>
          </a:solidFill>
          <a:ln w="10287">
            <a:solidFill>
              <a:srgbClr val="187C70"/>
            </a:solidFill>
            <a:prstDash val="solid"/>
          </a:ln>
        </p:spPr>
      </p:sp>
      <p:sp>
        <p:nvSpPr>
          <p:cNvPr id="103" name="Text 98"/>
          <p:cNvSpPr/>
          <p:nvPr/>
        </p:nvSpPr>
        <p:spPr>
          <a:xfrm>
            <a:off x="4636008" y="3817620"/>
            <a:ext cx="1042416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87C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10</a:t>
            </a:r>
            <a:endParaRPr lang="en-US" sz="1900" dirty="0"/>
          </a:p>
        </p:txBody>
      </p:sp>
      <p:sp>
        <p:nvSpPr>
          <p:cNvPr id="104" name="Shape 99"/>
          <p:cNvSpPr/>
          <p:nvPr/>
        </p:nvSpPr>
        <p:spPr>
          <a:xfrm>
            <a:off x="5769864" y="3849624"/>
            <a:ext cx="164592" cy="164592"/>
          </a:xfrm>
          <a:prstGeom prst="rect">
            <a:avLst/>
          </a:prstGeom>
          <a:solidFill>
            <a:srgbClr val="187C70"/>
          </a:solidFill>
          <a:ln w="12700">
            <a:solidFill>
              <a:srgbClr val="187C70"/>
            </a:solidFill>
            <a:prstDash val="solid"/>
          </a:ln>
        </p:spPr>
      </p:sp>
      <p:sp>
        <p:nvSpPr>
          <p:cNvPr id="105" name="Shape 100"/>
          <p:cNvSpPr/>
          <p:nvPr/>
        </p:nvSpPr>
        <p:spPr>
          <a:xfrm>
            <a:off x="5993892" y="3849624"/>
            <a:ext cx="164592" cy="164592"/>
          </a:xfrm>
          <a:prstGeom prst="rect">
            <a:avLst/>
          </a:prstGeom>
          <a:solidFill>
            <a:srgbClr val="187C70"/>
          </a:solidFill>
          <a:ln w="12700">
            <a:solidFill>
              <a:srgbClr val="187C70"/>
            </a:solidFill>
            <a:prstDash val="solid"/>
          </a:ln>
        </p:spPr>
      </p:sp>
      <p:sp>
        <p:nvSpPr>
          <p:cNvPr id="106" name="Shape 101"/>
          <p:cNvSpPr/>
          <p:nvPr/>
        </p:nvSpPr>
        <p:spPr>
          <a:xfrm>
            <a:off x="6217920" y="3849624"/>
            <a:ext cx="164592" cy="164592"/>
          </a:xfrm>
          <a:prstGeom prst="rect">
            <a:avLst/>
          </a:prstGeom>
          <a:solidFill>
            <a:srgbClr val="187C70"/>
          </a:solidFill>
          <a:ln w="12700">
            <a:solidFill>
              <a:srgbClr val="187C70"/>
            </a:solidFill>
            <a:prstDash val="solid"/>
          </a:ln>
        </p:spPr>
      </p:sp>
      <p:sp>
        <p:nvSpPr>
          <p:cNvPr id="107" name="Text 102"/>
          <p:cNvSpPr/>
          <p:nvPr/>
        </p:nvSpPr>
        <p:spPr>
          <a:xfrm>
            <a:off x="4562856" y="4361688"/>
            <a:ext cx="19751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50" dirty="0">
                <a:solidFill>
                  <a:srgbClr val="6678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action states</a:t>
            </a:r>
            <a:endParaRPr lang="en-US" sz="1850" dirty="0"/>
          </a:p>
        </p:txBody>
      </p:sp>
      <p:sp>
        <p:nvSpPr>
          <p:cNvPr id="108" name="Shape 103"/>
          <p:cNvSpPr/>
          <p:nvPr/>
        </p:nvSpPr>
        <p:spPr>
          <a:xfrm>
            <a:off x="2002536" y="3675888"/>
            <a:ext cx="466344" cy="0"/>
          </a:xfrm>
          <a:prstGeom prst="line">
            <a:avLst/>
          </a:prstGeom>
          <a:noFill/>
          <a:ln w="23813">
            <a:solidFill>
              <a:srgbClr val="187C70"/>
            </a:solidFill>
            <a:prstDash val="solid"/>
            <a:headEnd type="none"/>
            <a:tailEnd type="triangle"/>
          </a:ln>
        </p:spPr>
      </p:sp>
      <p:sp>
        <p:nvSpPr>
          <p:cNvPr id="109" name="Shape 104"/>
          <p:cNvSpPr/>
          <p:nvPr/>
        </p:nvSpPr>
        <p:spPr>
          <a:xfrm>
            <a:off x="4261104" y="3675888"/>
            <a:ext cx="118872" cy="0"/>
          </a:xfrm>
          <a:prstGeom prst="line">
            <a:avLst/>
          </a:prstGeom>
          <a:noFill/>
          <a:ln w="23813">
            <a:solidFill>
              <a:srgbClr val="187C70"/>
            </a:solidFill>
            <a:prstDash val="solid"/>
            <a:headEnd type="none"/>
            <a:tailEnd type="triangle"/>
          </a:ln>
        </p:spPr>
      </p:sp>
      <p:sp>
        <p:nvSpPr>
          <p:cNvPr id="110" name="Shape 105"/>
          <p:cNvSpPr/>
          <p:nvPr/>
        </p:nvSpPr>
        <p:spPr>
          <a:xfrm>
            <a:off x="6903720" y="3300984"/>
            <a:ext cx="1719072" cy="1124712"/>
          </a:xfrm>
          <a:prstGeom prst="roundRect">
            <a:avLst/>
          </a:prstGeom>
          <a:solidFill>
            <a:srgbClr val="FFFFFF"/>
          </a:solidFill>
          <a:ln w="18860">
            <a:solidFill>
              <a:srgbClr val="7B53AC"/>
            </a:solidFill>
            <a:prstDash val="solid"/>
          </a:ln>
        </p:spPr>
      </p:sp>
      <p:sp>
        <p:nvSpPr>
          <p:cNvPr id="111" name="Text 106"/>
          <p:cNvSpPr/>
          <p:nvPr/>
        </p:nvSpPr>
        <p:spPr>
          <a:xfrm>
            <a:off x="7004304" y="3447288"/>
            <a:ext cx="1517904" cy="5852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7B5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Cue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>
                <a:solidFill>
                  <a:srgbClr val="7B5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predictors</a:t>
            </a:r>
            <a:endParaRPr lang="en-US" sz="2100" dirty="0"/>
          </a:p>
        </p:txBody>
      </p:sp>
      <p:sp>
        <p:nvSpPr>
          <p:cNvPr id="112" name="Text 107"/>
          <p:cNvSpPr/>
          <p:nvPr/>
        </p:nvSpPr>
        <p:spPr>
          <a:xfrm>
            <a:off x="6995160" y="4160520"/>
            <a:ext cx="153619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678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 + affine</a:t>
            </a:r>
            <a:endParaRPr lang="en-US" sz="1800" dirty="0"/>
          </a:p>
        </p:txBody>
      </p:sp>
      <p:sp>
        <p:nvSpPr>
          <p:cNvPr id="113" name="Shape 108"/>
          <p:cNvSpPr/>
          <p:nvPr/>
        </p:nvSpPr>
        <p:spPr>
          <a:xfrm>
            <a:off x="6720840" y="3941064"/>
            <a:ext cx="128016" cy="0"/>
          </a:xfrm>
          <a:prstGeom prst="line">
            <a:avLst/>
          </a:prstGeom>
          <a:noFill/>
          <a:ln w="23813">
            <a:solidFill>
              <a:srgbClr val="7B53AC"/>
            </a:solidFill>
            <a:prstDash val="solid"/>
            <a:headEnd type="none"/>
            <a:tailEnd type="triangle"/>
          </a:ln>
        </p:spPr>
      </p:sp>
      <p:sp>
        <p:nvSpPr>
          <p:cNvPr id="114" name="Text 109"/>
          <p:cNvSpPr/>
          <p:nvPr/>
        </p:nvSpPr>
        <p:spPr>
          <a:xfrm>
            <a:off x="9299448" y="2834640"/>
            <a:ext cx="1956816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B5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Predicted cues</a:t>
            </a:r>
            <a:endParaRPr lang="en-US" sz="2000" dirty="0"/>
          </a:p>
        </p:txBody>
      </p:sp>
      <p:sp>
        <p:nvSpPr>
          <p:cNvPr id="115" name="Shape 110"/>
          <p:cNvSpPr/>
          <p:nvPr/>
        </p:nvSpPr>
        <p:spPr>
          <a:xfrm>
            <a:off x="9354312" y="3154680"/>
            <a:ext cx="1847088" cy="1417320"/>
          </a:xfrm>
          <a:prstGeom prst="roundRect">
            <a:avLst/>
          </a:prstGeom>
          <a:solidFill>
            <a:srgbClr val="F5EFFB"/>
          </a:solidFill>
          <a:ln w="10287">
            <a:solidFill>
              <a:srgbClr val="E5D9F1"/>
            </a:solidFill>
            <a:prstDash val="solid"/>
          </a:ln>
        </p:spPr>
      </p:sp>
      <p:sp>
        <p:nvSpPr>
          <p:cNvPr id="116" name="Shape 111"/>
          <p:cNvSpPr/>
          <p:nvPr/>
        </p:nvSpPr>
        <p:spPr>
          <a:xfrm>
            <a:off x="9445752" y="3246120"/>
            <a:ext cx="1664208" cy="493776"/>
          </a:xfrm>
          <a:prstGeom prst="roundRect">
            <a:avLst/>
          </a:prstGeom>
          <a:solidFill>
            <a:srgbClr val="FFFFFF"/>
          </a:solidFill>
          <a:ln w="14573">
            <a:solidFill>
              <a:srgbClr val="7B53AC"/>
            </a:solidFill>
            <a:prstDash val="solid"/>
          </a:ln>
        </p:spPr>
      </p:sp>
      <p:sp>
        <p:nvSpPr>
          <p:cNvPr id="117" name="Text 112"/>
          <p:cNvSpPr/>
          <p:nvPr/>
        </p:nvSpPr>
        <p:spPr>
          <a:xfrm>
            <a:off x="9518904" y="3314700"/>
            <a:ext cx="841248" cy="3383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500" i="1" dirty="0">
                <a:solidFill>
                  <a:srgbClr val="2636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Ĉ</a:t>
            </a:r>
            <a:pPr indent="0" marL="0">
              <a:buNone/>
            </a:pPr>
            <a:r>
              <a:rPr lang="en-US" sz="1600" baseline="-40000" dirty="0">
                <a:solidFill>
                  <a:srgbClr val="2636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</a:t>
            </a:r>
            <a:endParaRPr lang="en-US" sz="2500" dirty="0"/>
          </a:p>
        </p:txBody>
      </p:sp>
      <p:sp>
        <p:nvSpPr>
          <p:cNvPr id="118" name="Shape 113"/>
          <p:cNvSpPr/>
          <p:nvPr/>
        </p:nvSpPr>
        <p:spPr>
          <a:xfrm>
            <a:off x="10415016" y="3410712"/>
            <a:ext cx="109728" cy="164592"/>
          </a:xfrm>
          <a:prstGeom prst="rect">
            <a:avLst/>
          </a:prstGeom>
          <a:solidFill>
            <a:srgbClr val="7B53AC"/>
          </a:solidFill>
          <a:ln w="12700">
            <a:solidFill>
              <a:srgbClr val="7B53AC"/>
            </a:solidFill>
            <a:prstDash val="solid"/>
          </a:ln>
        </p:spPr>
      </p:sp>
      <p:sp>
        <p:nvSpPr>
          <p:cNvPr id="119" name="Shape 114"/>
          <p:cNvSpPr/>
          <p:nvPr/>
        </p:nvSpPr>
        <p:spPr>
          <a:xfrm>
            <a:off x="10561320" y="3410712"/>
            <a:ext cx="109728" cy="164592"/>
          </a:xfrm>
          <a:prstGeom prst="rect">
            <a:avLst/>
          </a:prstGeom>
          <a:solidFill>
            <a:srgbClr val="7B53AC"/>
          </a:solidFill>
          <a:ln w="12700">
            <a:solidFill>
              <a:srgbClr val="7B53AC"/>
            </a:solidFill>
            <a:prstDash val="solid"/>
          </a:ln>
        </p:spPr>
      </p:sp>
      <p:sp>
        <p:nvSpPr>
          <p:cNvPr id="120" name="Shape 115"/>
          <p:cNvSpPr/>
          <p:nvPr/>
        </p:nvSpPr>
        <p:spPr>
          <a:xfrm>
            <a:off x="10707624" y="3410712"/>
            <a:ext cx="109728" cy="164592"/>
          </a:xfrm>
          <a:prstGeom prst="rect">
            <a:avLst/>
          </a:prstGeom>
          <a:solidFill>
            <a:srgbClr val="7B53AC"/>
          </a:solidFill>
          <a:ln w="12700">
            <a:solidFill>
              <a:srgbClr val="7B53AC"/>
            </a:solidFill>
            <a:prstDash val="solid"/>
          </a:ln>
        </p:spPr>
      </p:sp>
      <p:sp>
        <p:nvSpPr>
          <p:cNvPr id="121" name="Shape 116"/>
          <p:cNvSpPr/>
          <p:nvPr/>
        </p:nvSpPr>
        <p:spPr>
          <a:xfrm>
            <a:off x="10853928" y="3410712"/>
            <a:ext cx="109728" cy="164592"/>
          </a:xfrm>
          <a:prstGeom prst="rect">
            <a:avLst/>
          </a:prstGeom>
          <a:solidFill>
            <a:srgbClr val="7B53AC"/>
          </a:solidFill>
          <a:ln w="12700">
            <a:solidFill>
              <a:srgbClr val="7B53AC"/>
            </a:solidFill>
            <a:prstDash val="solid"/>
          </a:ln>
        </p:spPr>
      </p:sp>
      <p:sp>
        <p:nvSpPr>
          <p:cNvPr id="122" name="Shape 117"/>
          <p:cNvSpPr/>
          <p:nvPr/>
        </p:nvSpPr>
        <p:spPr>
          <a:xfrm>
            <a:off x="9445752" y="3904488"/>
            <a:ext cx="1664208" cy="493776"/>
          </a:xfrm>
          <a:prstGeom prst="roundRect">
            <a:avLst/>
          </a:prstGeom>
          <a:solidFill>
            <a:srgbClr val="FFFFFF"/>
          </a:solidFill>
          <a:ln w="14573">
            <a:solidFill>
              <a:srgbClr val="7B53AC"/>
            </a:solidFill>
            <a:prstDash val="solid"/>
          </a:ln>
        </p:spPr>
      </p:sp>
      <p:sp>
        <p:nvSpPr>
          <p:cNvPr id="123" name="Text 118"/>
          <p:cNvSpPr/>
          <p:nvPr/>
        </p:nvSpPr>
        <p:spPr>
          <a:xfrm>
            <a:off x="9518904" y="3973068"/>
            <a:ext cx="841248" cy="3383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500" i="1" dirty="0">
                <a:solidFill>
                  <a:srgbClr val="2636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Ĉ</a:t>
            </a:r>
            <a:pPr indent="0" marL="0">
              <a:buNone/>
            </a:pPr>
            <a:r>
              <a:rPr lang="en-US" sz="1600" baseline="-40000" dirty="0">
                <a:solidFill>
                  <a:srgbClr val="2636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wrist</a:t>
            </a:r>
            <a:endParaRPr lang="en-US" sz="2500" dirty="0"/>
          </a:p>
        </p:txBody>
      </p:sp>
      <p:sp>
        <p:nvSpPr>
          <p:cNvPr id="124" name="Shape 119"/>
          <p:cNvSpPr/>
          <p:nvPr/>
        </p:nvSpPr>
        <p:spPr>
          <a:xfrm>
            <a:off x="10415016" y="4069080"/>
            <a:ext cx="109728" cy="164592"/>
          </a:xfrm>
          <a:prstGeom prst="rect">
            <a:avLst/>
          </a:prstGeom>
          <a:solidFill>
            <a:srgbClr val="7B53AC"/>
          </a:solidFill>
          <a:ln w="12700">
            <a:solidFill>
              <a:srgbClr val="7B53AC"/>
            </a:solidFill>
            <a:prstDash val="solid"/>
          </a:ln>
        </p:spPr>
      </p:sp>
      <p:sp>
        <p:nvSpPr>
          <p:cNvPr id="125" name="Shape 120"/>
          <p:cNvSpPr/>
          <p:nvPr/>
        </p:nvSpPr>
        <p:spPr>
          <a:xfrm>
            <a:off x="10561320" y="4069080"/>
            <a:ext cx="109728" cy="164592"/>
          </a:xfrm>
          <a:prstGeom prst="rect">
            <a:avLst/>
          </a:prstGeom>
          <a:solidFill>
            <a:srgbClr val="7B53AC"/>
          </a:solidFill>
          <a:ln w="12700">
            <a:solidFill>
              <a:srgbClr val="7B53AC"/>
            </a:solidFill>
            <a:prstDash val="solid"/>
          </a:ln>
        </p:spPr>
      </p:sp>
      <p:sp>
        <p:nvSpPr>
          <p:cNvPr id="126" name="Shape 121"/>
          <p:cNvSpPr/>
          <p:nvPr/>
        </p:nvSpPr>
        <p:spPr>
          <a:xfrm>
            <a:off x="10707624" y="4069080"/>
            <a:ext cx="109728" cy="164592"/>
          </a:xfrm>
          <a:prstGeom prst="rect">
            <a:avLst/>
          </a:prstGeom>
          <a:solidFill>
            <a:srgbClr val="7B53AC"/>
          </a:solidFill>
          <a:ln w="12700">
            <a:solidFill>
              <a:srgbClr val="7B53AC"/>
            </a:solidFill>
            <a:prstDash val="solid"/>
          </a:ln>
        </p:spPr>
      </p:sp>
      <p:sp>
        <p:nvSpPr>
          <p:cNvPr id="127" name="Shape 122"/>
          <p:cNvSpPr/>
          <p:nvPr/>
        </p:nvSpPr>
        <p:spPr>
          <a:xfrm>
            <a:off x="10853928" y="4069080"/>
            <a:ext cx="109728" cy="164592"/>
          </a:xfrm>
          <a:prstGeom prst="rect">
            <a:avLst/>
          </a:prstGeom>
          <a:solidFill>
            <a:srgbClr val="7B53AC"/>
          </a:solidFill>
          <a:ln w="12700">
            <a:solidFill>
              <a:srgbClr val="7B53AC"/>
            </a:solidFill>
            <a:prstDash val="solid"/>
          </a:ln>
        </p:spPr>
      </p:sp>
      <p:sp>
        <p:nvSpPr>
          <p:cNvPr id="128" name="Shape 123"/>
          <p:cNvSpPr/>
          <p:nvPr/>
        </p:nvSpPr>
        <p:spPr>
          <a:xfrm>
            <a:off x="8677656" y="3867912"/>
            <a:ext cx="356616" cy="0"/>
          </a:xfrm>
          <a:prstGeom prst="line">
            <a:avLst/>
          </a:prstGeom>
          <a:noFill/>
          <a:ln w="23813">
            <a:solidFill>
              <a:srgbClr val="7B53AC"/>
            </a:solidFill>
            <a:prstDash val="solid"/>
            <a:headEnd type="none"/>
            <a:tailEnd type="none"/>
          </a:ln>
        </p:spPr>
      </p:sp>
      <p:sp>
        <p:nvSpPr>
          <p:cNvPr id="129" name="Shape 124"/>
          <p:cNvSpPr/>
          <p:nvPr/>
        </p:nvSpPr>
        <p:spPr>
          <a:xfrm flipV="1">
            <a:off x="9034272" y="3493008"/>
            <a:ext cx="0" cy="374904"/>
          </a:xfrm>
          <a:prstGeom prst="line">
            <a:avLst/>
          </a:prstGeom>
          <a:noFill/>
          <a:ln w="23813">
            <a:solidFill>
              <a:srgbClr val="7B53AC"/>
            </a:solidFill>
            <a:prstDash val="solid"/>
            <a:headEnd type="none"/>
            <a:tailEnd type="none"/>
          </a:ln>
        </p:spPr>
      </p:sp>
      <p:sp>
        <p:nvSpPr>
          <p:cNvPr id="130" name="Shape 125"/>
          <p:cNvSpPr/>
          <p:nvPr/>
        </p:nvSpPr>
        <p:spPr>
          <a:xfrm>
            <a:off x="9034272" y="3493008"/>
            <a:ext cx="356616" cy="0"/>
          </a:xfrm>
          <a:prstGeom prst="line">
            <a:avLst/>
          </a:prstGeom>
          <a:noFill/>
          <a:ln w="23813">
            <a:solidFill>
              <a:srgbClr val="7B53AC"/>
            </a:solidFill>
            <a:prstDash val="solid"/>
            <a:headEnd type="none"/>
            <a:tailEnd type="triangle"/>
          </a:ln>
        </p:spPr>
      </p:sp>
      <p:sp>
        <p:nvSpPr>
          <p:cNvPr id="131" name="Shape 126"/>
          <p:cNvSpPr/>
          <p:nvPr/>
        </p:nvSpPr>
        <p:spPr>
          <a:xfrm>
            <a:off x="9034272" y="3867912"/>
            <a:ext cx="0" cy="283464"/>
          </a:xfrm>
          <a:prstGeom prst="line">
            <a:avLst/>
          </a:prstGeom>
          <a:noFill/>
          <a:ln w="23813">
            <a:solidFill>
              <a:srgbClr val="7B53AC"/>
            </a:solidFill>
            <a:prstDash val="solid"/>
            <a:headEnd type="none"/>
            <a:tailEnd type="none"/>
          </a:ln>
        </p:spPr>
      </p:sp>
      <p:sp>
        <p:nvSpPr>
          <p:cNvPr id="132" name="Shape 127"/>
          <p:cNvSpPr/>
          <p:nvPr/>
        </p:nvSpPr>
        <p:spPr>
          <a:xfrm>
            <a:off x="9034272" y="4151376"/>
            <a:ext cx="356616" cy="0"/>
          </a:xfrm>
          <a:prstGeom prst="line">
            <a:avLst/>
          </a:prstGeom>
          <a:noFill/>
          <a:ln w="23813">
            <a:solidFill>
              <a:srgbClr val="7B53AC"/>
            </a:solidFill>
            <a:prstDash val="solid"/>
            <a:headEnd type="none"/>
            <a:tailEnd type="triangle"/>
          </a:ln>
        </p:spPr>
      </p:sp>
      <p:sp>
        <p:nvSpPr>
          <p:cNvPr id="133" name="Text 128"/>
          <p:cNvSpPr/>
          <p:nvPr/>
        </p:nvSpPr>
        <p:spPr>
          <a:xfrm>
            <a:off x="11475720" y="2834640"/>
            <a:ext cx="228600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87C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Gated cue fusion</a:t>
            </a:r>
            <a:endParaRPr lang="en-US" sz="2100" dirty="0"/>
          </a:p>
        </p:txBody>
      </p:sp>
      <p:sp>
        <p:nvSpPr>
          <p:cNvPr id="134" name="Shape 129"/>
          <p:cNvSpPr/>
          <p:nvPr/>
        </p:nvSpPr>
        <p:spPr>
          <a:xfrm>
            <a:off x="11164824" y="3493008"/>
            <a:ext cx="173736" cy="0"/>
          </a:xfrm>
          <a:prstGeom prst="line">
            <a:avLst/>
          </a:prstGeom>
          <a:noFill/>
          <a:ln w="23813">
            <a:solidFill>
              <a:srgbClr val="7B53AC"/>
            </a:solidFill>
            <a:prstDash val="solid"/>
            <a:headEnd type="none"/>
            <a:tailEnd type="none"/>
          </a:ln>
        </p:spPr>
      </p:sp>
      <p:sp>
        <p:nvSpPr>
          <p:cNvPr id="135" name="Shape 130"/>
          <p:cNvSpPr/>
          <p:nvPr/>
        </p:nvSpPr>
        <p:spPr>
          <a:xfrm>
            <a:off x="11338560" y="3493008"/>
            <a:ext cx="0" cy="301752"/>
          </a:xfrm>
          <a:prstGeom prst="line">
            <a:avLst/>
          </a:prstGeom>
          <a:noFill/>
          <a:ln w="23813">
            <a:solidFill>
              <a:srgbClr val="7B53AC"/>
            </a:solidFill>
            <a:prstDash val="solid"/>
            <a:headEnd type="none"/>
            <a:tailEnd type="none"/>
          </a:ln>
        </p:spPr>
      </p:sp>
      <p:sp>
        <p:nvSpPr>
          <p:cNvPr id="136" name="Shape 131"/>
          <p:cNvSpPr/>
          <p:nvPr/>
        </p:nvSpPr>
        <p:spPr>
          <a:xfrm>
            <a:off x="11164824" y="4151376"/>
            <a:ext cx="173736" cy="0"/>
          </a:xfrm>
          <a:prstGeom prst="line">
            <a:avLst/>
          </a:prstGeom>
          <a:noFill/>
          <a:ln w="23813">
            <a:solidFill>
              <a:srgbClr val="7B53AC"/>
            </a:solidFill>
            <a:prstDash val="solid"/>
            <a:headEnd type="none"/>
            <a:tailEnd type="none"/>
          </a:ln>
        </p:spPr>
      </p:sp>
      <p:sp>
        <p:nvSpPr>
          <p:cNvPr id="137" name="Shape 132"/>
          <p:cNvSpPr/>
          <p:nvPr/>
        </p:nvSpPr>
        <p:spPr>
          <a:xfrm flipV="1">
            <a:off x="11338560" y="3794760"/>
            <a:ext cx="0" cy="356616"/>
          </a:xfrm>
          <a:prstGeom prst="line">
            <a:avLst/>
          </a:prstGeom>
          <a:noFill/>
          <a:ln w="23813">
            <a:solidFill>
              <a:srgbClr val="7B53AC"/>
            </a:solidFill>
            <a:prstDash val="solid"/>
            <a:headEnd type="none"/>
            <a:tailEnd type="none"/>
          </a:ln>
        </p:spPr>
      </p:sp>
      <p:sp>
        <p:nvSpPr>
          <p:cNvPr id="138" name="Shape 133"/>
          <p:cNvSpPr/>
          <p:nvPr/>
        </p:nvSpPr>
        <p:spPr>
          <a:xfrm>
            <a:off x="11201400" y="3657600"/>
            <a:ext cx="274320" cy="274320"/>
          </a:xfrm>
          <a:prstGeom prst="ellipse">
            <a:avLst/>
          </a:prstGeom>
          <a:solidFill>
            <a:srgbClr val="FFFFFF"/>
          </a:solidFill>
          <a:ln w="22860">
            <a:solidFill>
              <a:srgbClr val="7B53AC"/>
            </a:solidFill>
            <a:prstDash val="solid"/>
          </a:ln>
        </p:spPr>
      </p:sp>
      <p:sp>
        <p:nvSpPr>
          <p:cNvPr id="139" name="Text 134"/>
          <p:cNvSpPr/>
          <p:nvPr/>
        </p:nvSpPr>
        <p:spPr>
          <a:xfrm>
            <a:off x="11233404" y="3689604"/>
            <a:ext cx="210312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B5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800" dirty="0"/>
          </a:p>
        </p:txBody>
      </p:sp>
      <p:sp>
        <p:nvSpPr>
          <p:cNvPr id="140" name="Shape 135"/>
          <p:cNvSpPr/>
          <p:nvPr/>
        </p:nvSpPr>
        <p:spPr>
          <a:xfrm>
            <a:off x="11503152" y="3794760"/>
            <a:ext cx="128016" cy="0"/>
          </a:xfrm>
          <a:prstGeom prst="line">
            <a:avLst/>
          </a:prstGeom>
          <a:noFill/>
          <a:ln w="23813">
            <a:solidFill>
              <a:srgbClr val="7B53AC"/>
            </a:solidFill>
            <a:prstDash val="solid"/>
            <a:headEnd type="none"/>
            <a:tailEnd type="triangle"/>
          </a:ln>
        </p:spPr>
      </p:sp>
      <p:sp>
        <p:nvSpPr>
          <p:cNvPr id="141" name="Shape 136"/>
          <p:cNvSpPr/>
          <p:nvPr/>
        </p:nvSpPr>
        <p:spPr>
          <a:xfrm>
            <a:off x="11686032" y="3566160"/>
            <a:ext cx="457200" cy="457200"/>
          </a:xfrm>
          <a:prstGeom prst="rect">
            <a:avLst/>
          </a:prstGeom>
          <a:solidFill>
            <a:srgbClr val="FFFFFF"/>
          </a:solidFill>
          <a:ln w="13716">
            <a:solidFill>
              <a:srgbClr val="AD94C6"/>
            </a:solidFill>
            <a:prstDash val="solid"/>
          </a:ln>
        </p:spPr>
      </p:sp>
      <p:sp>
        <p:nvSpPr>
          <p:cNvPr id="142" name="Text 137"/>
          <p:cNvSpPr/>
          <p:nvPr/>
        </p:nvSpPr>
        <p:spPr>
          <a:xfrm>
            <a:off x="11722608" y="3630168"/>
            <a:ext cx="384048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7B5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sg</a:t>
            </a:r>
            <a:endParaRPr lang="en-US" sz="2200" dirty="0"/>
          </a:p>
        </p:txBody>
      </p:sp>
      <p:sp>
        <p:nvSpPr>
          <p:cNvPr id="143" name="Shape 138"/>
          <p:cNvSpPr/>
          <p:nvPr/>
        </p:nvSpPr>
        <p:spPr>
          <a:xfrm>
            <a:off x="12179808" y="3794760"/>
            <a:ext cx="73152" cy="0"/>
          </a:xfrm>
          <a:prstGeom prst="line">
            <a:avLst/>
          </a:prstGeom>
          <a:noFill/>
          <a:ln w="23813">
            <a:solidFill>
              <a:srgbClr val="7B53AC"/>
            </a:solidFill>
            <a:prstDash val="solid"/>
            <a:headEnd type="none"/>
            <a:tailEnd type="triangle"/>
          </a:ln>
        </p:spPr>
      </p:sp>
      <p:sp>
        <p:nvSpPr>
          <p:cNvPr id="144" name="Shape 139"/>
          <p:cNvSpPr/>
          <p:nvPr/>
        </p:nvSpPr>
        <p:spPr>
          <a:xfrm>
            <a:off x="12307824" y="3447288"/>
            <a:ext cx="1005840" cy="713232"/>
          </a:xfrm>
          <a:prstGeom prst="roundRect">
            <a:avLst/>
          </a:prstGeom>
          <a:solidFill>
            <a:srgbClr val="FFFFFF"/>
          </a:solidFill>
          <a:ln w="18860">
            <a:solidFill>
              <a:srgbClr val="187C70"/>
            </a:solidFill>
            <a:prstDash val="solid"/>
          </a:ln>
        </p:spPr>
      </p:sp>
      <p:sp>
        <p:nvSpPr>
          <p:cNvPr id="145" name="Text 140"/>
          <p:cNvSpPr/>
          <p:nvPr/>
        </p:nvSpPr>
        <p:spPr>
          <a:xfrm>
            <a:off x="12390120" y="3639312"/>
            <a:ext cx="841248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87C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</a:t>
            </a:r>
            <a:endParaRPr lang="en-US" sz="2200" dirty="0"/>
          </a:p>
        </p:txBody>
      </p:sp>
      <p:sp>
        <p:nvSpPr>
          <p:cNvPr id="146" name="Shape 141"/>
          <p:cNvSpPr/>
          <p:nvPr/>
        </p:nvSpPr>
        <p:spPr>
          <a:xfrm>
            <a:off x="13368528" y="3794760"/>
            <a:ext cx="36576" cy="0"/>
          </a:xfrm>
          <a:prstGeom prst="line">
            <a:avLst/>
          </a:prstGeom>
          <a:noFill/>
          <a:ln w="23813">
            <a:solidFill>
              <a:srgbClr val="187C70"/>
            </a:solidFill>
            <a:prstDash val="solid"/>
            <a:headEnd type="none"/>
            <a:tailEnd type="none"/>
          </a:ln>
        </p:spPr>
      </p:sp>
      <p:sp>
        <p:nvSpPr>
          <p:cNvPr id="147" name="Shape 142"/>
          <p:cNvSpPr/>
          <p:nvPr/>
        </p:nvSpPr>
        <p:spPr>
          <a:xfrm>
            <a:off x="13405104" y="3794760"/>
            <a:ext cx="0" cy="576072"/>
          </a:xfrm>
          <a:prstGeom prst="line">
            <a:avLst/>
          </a:prstGeom>
          <a:noFill/>
          <a:ln w="23813">
            <a:solidFill>
              <a:srgbClr val="187C70"/>
            </a:solidFill>
            <a:prstDash val="solid"/>
            <a:headEnd type="none"/>
            <a:tailEnd type="none"/>
          </a:ln>
        </p:spPr>
      </p:sp>
      <p:sp>
        <p:nvSpPr>
          <p:cNvPr id="148" name="Shape 143"/>
          <p:cNvSpPr/>
          <p:nvPr/>
        </p:nvSpPr>
        <p:spPr>
          <a:xfrm flipH="1">
            <a:off x="13085064" y="4370832"/>
            <a:ext cx="320040" cy="0"/>
          </a:xfrm>
          <a:prstGeom prst="line">
            <a:avLst/>
          </a:prstGeom>
          <a:noFill/>
          <a:ln w="23813">
            <a:solidFill>
              <a:srgbClr val="187C70"/>
            </a:solidFill>
            <a:prstDash val="solid"/>
            <a:headEnd type="none"/>
            <a:tailEnd type="none"/>
          </a:ln>
        </p:spPr>
      </p:sp>
      <p:sp>
        <p:nvSpPr>
          <p:cNvPr id="149" name="Shape 144"/>
          <p:cNvSpPr/>
          <p:nvPr/>
        </p:nvSpPr>
        <p:spPr>
          <a:xfrm>
            <a:off x="13085064" y="4370832"/>
            <a:ext cx="0" cy="54864"/>
          </a:xfrm>
          <a:prstGeom prst="line">
            <a:avLst/>
          </a:prstGeom>
          <a:noFill/>
          <a:ln w="23813">
            <a:solidFill>
              <a:srgbClr val="187C70"/>
            </a:solidFill>
            <a:prstDash val="solid"/>
            <a:headEnd type="none"/>
            <a:tailEnd type="triangle"/>
          </a:ln>
        </p:spPr>
      </p:sp>
      <p:sp>
        <p:nvSpPr>
          <p:cNvPr id="150" name="Shape 145"/>
          <p:cNvSpPr/>
          <p:nvPr/>
        </p:nvSpPr>
        <p:spPr>
          <a:xfrm>
            <a:off x="6720840" y="4489704"/>
            <a:ext cx="73152" cy="0"/>
          </a:xfrm>
          <a:prstGeom prst="line">
            <a:avLst/>
          </a:prstGeom>
          <a:noFill/>
          <a:ln w="28575">
            <a:solidFill>
              <a:srgbClr val="187C70"/>
            </a:solidFill>
            <a:prstDash val="solid"/>
            <a:headEnd type="none"/>
            <a:tailEnd type="none"/>
          </a:ln>
        </p:spPr>
      </p:sp>
      <p:sp>
        <p:nvSpPr>
          <p:cNvPr id="151" name="Shape 146"/>
          <p:cNvSpPr/>
          <p:nvPr/>
        </p:nvSpPr>
        <p:spPr>
          <a:xfrm>
            <a:off x="6793992" y="4489704"/>
            <a:ext cx="0" cy="210312"/>
          </a:xfrm>
          <a:prstGeom prst="line">
            <a:avLst/>
          </a:prstGeom>
          <a:noFill/>
          <a:ln w="28575">
            <a:solidFill>
              <a:srgbClr val="187C70"/>
            </a:solidFill>
            <a:prstDash val="solid"/>
            <a:headEnd type="none"/>
            <a:tailEnd type="none"/>
          </a:ln>
        </p:spPr>
      </p:sp>
      <p:sp>
        <p:nvSpPr>
          <p:cNvPr id="152" name="Shape 147"/>
          <p:cNvSpPr/>
          <p:nvPr/>
        </p:nvSpPr>
        <p:spPr>
          <a:xfrm>
            <a:off x="6793992" y="4700016"/>
            <a:ext cx="6025896" cy="0"/>
          </a:xfrm>
          <a:prstGeom prst="line">
            <a:avLst/>
          </a:prstGeom>
          <a:noFill/>
          <a:ln w="28575">
            <a:solidFill>
              <a:srgbClr val="187C70"/>
            </a:solidFill>
            <a:prstDash val="solid"/>
            <a:headEnd type="none"/>
            <a:tailEnd type="triangle"/>
          </a:ln>
        </p:spPr>
      </p:sp>
      <p:sp>
        <p:nvSpPr>
          <p:cNvPr id="153" name="Text 148"/>
          <p:cNvSpPr/>
          <p:nvPr/>
        </p:nvSpPr>
        <p:spPr>
          <a:xfrm>
            <a:off x="7370064" y="4837176"/>
            <a:ext cx="458114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87C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action representations</a:t>
            </a:r>
            <a:endParaRPr lang="en-US" sz="2000" dirty="0"/>
          </a:p>
        </p:txBody>
      </p:sp>
      <p:sp>
        <p:nvSpPr>
          <p:cNvPr id="154" name="Shape 149"/>
          <p:cNvSpPr/>
          <p:nvPr/>
        </p:nvSpPr>
        <p:spPr>
          <a:xfrm>
            <a:off x="12865608" y="4480560"/>
            <a:ext cx="438912" cy="438912"/>
          </a:xfrm>
          <a:prstGeom prst="ellipse">
            <a:avLst/>
          </a:prstGeom>
          <a:solidFill>
            <a:srgbClr val="FFFFFF"/>
          </a:solidFill>
          <a:ln w="22860">
            <a:solidFill>
              <a:srgbClr val="187C70"/>
            </a:solidFill>
            <a:prstDash val="solid"/>
          </a:ln>
        </p:spPr>
      </p:sp>
      <p:sp>
        <p:nvSpPr>
          <p:cNvPr id="155" name="Text 150"/>
          <p:cNvSpPr/>
          <p:nvPr/>
        </p:nvSpPr>
        <p:spPr>
          <a:xfrm>
            <a:off x="12897612" y="4512564"/>
            <a:ext cx="374904" cy="3749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87C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2600" dirty="0"/>
          </a:p>
        </p:txBody>
      </p:sp>
      <p:sp>
        <p:nvSpPr>
          <p:cNvPr id="156" name="Shape 151"/>
          <p:cNvSpPr/>
          <p:nvPr/>
        </p:nvSpPr>
        <p:spPr>
          <a:xfrm>
            <a:off x="13350240" y="4700016"/>
            <a:ext cx="54864" cy="0"/>
          </a:xfrm>
          <a:prstGeom prst="line">
            <a:avLst/>
          </a:prstGeom>
          <a:noFill/>
          <a:ln w="23813">
            <a:solidFill>
              <a:srgbClr val="187C70"/>
            </a:solidFill>
            <a:prstDash val="solid"/>
            <a:headEnd type="none"/>
            <a:tailEnd type="triangle"/>
          </a:ln>
        </p:spPr>
      </p:sp>
      <p:sp>
        <p:nvSpPr>
          <p:cNvPr id="157" name="Shape 152"/>
          <p:cNvSpPr/>
          <p:nvPr/>
        </p:nvSpPr>
        <p:spPr>
          <a:xfrm>
            <a:off x="13459968" y="4251960"/>
            <a:ext cx="1051560" cy="859536"/>
          </a:xfrm>
          <a:prstGeom prst="roundRect">
            <a:avLst/>
          </a:prstGeom>
          <a:solidFill>
            <a:srgbClr val="FFFFFF"/>
          </a:solidFill>
          <a:ln w="18860">
            <a:solidFill>
              <a:srgbClr val="187C70"/>
            </a:solidFill>
            <a:prstDash val="solid"/>
          </a:ln>
        </p:spPr>
      </p:sp>
      <p:sp>
        <p:nvSpPr>
          <p:cNvPr id="158" name="Text 153"/>
          <p:cNvSpPr/>
          <p:nvPr/>
        </p:nvSpPr>
        <p:spPr>
          <a:xfrm>
            <a:off x="13533120" y="4416552"/>
            <a:ext cx="905256" cy="539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2636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</a:t>
            </a:r>
            <a:endParaRPr lang="en-US" sz="1950" dirty="0"/>
          </a:p>
          <a:p>
            <a:pPr algn="ctr" indent="0" marL="0">
              <a:buNone/>
            </a:pPr>
            <a:r>
              <a:rPr lang="en-US" sz="1950" b="1" dirty="0">
                <a:solidFill>
                  <a:srgbClr val="2636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1950" dirty="0"/>
          </a:p>
        </p:txBody>
      </p:sp>
      <p:sp>
        <p:nvSpPr>
          <p:cNvPr id="159" name="Shape 154"/>
          <p:cNvSpPr/>
          <p:nvPr/>
        </p:nvSpPr>
        <p:spPr>
          <a:xfrm>
            <a:off x="14548104" y="4700016"/>
            <a:ext cx="91440" cy="0"/>
          </a:xfrm>
          <a:prstGeom prst="line">
            <a:avLst/>
          </a:prstGeom>
          <a:noFill/>
          <a:ln w="23813">
            <a:solidFill>
              <a:srgbClr val="187C70"/>
            </a:solidFill>
            <a:prstDash val="solid"/>
            <a:headEnd type="none"/>
            <a:tailEnd type="triangle"/>
          </a:ln>
        </p:spPr>
      </p:sp>
      <p:sp>
        <p:nvSpPr>
          <p:cNvPr id="160" name="Text 155"/>
          <p:cNvSpPr/>
          <p:nvPr/>
        </p:nvSpPr>
        <p:spPr>
          <a:xfrm>
            <a:off x="14676120" y="4471416"/>
            <a:ext cx="320040" cy="3931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100" i="1" dirty="0">
                <a:solidFill>
                  <a:srgbClr val="187C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ctr" indent="0" marL="0">
              <a:buNone/>
            </a:pPr>
            <a:r>
              <a:rPr lang="en-US" sz="2000" baseline="30000" dirty="0">
                <a:solidFill>
                  <a:srgbClr val="187C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3100" dirty="0"/>
          </a:p>
        </p:txBody>
      </p:sp>
      <p:sp>
        <p:nvSpPr>
          <p:cNvPr id="161" name="Shape 156"/>
          <p:cNvSpPr/>
          <p:nvPr/>
        </p:nvSpPr>
        <p:spPr>
          <a:xfrm>
            <a:off x="14822424" y="4416552"/>
            <a:ext cx="146304" cy="0"/>
          </a:xfrm>
          <a:prstGeom prst="line">
            <a:avLst/>
          </a:prstGeom>
          <a:noFill/>
          <a:ln w="23813">
            <a:solidFill>
              <a:srgbClr val="187C70"/>
            </a:solidFill>
            <a:prstDash val="dash"/>
            <a:headEnd type="none"/>
            <a:tailEnd type="none"/>
          </a:ln>
        </p:spPr>
      </p:sp>
      <p:sp>
        <p:nvSpPr>
          <p:cNvPr id="162" name="Shape 157"/>
          <p:cNvSpPr/>
          <p:nvPr/>
        </p:nvSpPr>
        <p:spPr>
          <a:xfrm flipV="1">
            <a:off x="14968728" y="2103120"/>
            <a:ext cx="0" cy="2313432"/>
          </a:xfrm>
          <a:prstGeom prst="line">
            <a:avLst/>
          </a:prstGeom>
          <a:noFill/>
          <a:ln w="23813">
            <a:solidFill>
              <a:srgbClr val="187C70"/>
            </a:solidFill>
            <a:prstDash val="dash"/>
            <a:headEnd type="none"/>
            <a:tailEnd type="none"/>
          </a:ln>
        </p:spPr>
      </p:sp>
      <p:sp>
        <p:nvSpPr>
          <p:cNvPr id="163" name="Shape 158"/>
          <p:cNvSpPr/>
          <p:nvPr/>
        </p:nvSpPr>
        <p:spPr>
          <a:xfrm flipH="1">
            <a:off x="14822424" y="2103120"/>
            <a:ext cx="146304" cy="0"/>
          </a:xfrm>
          <a:prstGeom prst="line">
            <a:avLst/>
          </a:prstGeom>
          <a:noFill/>
          <a:ln w="23813">
            <a:solidFill>
              <a:srgbClr val="187C70"/>
            </a:solidFill>
            <a:prstDash val="dash"/>
            <a:headEnd type="none"/>
            <a:tailEnd type="triangle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ACPD method overview</dc:title>
  <dc:subject>Compact teacher/student diagram with embedded cue and velocity supervision</dc:subject>
  <dc:creator>ACPD research</dc:creator>
  <cp:lastModifiedBy>ACPD research</cp:lastModifiedBy>
  <cp:revision>1</cp:revision>
  <dcterms:created xsi:type="dcterms:W3CDTF">2026-10-29T06:08:51Z</dcterms:created>
  <dcterms:modified xsi:type="dcterms:W3CDTF">2026-10-29T06:08:51Z</dcterms:modified>
</cp:coreProperties>
</file>