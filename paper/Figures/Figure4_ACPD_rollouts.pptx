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24383939" cy="21945600"/>
  <p:notesSz cx="21945600" cy="24383939"/>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ACPD only. Original closed-loop evaluation videos, not demonstration trajectories.
Random selection seed: 20261029. One independent uniform task/episode draw per view-suite cell, without outcome filtering.
Six uniformly spaced recorded frames include the first and last available frame. Percentages indicate progress through each recorded episode, not matched physical times across episodes.
Success/failure is the original evaluator outcome. The last image is the last recorded pre-action frame.
back/spatial, task 5, episode 23, failure: pick up the black bowl on the ramekin and place it on the plate
/opt/liutong/openpi-5090-evals/acpd-v2-training-trajectory/final-hidden/34999/spatial/videos/pick_up_the_black_bowl_on_the_ramekin_and_place_it_on_the_plate_23_failure.mp4
back/object, task 4, episode 26, success: pick up the ketchup and place it in the basket
/opt/liutong/openpi-5090-evals/acpd-v2-training-trajectory/final-hidden/34999/object/videos/pick_up_the_ketchup_and_place_it_in_the_basket_26_success.mp4
back/goal, task 2, episode 15, success: put the wine bottle on top of the cabinet
/opt/liutong/openpi-5090-evals/acpd-v2-training-trajectory/final-hidden/34999/goal/videos/put_the_wine_bottle_on_top_of_the_cabinet_15_success.mp4
back/long, task 6, episode 27, failure: put the white mug on the plate and put the chocolate pudding to the right of the plate
/opt/liutong/openpi-5090-evals/acpd-v2-training-trajectory/final-hidden/34999/libero_10/videos/put_the_white_mug_on_the_plate_and_put_the_chocolate_pudding_to_the_right_of_the_plate_27_failure.mp4
left/spatial, task 9, episode 46, success: pick up the black bowl on the wooden cabinet and place it on the plate
/opt/liutong/openpi-5090-evals/acpd-v2-trajectory-31k-34k/leftview/31999/spatial/videos/pick_up_the_black_bowl_on_the_wooden_cabinet_and_place_it_on_the_plate_46_success.mp4
left/object, task 3, episode 28, success: pick up the bbq sauce and place it in the basket
/opt/liutong/openpi-5090-evals/acpd-v2-trajectory-31k-34k/leftview/31999/object/videos/pick_up_the_bbq_sauce_and_place_it_in_the_basket_28_success.mp4
left/goal, task 4, episode 35, success: put the bowl on top of the cabinet
/opt/liutong/openpi-5090-evals/acpd-v2-trajectory-31k-34k/leftview/31999/goal/videos/put_the_bowl_on_top_of_the_cabinet_35_success.mp4
left/long, task 2, episode 45, success: turn on the stove and put the moka pot on it
/opt/liutong/openpi-5090-evals/acpd-v2-trajectory-31k-34k/leftview/31999/libero_10/videos/turn_on_the_stove_and_put_the_moka_pot_on_it_45_success.mp4
right/spatial, task 1, episode 42, success: pick up the black bowl next to the ramekin and place it on the plate
/opt/liutong/openpi-5090-evals/acpd-v2-trajectory-31k-34k/rightview/31999/spatial/videos/pick_up_the_black_bowl_next_to_the_ramekin_and_place_it_on_the_plate_42_success.mp4
right/object, task 7, episode 19, failure: pick up the milk and place it in the basket
/opt/liutong/openpi-5090-evals/acpd-v2-trajectory-31k-34k/rightview/31999/object/videos/pick_up_the_milk_and_place_it_in_the_basket_19_failure.mp4
right/goal, task 7, episode 0, success: turn on the stove
/opt/liutong/openpi-5090-evals/acpd-v2-trajectory-31k-34k/rightview/31999/goal/videos/turn_on_the_stove_00_success.mp4
right/long, task 4, episode 34, success: put the white mug on the left plate and put the yellow and white mug on the right plate
/opt/liutong/openpi-5090-evals/acpd-v2-trajectory-31k-34k/rightview/31999/libero_10/videos/put_the_white_mug_on_the_left_plate_and_put_the_yellow_and_white_mug_on_the_right_plate_34_success.mp4
top/spatial, task 7, episode 4, success: pick up the black bowl on the stove and place it on the plate
/opt/liutong/openpi-5090-evals/acpd-v2-multiview-35k/topview/31999/spatial/videos/pick_up_the_black_bowl_on_the_stove_and_place_it_on_the_plate_04_success.mp4
top/object, task 4, episode 17, success: pick up the ketchup and place it in the basket
/opt/liutong/openpi-5090-evals/acpd-v2-multiview-35k/topview/31999/object/videos/pick_up_the_ketchup_and_place_it_in_the_basket_17_success.mp4
top/goal, task 9, episode 2, failure: put the wine bottle on the rack
/opt/liutong/openpi-5090-evals/acpd-v2-multiview-35k/topview/31999/goal/videos/put_the_wine_bottle_on_the_rack_02_failure.mp4
top/long, task 0, episode 44, success: put both the alphabet soup and the tomato sauce in the basket
/opt/liutong/openpi-5090-evals/acpd-v2-multiview-35k/topview/31999/libero_10/videos/put_both_the_alphabet_soup_and_the_tomato_sauce_in_the_basket_44_success.mp4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ACPD only. Original closed-loop evaluation videos, not demonstration trajectories.
Random selection seed: 20261029. One independent uniform task/episode draw per view-suite cell, without outcome filtering.
Six uniformly spaced recorded frames include the first and last available frame. Percentages indicate progress through each recorded episode, not matched physical times across episodes.
Success/failure is the original evaluator outcome. The last image is the last recorded pre-action frame.
back/spatial, task 5, episode 23, failure: pick up the black bowl on the ramekin and place it on the plate
/opt/liutong/openpi-5090-evals/acpd-v2-training-trajectory/final-hidden/34999/spatial/videos/pick_up_the_black_bowl_on_the_ramekin_and_place_it_on_the_plate_23_failure.mp4
back/object, task 4, episode 26, success: pick up the ketchup and place it in the basket
/opt/liutong/openpi-5090-evals/acpd-v2-training-trajectory/final-hidden/34999/object/videos/pick_up_the_ketchup_and_place_it_in_the_basket_26_success.mp4
back/goal, task 2, episode 15, success: put the wine bottle on top of the cabinet
/opt/liutong/openpi-5090-evals/acpd-v2-training-trajectory/final-hidden/34999/goal/videos/put_the_wine_bottle_on_top_of_the_cabinet_15_success.mp4
back/long, task 6, episode 27, failure: put the white mug on the plate and put the chocolate pudding to the right of the plate
/opt/liutong/openpi-5090-evals/acpd-v2-training-trajectory/final-hidden/34999/libero_10/videos/put_the_white_mug_on_the_plate_and_put_the_chocolate_pudding_to_the_right_of_the_plate_27_failure.mp4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ACPD only. Original closed-loop evaluation videos, not demonstration trajectories.
Random selection seed: 20261029. One independent uniform task/episode draw per view-suite cell, without outcome filtering.
Six uniformly spaced recorded frames include the first and last available frame. Percentages indicate progress through each recorded episode, not matched physical times across episodes.
Success/failure is the original evaluator outcome. The last image is the last recorded pre-action frame.
left/spatial, task 9, episode 46, success: pick up the black bowl on the wooden cabinet and place it on the plate
/opt/liutong/openpi-5090-evals/acpd-v2-trajectory-31k-34k/leftview/31999/spatial/videos/pick_up_the_black_bowl_on_the_wooden_cabinet_and_place_it_on_the_plate_46_success.mp4
left/object, task 3, episode 28, success: pick up the bbq sauce and place it in the basket
/opt/liutong/openpi-5090-evals/acpd-v2-trajectory-31k-34k/leftview/31999/object/videos/pick_up_the_bbq_sauce_and_place_it_in_the_basket_28_success.mp4
left/goal, task 4, episode 35, success: put the bowl on top of the cabinet
/opt/liutong/openpi-5090-evals/acpd-v2-trajectory-31k-34k/leftview/31999/goal/videos/put_the_bowl_on_top_of_the_cabinet_35_success.mp4
left/long, task 2, episode 45, success: turn on the stove and put the moka pot on it
/opt/liutong/openpi-5090-evals/acpd-v2-trajectory-31k-34k/leftview/31999/libero_10/videos/turn_on_the_stove_and_put_the_moka_pot_on_it_45_success.mp4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ACPD only. Original closed-loop evaluation videos, not demonstration trajectories.
Random selection seed: 20261029. One independent uniform task/episode draw per view-suite cell, without outcome filtering.
Six uniformly spaced recorded frames include the first and last available frame. Percentages indicate progress through each recorded episode, not matched physical times across episodes.
Success/failure is the original evaluator outcome. The last image is the last recorded pre-action frame.
right/spatial, task 1, episode 42, success: pick up the black bowl next to the ramekin and place it on the plate
/opt/liutong/openpi-5090-evals/acpd-v2-trajectory-31k-34k/rightview/31999/spatial/videos/pick_up_the_black_bowl_next_to_the_ramekin_and_place_it_on_the_plate_42_success.mp4
right/object, task 7, episode 19, failure: pick up the milk and place it in the basket
/opt/liutong/openpi-5090-evals/acpd-v2-trajectory-31k-34k/rightview/31999/object/videos/pick_up_the_milk_and_place_it_in_the_basket_19_failure.mp4
right/goal, task 7, episode 0, success: turn on the stove
/opt/liutong/openpi-5090-evals/acpd-v2-trajectory-31k-34k/rightview/31999/goal/videos/turn_on_the_stove_00_success.mp4
right/long, task 4, episode 34, success: put the white mug on the left plate and put the yellow and white mug on the right plate
/opt/liutong/openpi-5090-evals/acpd-v2-trajectory-31k-34k/rightview/31999/libero_10/videos/put_the_white_mug_on_the_left_plate_and_put_the_yellow_and_white_mug_on_the_right_plate_34_success.mp4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ACPD only. Original closed-loop evaluation videos, not demonstration trajectories.
Random selection seed: 20261029. One independent uniform task/episode draw per view-suite cell, without outcome filtering.
Six uniformly spaced recorded frames include the first and last available frame. Percentages indicate progress through each recorded episode, not matched physical times across episodes.
Success/failure is the original evaluator outcome. The last image is the last recorded pre-action frame.
top/spatial, task 7, episode 4, success: pick up the black bowl on the stove and place it on the plate
/opt/liutong/openpi-5090-evals/acpd-v2-multiview-35k/topview/31999/spatial/videos/pick_up_the_black_bowl_on_the_stove_and_place_it_on_the_plate_04_success.mp4
top/object, task 4, episode 17, success: pick up the ketchup and place it in the basket
/opt/liutong/openpi-5090-evals/acpd-v2-multiview-35k/topview/31999/object/videos/pick_up_the_ketchup_and_place_it_in_the_basket_17_success.mp4
top/goal, task 9, episode 2, failure: put the wine bottle on the rack
/opt/liutong/openpi-5090-evals/acpd-v2-multiview-35k/topview/31999/goal/videos/put_the_wine_bottle_on_the_rack_02_failure.mp4
top/long, task 0, episode 44, success: put both the alphabet soup and the tomato sauce in the basket
/opt/liutong/openpi-5090-evals/acpd-v2-multiview-35k/topview/31999/libero_10/videos/put_both_the_alphabet_soup_and_the_tomato_sauce_in_the_basket_44_success.mp4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1-21.png"/><Relationship Id="rId22" Type="http://schemas.openxmlformats.org/officeDocument/2006/relationships/image" Target="../media/image-1-22.png"/><Relationship Id="rId23" Type="http://schemas.openxmlformats.org/officeDocument/2006/relationships/image" Target="../media/image-1-23.png"/><Relationship Id="rId24" Type="http://schemas.openxmlformats.org/officeDocument/2006/relationships/image" Target="../media/image-1-24.png"/><Relationship Id="rId25" Type="http://schemas.openxmlformats.org/officeDocument/2006/relationships/image" Target="../media/image-1-25.png"/><Relationship Id="rId26" Type="http://schemas.openxmlformats.org/officeDocument/2006/relationships/image" Target="../media/image-1-26.png"/><Relationship Id="rId27" Type="http://schemas.openxmlformats.org/officeDocument/2006/relationships/image" Target="../media/image-1-27.png"/><Relationship Id="rId28" Type="http://schemas.openxmlformats.org/officeDocument/2006/relationships/image" Target="../media/image-1-28.png"/><Relationship Id="rId29" Type="http://schemas.openxmlformats.org/officeDocument/2006/relationships/image" Target="../media/image-1-29.png"/><Relationship Id="rId30" Type="http://schemas.openxmlformats.org/officeDocument/2006/relationships/image" Target="../media/image-1-30.png"/><Relationship Id="rId31" Type="http://schemas.openxmlformats.org/officeDocument/2006/relationships/image" Target="../media/image-1-31.png"/><Relationship Id="rId32" Type="http://schemas.openxmlformats.org/officeDocument/2006/relationships/image" Target="../media/image-1-32.png"/><Relationship Id="rId33" Type="http://schemas.openxmlformats.org/officeDocument/2006/relationships/image" Target="../media/image-1-33.png"/><Relationship Id="rId34" Type="http://schemas.openxmlformats.org/officeDocument/2006/relationships/image" Target="../media/image-1-34.png"/><Relationship Id="rId35" Type="http://schemas.openxmlformats.org/officeDocument/2006/relationships/image" Target="../media/image-1-35.png"/><Relationship Id="rId36" Type="http://schemas.openxmlformats.org/officeDocument/2006/relationships/image" Target="../media/image-1-36.png"/><Relationship Id="rId37" Type="http://schemas.openxmlformats.org/officeDocument/2006/relationships/image" Target="../media/image-1-37.png"/><Relationship Id="rId38" Type="http://schemas.openxmlformats.org/officeDocument/2006/relationships/image" Target="../media/image-1-38.png"/><Relationship Id="rId39" Type="http://schemas.openxmlformats.org/officeDocument/2006/relationships/image" Target="../media/image-1-39.png"/><Relationship Id="rId40" Type="http://schemas.openxmlformats.org/officeDocument/2006/relationships/image" Target="../media/image-1-40.png"/><Relationship Id="rId41" Type="http://schemas.openxmlformats.org/officeDocument/2006/relationships/image" Target="../media/image-1-41.png"/><Relationship Id="rId42" Type="http://schemas.openxmlformats.org/officeDocument/2006/relationships/image" Target="../media/image-1-42.png"/><Relationship Id="rId43" Type="http://schemas.openxmlformats.org/officeDocument/2006/relationships/image" Target="../media/image-1-43.png"/><Relationship Id="rId44" Type="http://schemas.openxmlformats.org/officeDocument/2006/relationships/image" Target="../media/image-1-44.png"/><Relationship Id="rId45" Type="http://schemas.openxmlformats.org/officeDocument/2006/relationships/image" Target="../media/image-1-45.png"/><Relationship Id="rId46" Type="http://schemas.openxmlformats.org/officeDocument/2006/relationships/image" Target="../media/image-1-46.png"/><Relationship Id="rId47" Type="http://schemas.openxmlformats.org/officeDocument/2006/relationships/image" Target="../media/image-1-47.png"/><Relationship Id="rId48" Type="http://schemas.openxmlformats.org/officeDocument/2006/relationships/image" Target="../media/image-1-48.png"/><Relationship Id="rId49" Type="http://schemas.openxmlformats.org/officeDocument/2006/relationships/image" Target="../media/image-1-49.png"/><Relationship Id="rId50" Type="http://schemas.openxmlformats.org/officeDocument/2006/relationships/image" Target="../media/image-1-50.png"/><Relationship Id="rId51" Type="http://schemas.openxmlformats.org/officeDocument/2006/relationships/image" Target="../media/image-1-51.png"/><Relationship Id="rId52" Type="http://schemas.openxmlformats.org/officeDocument/2006/relationships/image" Target="../media/image-1-52.png"/><Relationship Id="rId53" Type="http://schemas.openxmlformats.org/officeDocument/2006/relationships/image" Target="../media/image-1-53.png"/><Relationship Id="rId54" Type="http://schemas.openxmlformats.org/officeDocument/2006/relationships/image" Target="../media/image-1-54.png"/><Relationship Id="rId55" Type="http://schemas.openxmlformats.org/officeDocument/2006/relationships/image" Target="../media/image-1-55.png"/><Relationship Id="rId56" Type="http://schemas.openxmlformats.org/officeDocument/2006/relationships/image" Target="../media/image-1-56.png"/><Relationship Id="rId57" Type="http://schemas.openxmlformats.org/officeDocument/2006/relationships/image" Target="../media/image-1-57.png"/><Relationship Id="rId58" Type="http://schemas.openxmlformats.org/officeDocument/2006/relationships/image" Target="../media/image-1-58.png"/><Relationship Id="rId59" Type="http://schemas.openxmlformats.org/officeDocument/2006/relationships/image" Target="../media/image-1-59.png"/><Relationship Id="rId60" Type="http://schemas.openxmlformats.org/officeDocument/2006/relationships/image" Target="../media/image-1-60.png"/><Relationship Id="rId61" Type="http://schemas.openxmlformats.org/officeDocument/2006/relationships/image" Target="../media/image-1-61.png"/><Relationship Id="rId62" Type="http://schemas.openxmlformats.org/officeDocument/2006/relationships/image" Target="../media/image-1-62.png"/><Relationship Id="rId63" Type="http://schemas.openxmlformats.org/officeDocument/2006/relationships/image" Target="../media/image-1-63.png"/><Relationship Id="rId64" Type="http://schemas.openxmlformats.org/officeDocument/2006/relationships/image" Target="../media/image-1-64.png"/><Relationship Id="rId65" Type="http://schemas.openxmlformats.org/officeDocument/2006/relationships/image" Target="../media/image-1-65.png"/><Relationship Id="rId66" Type="http://schemas.openxmlformats.org/officeDocument/2006/relationships/image" Target="../media/image-1-66.png"/><Relationship Id="rId67" Type="http://schemas.openxmlformats.org/officeDocument/2006/relationships/image" Target="../media/image-1-67.png"/><Relationship Id="rId68" Type="http://schemas.openxmlformats.org/officeDocument/2006/relationships/image" Target="../media/image-1-68.png"/><Relationship Id="rId69" Type="http://schemas.openxmlformats.org/officeDocument/2006/relationships/image" Target="../media/image-1-69.png"/><Relationship Id="rId70" Type="http://schemas.openxmlformats.org/officeDocument/2006/relationships/image" Target="../media/image-1-70.png"/><Relationship Id="rId71" Type="http://schemas.openxmlformats.org/officeDocument/2006/relationships/image" Target="../media/image-1-71.png"/><Relationship Id="rId72" Type="http://schemas.openxmlformats.org/officeDocument/2006/relationships/image" Target="../media/image-1-72.png"/><Relationship Id="rId73" Type="http://schemas.openxmlformats.org/officeDocument/2006/relationships/image" Target="../media/image-1-73.png"/><Relationship Id="rId74" Type="http://schemas.openxmlformats.org/officeDocument/2006/relationships/image" Target="../media/image-1-74.png"/><Relationship Id="rId75" Type="http://schemas.openxmlformats.org/officeDocument/2006/relationships/image" Target="../media/image-1-75.png"/><Relationship Id="rId76" Type="http://schemas.openxmlformats.org/officeDocument/2006/relationships/image" Target="../media/image-1-76.png"/><Relationship Id="rId77" Type="http://schemas.openxmlformats.org/officeDocument/2006/relationships/image" Target="../media/image-1-77.png"/><Relationship Id="rId78" Type="http://schemas.openxmlformats.org/officeDocument/2006/relationships/image" Target="../media/image-1-78.png"/><Relationship Id="rId79" Type="http://schemas.openxmlformats.org/officeDocument/2006/relationships/image" Target="../media/image-1-79.png"/><Relationship Id="rId80" Type="http://schemas.openxmlformats.org/officeDocument/2006/relationships/image" Target="../media/image-1-80.png"/><Relationship Id="rId81" Type="http://schemas.openxmlformats.org/officeDocument/2006/relationships/image" Target="../media/image-1-81.png"/><Relationship Id="rId82" Type="http://schemas.openxmlformats.org/officeDocument/2006/relationships/image" Target="../media/image-1-82.png"/><Relationship Id="rId83" Type="http://schemas.openxmlformats.org/officeDocument/2006/relationships/image" Target="../media/image-1-83.png"/><Relationship Id="rId84" Type="http://schemas.openxmlformats.org/officeDocument/2006/relationships/image" Target="../media/image-1-84.png"/><Relationship Id="rId85" Type="http://schemas.openxmlformats.org/officeDocument/2006/relationships/image" Target="../media/image-1-85.png"/><Relationship Id="rId86" Type="http://schemas.openxmlformats.org/officeDocument/2006/relationships/image" Target="../media/image-1-86.png"/><Relationship Id="rId87" Type="http://schemas.openxmlformats.org/officeDocument/2006/relationships/image" Target="../media/image-1-87.png"/><Relationship Id="rId88" Type="http://schemas.openxmlformats.org/officeDocument/2006/relationships/image" Target="../media/image-1-88.png"/><Relationship Id="rId89" Type="http://schemas.openxmlformats.org/officeDocument/2006/relationships/image" Target="../media/image-1-89.png"/><Relationship Id="rId90" Type="http://schemas.openxmlformats.org/officeDocument/2006/relationships/image" Target="../media/image-1-90.png"/><Relationship Id="rId91" Type="http://schemas.openxmlformats.org/officeDocument/2006/relationships/image" Target="../media/image-1-91.png"/><Relationship Id="rId92" Type="http://schemas.openxmlformats.org/officeDocument/2006/relationships/image" Target="../media/image-1-92.png"/><Relationship Id="rId93" Type="http://schemas.openxmlformats.org/officeDocument/2006/relationships/image" Target="../media/image-1-93.png"/><Relationship Id="rId94" Type="http://schemas.openxmlformats.org/officeDocument/2006/relationships/image" Target="../media/image-1-94.png"/><Relationship Id="rId95" Type="http://schemas.openxmlformats.org/officeDocument/2006/relationships/image" Target="../media/image-1-95.png"/><Relationship Id="rId96" Type="http://schemas.openxmlformats.org/officeDocument/2006/relationships/image" Target="../media/image-1-96.png"/><Relationship Id="rId97" Type="http://schemas.openxmlformats.org/officeDocument/2006/relationships/slideLayout" Target="../slideLayouts/slideLayout1.xml"/><Relationship Id="rId9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image" Target="../media/image-2-21.png"/><Relationship Id="rId22" Type="http://schemas.openxmlformats.org/officeDocument/2006/relationships/image" Target="../media/image-2-22.png"/><Relationship Id="rId23" Type="http://schemas.openxmlformats.org/officeDocument/2006/relationships/image" Target="../media/image-2-23.png"/><Relationship Id="rId24" Type="http://schemas.openxmlformats.org/officeDocument/2006/relationships/image" Target="../media/image-2-24.png"/><Relationship Id="rId25" Type="http://schemas.openxmlformats.org/officeDocument/2006/relationships/slideLayout" Target="../slideLayouts/slideLayout1.xml"/><Relationship Id="rId2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image" Target="../media/image-3-22.png"/><Relationship Id="rId23" Type="http://schemas.openxmlformats.org/officeDocument/2006/relationships/image" Target="../media/image-3-23.png"/><Relationship Id="rId24" Type="http://schemas.openxmlformats.org/officeDocument/2006/relationships/image" Target="../media/image-3-24.png"/><Relationship Id="rId25" Type="http://schemas.openxmlformats.org/officeDocument/2006/relationships/slideLayout" Target="../slideLayouts/slideLayout1.xml"/><Relationship Id="rId2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image" Target="../media/image-4-19.png"/><Relationship Id="rId20" Type="http://schemas.openxmlformats.org/officeDocument/2006/relationships/image" Target="../media/image-4-20.png"/><Relationship Id="rId21" Type="http://schemas.openxmlformats.org/officeDocument/2006/relationships/image" Target="../media/image-4-21.png"/><Relationship Id="rId22" Type="http://schemas.openxmlformats.org/officeDocument/2006/relationships/image" Target="../media/image-4-22.png"/><Relationship Id="rId23" Type="http://schemas.openxmlformats.org/officeDocument/2006/relationships/image" Target="../media/image-4-23.png"/><Relationship Id="rId24" Type="http://schemas.openxmlformats.org/officeDocument/2006/relationships/image" Target="../media/image-4-24.png"/><Relationship Id="rId25" Type="http://schemas.openxmlformats.org/officeDocument/2006/relationships/slideLayout" Target="../slideLayouts/slideLayout1.xml"/><Relationship Id="rId2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image" Target="../media/image-5-21.png"/><Relationship Id="rId22" Type="http://schemas.openxmlformats.org/officeDocument/2006/relationships/image" Target="../media/image-5-22.png"/><Relationship Id="rId23" Type="http://schemas.openxmlformats.org/officeDocument/2006/relationships/image" Target="../media/image-5-23.png"/><Relationship Id="rId24" Type="http://schemas.openxmlformats.org/officeDocument/2006/relationships/image" Target="../media/image-5-24.png"/><Relationship Id="rId25" Type="http://schemas.openxmlformats.org/officeDocument/2006/relationships/slideLayout" Target="../slideLayouts/slideLayout1.xml"/><Relationship Id="rId2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46304" y="109728"/>
            <a:ext cx="7315200" cy="566928"/>
          </a:xfrm>
          <a:prstGeom prst="rect">
            <a:avLst/>
          </a:prstGeom>
          <a:noFill/>
          <a:ln/>
        </p:spPr>
        <p:txBody>
          <a:bodyPr wrap="square" lIns="0" tIns="0" rIns="0" bIns="0" rtlCol="0" anchor="ctr"/>
          <a:lstStyle/>
          <a:p>
            <a:pPr indent="0" marL="0">
              <a:buNone/>
            </a:pPr>
            <a:r>
              <a:rPr lang="en-US" sz="3800" b="1" dirty="0">
                <a:solidFill>
                  <a:srgbClr val="0072B2"/>
                </a:solidFill>
                <a:latin typeface="Liberation Serif" pitchFamily="34" charset="0"/>
                <a:ea typeface="Liberation Serif" pitchFamily="34" charset="-122"/>
                <a:cs typeface="Liberation Serif" pitchFamily="34" charset="-120"/>
              </a:rPr>
              <a:t>(a)  Back view</a:t>
            </a:r>
            <a:endParaRPr lang="en-US" sz="3800" dirty="0"/>
          </a:p>
        </p:txBody>
      </p:sp>
      <p:sp>
        <p:nvSpPr>
          <p:cNvPr id="3" name="Text 1"/>
          <p:cNvSpPr/>
          <p:nvPr/>
        </p:nvSpPr>
        <p:spPr>
          <a:xfrm>
            <a:off x="7507224" y="182880"/>
            <a:ext cx="4565874" cy="411480"/>
          </a:xfrm>
          <a:prstGeom prst="rect">
            <a:avLst/>
          </a:prstGeom>
          <a:noFill/>
          <a:ln/>
        </p:spPr>
        <p:txBody>
          <a:bodyPr wrap="square" lIns="0" tIns="0" rIns="0" bIns="0" rtlCol="0" anchor="ctr"/>
          <a:lstStyle/>
          <a:p>
            <a:pPr algn="r" indent="0" marL="0">
              <a:buNone/>
            </a:pPr>
            <a:r>
              <a:rPr lang="en-US" sz="2800" dirty="0">
                <a:solidFill>
                  <a:srgbClr val="666666"/>
                </a:solidFill>
                <a:latin typeface="Liberation Serif" pitchFamily="34" charset="0"/>
                <a:ea typeface="Liberation Serif" pitchFamily="34" charset="-122"/>
                <a:cs typeface="Liberation Serif" pitchFamily="34" charset="-120"/>
              </a:rPr>
              <a:t>Episode progress →</a:t>
            </a:r>
            <a:endParaRPr lang="en-US" sz="2800" dirty="0"/>
          </a:p>
        </p:txBody>
      </p:sp>
      <p:sp>
        <p:nvSpPr>
          <p:cNvPr id="4" name="Text 2"/>
          <p:cNvSpPr/>
          <p:nvPr/>
        </p:nvSpPr>
        <p:spPr>
          <a:xfrm>
            <a:off x="146304" y="685800"/>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Start</a:t>
            </a:r>
            <a:endParaRPr lang="en-US" sz="2700" dirty="0"/>
          </a:p>
        </p:txBody>
      </p:sp>
      <p:sp>
        <p:nvSpPr>
          <p:cNvPr id="5" name="Text 3"/>
          <p:cNvSpPr/>
          <p:nvPr/>
        </p:nvSpPr>
        <p:spPr>
          <a:xfrm>
            <a:off x="2139437" y="685800"/>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20%</a:t>
            </a:r>
            <a:endParaRPr lang="en-US" sz="2700" dirty="0"/>
          </a:p>
        </p:txBody>
      </p:sp>
      <p:sp>
        <p:nvSpPr>
          <p:cNvPr id="6" name="Text 4"/>
          <p:cNvSpPr/>
          <p:nvPr/>
        </p:nvSpPr>
        <p:spPr>
          <a:xfrm>
            <a:off x="4132570" y="685800"/>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40%</a:t>
            </a:r>
            <a:endParaRPr lang="en-US" sz="2700" dirty="0"/>
          </a:p>
        </p:txBody>
      </p:sp>
      <p:sp>
        <p:nvSpPr>
          <p:cNvPr id="7" name="Text 5"/>
          <p:cNvSpPr/>
          <p:nvPr/>
        </p:nvSpPr>
        <p:spPr>
          <a:xfrm>
            <a:off x="6125703" y="685800"/>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60%</a:t>
            </a:r>
            <a:endParaRPr lang="en-US" sz="2700" dirty="0"/>
          </a:p>
        </p:txBody>
      </p:sp>
      <p:sp>
        <p:nvSpPr>
          <p:cNvPr id="8" name="Text 6"/>
          <p:cNvSpPr/>
          <p:nvPr/>
        </p:nvSpPr>
        <p:spPr>
          <a:xfrm>
            <a:off x="8118836" y="685800"/>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80%</a:t>
            </a:r>
            <a:endParaRPr lang="en-US" sz="2700" dirty="0"/>
          </a:p>
        </p:txBody>
      </p:sp>
      <p:sp>
        <p:nvSpPr>
          <p:cNvPr id="9" name="Text 7"/>
          <p:cNvSpPr/>
          <p:nvPr/>
        </p:nvSpPr>
        <p:spPr>
          <a:xfrm>
            <a:off x="10111969" y="685800"/>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End</a:t>
            </a:r>
            <a:endParaRPr lang="en-US" sz="2700" dirty="0"/>
          </a:p>
        </p:txBody>
      </p:sp>
      <p:sp>
        <p:nvSpPr>
          <p:cNvPr id="10" name="Text 8"/>
          <p:cNvSpPr/>
          <p:nvPr/>
        </p:nvSpPr>
        <p:spPr>
          <a:xfrm>
            <a:off x="146304" y="1115568"/>
            <a:ext cx="1883664" cy="420624"/>
          </a:xfrm>
          <a:prstGeom prst="rect">
            <a:avLst/>
          </a:prstGeom>
          <a:noFill/>
          <a:ln/>
        </p:spPr>
        <p:txBody>
          <a:bodyPr wrap="square" lIns="0" tIns="0" rIns="0" bIns="0" rtlCol="0" anchor="ctr"/>
          <a:lstStyle/>
          <a:p>
            <a:pPr indent="0" marL="0">
              <a:buNone/>
            </a:pPr>
            <a:r>
              <a:rPr lang="en-US" sz="2800" b="1" dirty="0">
                <a:solidFill>
                  <a:srgbClr val="202020"/>
                </a:solidFill>
                <a:latin typeface="Liberation Serif" pitchFamily="34" charset="0"/>
                <a:ea typeface="Liberation Serif" pitchFamily="34" charset="-122"/>
                <a:cs typeface="Liberation Serif" pitchFamily="34" charset="-120"/>
              </a:rPr>
              <a:t>Spatial</a:t>
            </a:r>
            <a:endParaRPr lang="en-US" sz="2800" dirty="0"/>
          </a:p>
        </p:txBody>
      </p:sp>
      <p:sp>
        <p:nvSpPr>
          <p:cNvPr id="11" name="Text 9"/>
          <p:cNvSpPr/>
          <p:nvPr/>
        </p:nvSpPr>
        <p:spPr>
          <a:xfrm>
            <a:off x="2121408" y="1115568"/>
            <a:ext cx="7973568" cy="420624"/>
          </a:xfrm>
          <a:prstGeom prst="rect">
            <a:avLst/>
          </a:prstGeom>
          <a:noFill/>
          <a:ln/>
        </p:spPr>
        <p:txBody>
          <a:bodyPr wrap="square" lIns="0" tIns="0" rIns="0" bIns="0" rtlCol="0" anchor="ctr"/>
          <a:lstStyle/>
          <a:p>
            <a:pPr indent="0" marL="0">
              <a:buNone/>
            </a:pPr>
            <a:r>
              <a:rPr lang="en-US" sz="2700" dirty="0">
                <a:solidFill>
                  <a:srgbClr val="202020"/>
                </a:solidFill>
                <a:latin typeface="Liberation Serif" pitchFamily="34" charset="0"/>
                <a:ea typeface="Liberation Serif" pitchFamily="34" charset="-122"/>
                <a:cs typeface="Liberation Serif" pitchFamily="34" charset="-120"/>
              </a:rPr>
              <a:t>Bowl on ramekin → plate</a:t>
            </a:r>
            <a:endParaRPr lang="en-US" sz="2700" dirty="0"/>
          </a:p>
        </p:txBody>
      </p:sp>
      <p:sp>
        <p:nvSpPr>
          <p:cNvPr id="12" name="Text 10"/>
          <p:cNvSpPr/>
          <p:nvPr/>
        </p:nvSpPr>
        <p:spPr>
          <a:xfrm>
            <a:off x="10259568" y="1115568"/>
            <a:ext cx="1813530" cy="420624"/>
          </a:xfrm>
          <a:prstGeom prst="rect">
            <a:avLst/>
          </a:prstGeom>
          <a:noFill/>
          <a:ln/>
        </p:spPr>
        <p:txBody>
          <a:bodyPr wrap="square" lIns="0" tIns="0" rIns="0" bIns="0" rtlCol="0" anchor="ctr"/>
          <a:lstStyle/>
          <a:p>
            <a:pPr algn="r" indent="0" marL="0">
              <a:buNone/>
            </a:pPr>
            <a:r>
              <a:rPr lang="en-US" sz="2600" dirty="0">
                <a:solidFill>
                  <a:srgbClr val="666666"/>
                </a:solidFill>
                <a:latin typeface="Liberation Serif" pitchFamily="34" charset="0"/>
                <a:ea typeface="Liberation Serif" pitchFamily="34" charset="-122"/>
                <a:cs typeface="Liberation Serif" pitchFamily="34" charset="-120"/>
              </a:rPr>
              <a:t>Failure</a:t>
            </a:r>
            <a:endParaRPr lang="en-US" sz="2600" dirty="0"/>
          </a:p>
        </p:txBody>
      </p:sp>
      <p:pic>
        <p:nvPicPr>
          <p:cNvPr id="13" name="Image 0" descr="ACPD, back view, LIBERO-spatial, task 5, episode 23, recorded step 0, failure">    </p:cNvPr>
          <p:cNvPicPr>
            <a:picLocks noChangeAspect="1"/>
          </p:cNvPicPr>
          <p:nvPr/>
        </p:nvPicPr>
        <p:blipFill>
          <a:blip r:embed="rId1"/>
          <a:stretch>
            <a:fillRect/>
          </a:stretch>
        </p:blipFill>
        <p:spPr>
          <a:xfrm>
            <a:off x="146304" y="1563624"/>
            <a:ext cx="1961129" cy="1961129"/>
          </a:xfrm>
          <a:prstGeom prst="rect">
            <a:avLst/>
          </a:prstGeom>
        </p:spPr>
      </p:pic>
      <p:pic>
        <p:nvPicPr>
          <p:cNvPr id="14" name="Image 1" descr="ACPD, back view, LIBERO-spatial, task 5, episode 23, recorded step 44, failure">    </p:cNvPr>
          <p:cNvPicPr>
            <a:picLocks noChangeAspect="1"/>
          </p:cNvPicPr>
          <p:nvPr/>
        </p:nvPicPr>
        <p:blipFill>
          <a:blip r:embed="rId2"/>
          <a:stretch>
            <a:fillRect/>
          </a:stretch>
        </p:blipFill>
        <p:spPr>
          <a:xfrm>
            <a:off x="2139437" y="1563624"/>
            <a:ext cx="1961129" cy="1961129"/>
          </a:xfrm>
          <a:prstGeom prst="rect">
            <a:avLst/>
          </a:prstGeom>
        </p:spPr>
      </p:pic>
      <p:pic>
        <p:nvPicPr>
          <p:cNvPr id="15" name="Image 2" descr="ACPD, back view, LIBERO-spatial, task 5, episode 23, recorded step 88, failure">    </p:cNvPr>
          <p:cNvPicPr>
            <a:picLocks noChangeAspect="1"/>
          </p:cNvPicPr>
          <p:nvPr/>
        </p:nvPicPr>
        <p:blipFill>
          <a:blip r:embed="rId3"/>
          <a:stretch>
            <a:fillRect/>
          </a:stretch>
        </p:blipFill>
        <p:spPr>
          <a:xfrm>
            <a:off x="4132570" y="1563624"/>
            <a:ext cx="1961129" cy="1961129"/>
          </a:xfrm>
          <a:prstGeom prst="rect">
            <a:avLst/>
          </a:prstGeom>
        </p:spPr>
      </p:pic>
      <p:pic>
        <p:nvPicPr>
          <p:cNvPr id="16" name="Image 3" descr="ACPD, back view, LIBERO-spatial, task 5, episode 23, recorded step 131, failure">    </p:cNvPr>
          <p:cNvPicPr>
            <a:picLocks noChangeAspect="1"/>
          </p:cNvPicPr>
          <p:nvPr/>
        </p:nvPicPr>
        <p:blipFill>
          <a:blip r:embed="rId4"/>
          <a:stretch>
            <a:fillRect/>
          </a:stretch>
        </p:blipFill>
        <p:spPr>
          <a:xfrm>
            <a:off x="6125703" y="1563624"/>
            <a:ext cx="1961129" cy="1961129"/>
          </a:xfrm>
          <a:prstGeom prst="rect">
            <a:avLst/>
          </a:prstGeom>
        </p:spPr>
      </p:pic>
      <p:pic>
        <p:nvPicPr>
          <p:cNvPr id="17" name="Image 4" descr="ACPD, back view, LIBERO-spatial, task 5, episode 23, recorded step 175, failure">    </p:cNvPr>
          <p:cNvPicPr>
            <a:picLocks noChangeAspect="1"/>
          </p:cNvPicPr>
          <p:nvPr/>
        </p:nvPicPr>
        <p:blipFill>
          <a:blip r:embed="rId5"/>
          <a:stretch>
            <a:fillRect/>
          </a:stretch>
        </p:blipFill>
        <p:spPr>
          <a:xfrm>
            <a:off x="8118836" y="1563624"/>
            <a:ext cx="1961129" cy="1961129"/>
          </a:xfrm>
          <a:prstGeom prst="rect">
            <a:avLst/>
          </a:prstGeom>
        </p:spPr>
      </p:pic>
      <p:pic>
        <p:nvPicPr>
          <p:cNvPr id="18" name="Image 5" descr="ACPD, back view, LIBERO-spatial, task 5, episode 23, recorded step 219, failure">    </p:cNvPr>
          <p:cNvPicPr>
            <a:picLocks noChangeAspect="1"/>
          </p:cNvPicPr>
          <p:nvPr/>
        </p:nvPicPr>
        <p:blipFill>
          <a:blip r:embed="rId6"/>
          <a:stretch>
            <a:fillRect/>
          </a:stretch>
        </p:blipFill>
        <p:spPr>
          <a:xfrm>
            <a:off x="10111969" y="1563624"/>
            <a:ext cx="1961129" cy="1961129"/>
          </a:xfrm>
          <a:prstGeom prst="rect">
            <a:avLst/>
          </a:prstGeom>
        </p:spPr>
      </p:pic>
      <p:sp>
        <p:nvSpPr>
          <p:cNvPr id="19" name="Text 11"/>
          <p:cNvSpPr/>
          <p:nvPr/>
        </p:nvSpPr>
        <p:spPr>
          <a:xfrm>
            <a:off x="146304" y="3547872"/>
            <a:ext cx="1883664" cy="420624"/>
          </a:xfrm>
          <a:prstGeom prst="rect">
            <a:avLst/>
          </a:prstGeom>
          <a:noFill/>
          <a:ln/>
        </p:spPr>
        <p:txBody>
          <a:bodyPr wrap="square" lIns="0" tIns="0" rIns="0" bIns="0" rtlCol="0" anchor="ctr"/>
          <a:lstStyle/>
          <a:p>
            <a:pPr indent="0" marL="0">
              <a:buNone/>
            </a:pPr>
            <a:r>
              <a:rPr lang="en-US" sz="2800" b="1" dirty="0">
                <a:solidFill>
                  <a:srgbClr val="202020"/>
                </a:solidFill>
                <a:latin typeface="Liberation Serif" pitchFamily="34" charset="0"/>
                <a:ea typeface="Liberation Serif" pitchFamily="34" charset="-122"/>
                <a:cs typeface="Liberation Serif" pitchFamily="34" charset="-120"/>
              </a:rPr>
              <a:t>Object</a:t>
            </a:r>
            <a:endParaRPr lang="en-US" sz="2800" dirty="0"/>
          </a:p>
        </p:txBody>
      </p:sp>
      <p:sp>
        <p:nvSpPr>
          <p:cNvPr id="20" name="Text 12"/>
          <p:cNvSpPr/>
          <p:nvPr/>
        </p:nvSpPr>
        <p:spPr>
          <a:xfrm>
            <a:off x="2121408" y="3547872"/>
            <a:ext cx="7973568" cy="420624"/>
          </a:xfrm>
          <a:prstGeom prst="rect">
            <a:avLst/>
          </a:prstGeom>
          <a:noFill/>
          <a:ln/>
        </p:spPr>
        <p:txBody>
          <a:bodyPr wrap="square" lIns="0" tIns="0" rIns="0" bIns="0" rtlCol="0" anchor="ctr"/>
          <a:lstStyle/>
          <a:p>
            <a:pPr indent="0" marL="0">
              <a:buNone/>
            </a:pPr>
            <a:r>
              <a:rPr lang="en-US" sz="2700" dirty="0">
                <a:solidFill>
                  <a:srgbClr val="202020"/>
                </a:solidFill>
                <a:latin typeface="Liberation Serif" pitchFamily="34" charset="0"/>
                <a:ea typeface="Liberation Serif" pitchFamily="34" charset="-122"/>
                <a:cs typeface="Liberation Serif" pitchFamily="34" charset="-120"/>
              </a:rPr>
              <a:t>Ketchup → basket</a:t>
            </a:r>
            <a:endParaRPr lang="en-US" sz="2700" dirty="0"/>
          </a:p>
        </p:txBody>
      </p:sp>
      <p:sp>
        <p:nvSpPr>
          <p:cNvPr id="21" name="Text 13"/>
          <p:cNvSpPr/>
          <p:nvPr/>
        </p:nvSpPr>
        <p:spPr>
          <a:xfrm>
            <a:off x="10259568" y="3547872"/>
            <a:ext cx="1813530" cy="420624"/>
          </a:xfrm>
          <a:prstGeom prst="rect">
            <a:avLst/>
          </a:prstGeom>
          <a:noFill/>
          <a:ln/>
        </p:spPr>
        <p:txBody>
          <a:bodyPr wrap="square" lIns="0" tIns="0" rIns="0" bIns="0" rtlCol="0" anchor="ctr"/>
          <a:lstStyle/>
          <a:p>
            <a:pPr algn="r" indent="0" marL="0">
              <a:buNone/>
            </a:pPr>
            <a:r>
              <a:rPr lang="en-US" sz="2600" dirty="0">
                <a:solidFill>
                  <a:srgbClr val="666666"/>
                </a:solidFill>
                <a:latin typeface="Liberation Serif" pitchFamily="34" charset="0"/>
                <a:ea typeface="Liberation Serif" pitchFamily="34" charset="-122"/>
                <a:cs typeface="Liberation Serif" pitchFamily="34" charset="-120"/>
              </a:rPr>
              <a:t>Success</a:t>
            </a:r>
            <a:endParaRPr lang="en-US" sz="2600" dirty="0"/>
          </a:p>
        </p:txBody>
      </p:sp>
      <p:pic>
        <p:nvPicPr>
          <p:cNvPr id="22" name="Image 6" descr="ACPD, back view, LIBERO-object, task 4, episode 26, recorded step 0, success">    </p:cNvPr>
          <p:cNvPicPr>
            <a:picLocks noChangeAspect="1"/>
          </p:cNvPicPr>
          <p:nvPr/>
        </p:nvPicPr>
        <p:blipFill>
          <a:blip r:embed="rId7"/>
          <a:stretch>
            <a:fillRect/>
          </a:stretch>
        </p:blipFill>
        <p:spPr>
          <a:xfrm>
            <a:off x="146304" y="3995928"/>
            <a:ext cx="1961129" cy="1961129"/>
          </a:xfrm>
          <a:prstGeom prst="rect">
            <a:avLst/>
          </a:prstGeom>
        </p:spPr>
      </p:pic>
      <p:pic>
        <p:nvPicPr>
          <p:cNvPr id="23" name="Image 7" descr="ACPD, back view, LIBERO-object, task 4, episode 26, recorded step 39, success">    </p:cNvPr>
          <p:cNvPicPr>
            <a:picLocks noChangeAspect="1"/>
          </p:cNvPicPr>
          <p:nvPr/>
        </p:nvPicPr>
        <p:blipFill>
          <a:blip r:embed="rId8"/>
          <a:stretch>
            <a:fillRect/>
          </a:stretch>
        </p:blipFill>
        <p:spPr>
          <a:xfrm>
            <a:off x="2139437" y="3995928"/>
            <a:ext cx="1961129" cy="1961129"/>
          </a:xfrm>
          <a:prstGeom prst="rect">
            <a:avLst/>
          </a:prstGeom>
        </p:spPr>
      </p:pic>
      <p:pic>
        <p:nvPicPr>
          <p:cNvPr id="24" name="Image 8" descr="ACPD, back view, LIBERO-object, task 4, episode 26, recorded step 79, success">    </p:cNvPr>
          <p:cNvPicPr>
            <a:picLocks noChangeAspect="1"/>
          </p:cNvPicPr>
          <p:nvPr/>
        </p:nvPicPr>
        <p:blipFill>
          <a:blip r:embed="rId9"/>
          <a:stretch>
            <a:fillRect/>
          </a:stretch>
        </p:blipFill>
        <p:spPr>
          <a:xfrm>
            <a:off x="4132570" y="3995928"/>
            <a:ext cx="1961129" cy="1961129"/>
          </a:xfrm>
          <a:prstGeom prst="rect">
            <a:avLst/>
          </a:prstGeom>
        </p:spPr>
      </p:pic>
      <p:pic>
        <p:nvPicPr>
          <p:cNvPr id="25" name="Image 9" descr="ACPD, back view, LIBERO-object, task 4, episode 26, recorded step 118, success">    </p:cNvPr>
          <p:cNvPicPr>
            <a:picLocks noChangeAspect="1"/>
          </p:cNvPicPr>
          <p:nvPr/>
        </p:nvPicPr>
        <p:blipFill>
          <a:blip r:embed="rId10"/>
          <a:stretch>
            <a:fillRect/>
          </a:stretch>
        </p:blipFill>
        <p:spPr>
          <a:xfrm>
            <a:off x="6125703" y="3995928"/>
            <a:ext cx="1961129" cy="1961129"/>
          </a:xfrm>
          <a:prstGeom prst="rect">
            <a:avLst/>
          </a:prstGeom>
        </p:spPr>
      </p:pic>
      <p:pic>
        <p:nvPicPr>
          <p:cNvPr id="26" name="Image 10" descr="ACPD, back view, LIBERO-object, task 4, episode 26, recorded step 158, success">    </p:cNvPr>
          <p:cNvPicPr>
            <a:picLocks noChangeAspect="1"/>
          </p:cNvPicPr>
          <p:nvPr/>
        </p:nvPicPr>
        <p:blipFill>
          <a:blip r:embed="rId11"/>
          <a:stretch>
            <a:fillRect/>
          </a:stretch>
        </p:blipFill>
        <p:spPr>
          <a:xfrm>
            <a:off x="8118836" y="3995928"/>
            <a:ext cx="1961129" cy="1961129"/>
          </a:xfrm>
          <a:prstGeom prst="rect">
            <a:avLst/>
          </a:prstGeom>
        </p:spPr>
      </p:pic>
      <p:pic>
        <p:nvPicPr>
          <p:cNvPr id="27" name="Image 11" descr="ACPD, back view, LIBERO-object, task 4, episode 26, recorded step 197, success">    </p:cNvPr>
          <p:cNvPicPr>
            <a:picLocks noChangeAspect="1"/>
          </p:cNvPicPr>
          <p:nvPr/>
        </p:nvPicPr>
        <p:blipFill>
          <a:blip r:embed="rId12"/>
          <a:stretch>
            <a:fillRect/>
          </a:stretch>
        </p:blipFill>
        <p:spPr>
          <a:xfrm>
            <a:off x="10111969" y="3995928"/>
            <a:ext cx="1961129" cy="1961129"/>
          </a:xfrm>
          <a:prstGeom prst="rect">
            <a:avLst/>
          </a:prstGeom>
        </p:spPr>
      </p:pic>
      <p:sp>
        <p:nvSpPr>
          <p:cNvPr id="28" name="Text 14"/>
          <p:cNvSpPr/>
          <p:nvPr/>
        </p:nvSpPr>
        <p:spPr>
          <a:xfrm>
            <a:off x="146304" y="5980176"/>
            <a:ext cx="1883664" cy="420624"/>
          </a:xfrm>
          <a:prstGeom prst="rect">
            <a:avLst/>
          </a:prstGeom>
          <a:noFill/>
          <a:ln/>
        </p:spPr>
        <p:txBody>
          <a:bodyPr wrap="square" lIns="0" tIns="0" rIns="0" bIns="0" rtlCol="0" anchor="ctr"/>
          <a:lstStyle/>
          <a:p>
            <a:pPr indent="0" marL="0">
              <a:buNone/>
            </a:pPr>
            <a:r>
              <a:rPr lang="en-US" sz="2800" b="1" dirty="0">
                <a:solidFill>
                  <a:srgbClr val="202020"/>
                </a:solidFill>
                <a:latin typeface="Liberation Serif" pitchFamily="34" charset="0"/>
                <a:ea typeface="Liberation Serif" pitchFamily="34" charset="-122"/>
                <a:cs typeface="Liberation Serif" pitchFamily="34" charset="-120"/>
              </a:rPr>
              <a:t>Goal</a:t>
            </a:r>
            <a:endParaRPr lang="en-US" sz="2800" dirty="0"/>
          </a:p>
        </p:txBody>
      </p:sp>
      <p:sp>
        <p:nvSpPr>
          <p:cNvPr id="29" name="Text 15"/>
          <p:cNvSpPr/>
          <p:nvPr/>
        </p:nvSpPr>
        <p:spPr>
          <a:xfrm>
            <a:off x="2121408" y="5980176"/>
            <a:ext cx="7973568" cy="420624"/>
          </a:xfrm>
          <a:prstGeom prst="rect">
            <a:avLst/>
          </a:prstGeom>
          <a:noFill/>
          <a:ln/>
        </p:spPr>
        <p:txBody>
          <a:bodyPr wrap="square" lIns="0" tIns="0" rIns="0" bIns="0" rtlCol="0" anchor="ctr"/>
          <a:lstStyle/>
          <a:p>
            <a:pPr indent="0" marL="0">
              <a:buNone/>
            </a:pPr>
            <a:r>
              <a:rPr lang="en-US" sz="2700" dirty="0">
                <a:solidFill>
                  <a:srgbClr val="202020"/>
                </a:solidFill>
                <a:latin typeface="Liberation Serif" pitchFamily="34" charset="0"/>
                <a:ea typeface="Liberation Serif" pitchFamily="34" charset="-122"/>
                <a:cs typeface="Liberation Serif" pitchFamily="34" charset="-120"/>
              </a:rPr>
              <a:t>Wine bottle → cabinet top</a:t>
            </a:r>
            <a:endParaRPr lang="en-US" sz="2700" dirty="0"/>
          </a:p>
        </p:txBody>
      </p:sp>
      <p:sp>
        <p:nvSpPr>
          <p:cNvPr id="30" name="Text 16"/>
          <p:cNvSpPr/>
          <p:nvPr/>
        </p:nvSpPr>
        <p:spPr>
          <a:xfrm>
            <a:off x="10259568" y="5980176"/>
            <a:ext cx="1813530" cy="420624"/>
          </a:xfrm>
          <a:prstGeom prst="rect">
            <a:avLst/>
          </a:prstGeom>
          <a:noFill/>
          <a:ln/>
        </p:spPr>
        <p:txBody>
          <a:bodyPr wrap="square" lIns="0" tIns="0" rIns="0" bIns="0" rtlCol="0" anchor="ctr"/>
          <a:lstStyle/>
          <a:p>
            <a:pPr algn="r" indent="0" marL="0">
              <a:buNone/>
            </a:pPr>
            <a:r>
              <a:rPr lang="en-US" sz="2600" dirty="0">
                <a:solidFill>
                  <a:srgbClr val="666666"/>
                </a:solidFill>
                <a:latin typeface="Liberation Serif" pitchFamily="34" charset="0"/>
                <a:ea typeface="Liberation Serif" pitchFamily="34" charset="-122"/>
                <a:cs typeface="Liberation Serif" pitchFamily="34" charset="-120"/>
              </a:rPr>
              <a:t>Success</a:t>
            </a:r>
            <a:endParaRPr lang="en-US" sz="2600" dirty="0"/>
          </a:p>
        </p:txBody>
      </p:sp>
      <p:pic>
        <p:nvPicPr>
          <p:cNvPr id="31" name="Image 12" descr="ACPD, back view, LIBERO-goal, task 2, episode 15, recorded step 0, success">    </p:cNvPr>
          <p:cNvPicPr>
            <a:picLocks noChangeAspect="1"/>
          </p:cNvPicPr>
          <p:nvPr/>
        </p:nvPicPr>
        <p:blipFill>
          <a:blip r:embed="rId13"/>
          <a:stretch>
            <a:fillRect/>
          </a:stretch>
        </p:blipFill>
        <p:spPr>
          <a:xfrm>
            <a:off x="146304" y="6428232"/>
            <a:ext cx="1961129" cy="1961129"/>
          </a:xfrm>
          <a:prstGeom prst="rect">
            <a:avLst/>
          </a:prstGeom>
        </p:spPr>
      </p:pic>
      <p:pic>
        <p:nvPicPr>
          <p:cNvPr id="32" name="Image 13" descr="ACPD, back view, LIBERO-goal, task 2, episode 15, recorded step 22, success">    </p:cNvPr>
          <p:cNvPicPr>
            <a:picLocks noChangeAspect="1"/>
          </p:cNvPicPr>
          <p:nvPr/>
        </p:nvPicPr>
        <p:blipFill>
          <a:blip r:embed="rId14"/>
          <a:stretch>
            <a:fillRect/>
          </a:stretch>
        </p:blipFill>
        <p:spPr>
          <a:xfrm>
            <a:off x="2139437" y="6428232"/>
            <a:ext cx="1961129" cy="1961129"/>
          </a:xfrm>
          <a:prstGeom prst="rect">
            <a:avLst/>
          </a:prstGeom>
        </p:spPr>
      </p:pic>
      <p:pic>
        <p:nvPicPr>
          <p:cNvPr id="33" name="Image 14" descr="ACPD, back view, LIBERO-goal, task 2, episode 15, recorded step 43, success">    </p:cNvPr>
          <p:cNvPicPr>
            <a:picLocks noChangeAspect="1"/>
          </p:cNvPicPr>
          <p:nvPr/>
        </p:nvPicPr>
        <p:blipFill>
          <a:blip r:embed="rId15"/>
          <a:stretch>
            <a:fillRect/>
          </a:stretch>
        </p:blipFill>
        <p:spPr>
          <a:xfrm>
            <a:off x="4132570" y="6428232"/>
            <a:ext cx="1961129" cy="1961129"/>
          </a:xfrm>
          <a:prstGeom prst="rect">
            <a:avLst/>
          </a:prstGeom>
        </p:spPr>
      </p:pic>
      <p:pic>
        <p:nvPicPr>
          <p:cNvPr id="34" name="Image 15" descr="ACPD, back view, LIBERO-goal, task 2, episode 15, recorded step 65, success">    </p:cNvPr>
          <p:cNvPicPr>
            <a:picLocks noChangeAspect="1"/>
          </p:cNvPicPr>
          <p:nvPr/>
        </p:nvPicPr>
        <p:blipFill>
          <a:blip r:embed="rId16"/>
          <a:stretch>
            <a:fillRect/>
          </a:stretch>
        </p:blipFill>
        <p:spPr>
          <a:xfrm>
            <a:off x="6125703" y="6428232"/>
            <a:ext cx="1961129" cy="1961129"/>
          </a:xfrm>
          <a:prstGeom prst="rect">
            <a:avLst/>
          </a:prstGeom>
        </p:spPr>
      </p:pic>
      <p:pic>
        <p:nvPicPr>
          <p:cNvPr id="35" name="Image 16" descr="ACPD, back view, LIBERO-goal, task 2, episode 15, recorded step 86, success">    </p:cNvPr>
          <p:cNvPicPr>
            <a:picLocks noChangeAspect="1"/>
          </p:cNvPicPr>
          <p:nvPr/>
        </p:nvPicPr>
        <p:blipFill>
          <a:blip r:embed="rId17"/>
          <a:stretch>
            <a:fillRect/>
          </a:stretch>
        </p:blipFill>
        <p:spPr>
          <a:xfrm>
            <a:off x="8118836" y="6428232"/>
            <a:ext cx="1961129" cy="1961129"/>
          </a:xfrm>
          <a:prstGeom prst="rect">
            <a:avLst/>
          </a:prstGeom>
        </p:spPr>
      </p:pic>
      <p:pic>
        <p:nvPicPr>
          <p:cNvPr id="36" name="Image 17" descr="ACPD, back view, LIBERO-goal, task 2, episode 15, recorded step 108, success">    </p:cNvPr>
          <p:cNvPicPr>
            <a:picLocks noChangeAspect="1"/>
          </p:cNvPicPr>
          <p:nvPr/>
        </p:nvPicPr>
        <p:blipFill>
          <a:blip r:embed="rId18"/>
          <a:stretch>
            <a:fillRect/>
          </a:stretch>
        </p:blipFill>
        <p:spPr>
          <a:xfrm>
            <a:off x="10111969" y="6428232"/>
            <a:ext cx="1961129" cy="1961129"/>
          </a:xfrm>
          <a:prstGeom prst="rect">
            <a:avLst/>
          </a:prstGeom>
        </p:spPr>
      </p:pic>
      <p:sp>
        <p:nvSpPr>
          <p:cNvPr id="37" name="Text 17"/>
          <p:cNvSpPr/>
          <p:nvPr/>
        </p:nvSpPr>
        <p:spPr>
          <a:xfrm>
            <a:off x="146304" y="8412480"/>
            <a:ext cx="1883664" cy="420624"/>
          </a:xfrm>
          <a:prstGeom prst="rect">
            <a:avLst/>
          </a:prstGeom>
          <a:noFill/>
          <a:ln/>
        </p:spPr>
        <p:txBody>
          <a:bodyPr wrap="square" lIns="0" tIns="0" rIns="0" bIns="0" rtlCol="0" anchor="ctr"/>
          <a:lstStyle/>
          <a:p>
            <a:pPr indent="0" marL="0">
              <a:buNone/>
            </a:pPr>
            <a:r>
              <a:rPr lang="en-US" sz="2800" b="1" dirty="0">
                <a:solidFill>
                  <a:srgbClr val="202020"/>
                </a:solidFill>
                <a:latin typeface="Liberation Serif" pitchFamily="34" charset="0"/>
                <a:ea typeface="Liberation Serif" pitchFamily="34" charset="-122"/>
                <a:cs typeface="Liberation Serif" pitchFamily="34" charset="-120"/>
              </a:rPr>
              <a:t>Long</a:t>
            </a:r>
            <a:endParaRPr lang="en-US" sz="2800" dirty="0"/>
          </a:p>
        </p:txBody>
      </p:sp>
      <p:sp>
        <p:nvSpPr>
          <p:cNvPr id="38" name="Text 18"/>
          <p:cNvSpPr/>
          <p:nvPr/>
        </p:nvSpPr>
        <p:spPr>
          <a:xfrm>
            <a:off x="2121408" y="8412480"/>
            <a:ext cx="7973568" cy="420624"/>
          </a:xfrm>
          <a:prstGeom prst="rect">
            <a:avLst/>
          </a:prstGeom>
          <a:noFill/>
          <a:ln/>
        </p:spPr>
        <p:txBody>
          <a:bodyPr wrap="square" lIns="0" tIns="0" rIns="0" bIns="0" rtlCol="0" anchor="ctr"/>
          <a:lstStyle/>
          <a:p>
            <a:pPr indent="0" marL="0">
              <a:buNone/>
            </a:pPr>
            <a:r>
              <a:rPr lang="en-US" sz="2700" dirty="0">
                <a:solidFill>
                  <a:srgbClr val="202020"/>
                </a:solidFill>
                <a:latin typeface="Liberation Serif" pitchFamily="34" charset="0"/>
                <a:ea typeface="Liberation Serif" pitchFamily="34" charset="-122"/>
                <a:cs typeface="Liberation Serif" pitchFamily="34" charset="-120"/>
              </a:rPr>
              <a:t>Mug → plate; pudding → right of plate</a:t>
            </a:r>
            <a:endParaRPr lang="en-US" sz="2700" dirty="0"/>
          </a:p>
        </p:txBody>
      </p:sp>
      <p:sp>
        <p:nvSpPr>
          <p:cNvPr id="39" name="Text 19"/>
          <p:cNvSpPr/>
          <p:nvPr/>
        </p:nvSpPr>
        <p:spPr>
          <a:xfrm>
            <a:off x="10259568" y="8412480"/>
            <a:ext cx="1813530" cy="420624"/>
          </a:xfrm>
          <a:prstGeom prst="rect">
            <a:avLst/>
          </a:prstGeom>
          <a:noFill/>
          <a:ln/>
        </p:spPr>
        <p:txBody>
          <a:bodyPr wrap="square" lIns="0" tIns="0" rIns="0" bIns="0" rtlCol="0" anchor="ctr"/>
          <a:lstStyle/>
          <a:p>
            <a:pPr algn="r" indent="0" marL="0">
              <a:buNone/>
            </a:pPr>
            <a:r>
              <a:rPr lang="en-US" sz="2600" dirty="0">
                <a:solidFill>
                  <a:srgbClr val="666666"/>
                </a:solidFill>
                <a:latin typeface="Liberation Serif" pitchFamily="34" charset="0"/>
                <a:ea typeface="Liberation Serif" pitchFamily="34" charset="-122"/>
                <a:cs typeface="Liberation Serif" pitchFamily="34" charset="-120"/>
              </a:rPr>
              <a:t>Failure</a:t>
            </a:r>
            <a:endParaRPr lang="en-US" sz="2600" dirty="0"/>
          </a:p>
        </p:txBody>
      </p:sp>
      <p:pic>
        <p:nvPicPr>
          <p:cNvPr id="40" name="Image 18" descr="ACPD, back view, LIBERO-long, task 6, episode 27, recorded step 0, failure">    </p:cNvPr>
          <p:cNvPicPr>
            <a:picLocks noChangeAspect="1"/>
          </p:cNvPicPr>
          <p:nvPr/>
        </p:nvPicPr>
        <p:blipFill>
          <a:blip r:embed="rId19"/>
          <a:stretch>
            <a:fillRect/>
          </a:stretch>
        </p:blipFill>
        <p:spPr>
          <a:xfrm>
            <a:off x="146304" y="8860536"/>
            <a:ext cx="1961129" cy="1961129"/>
          </a:xfrm>
          <a:prstGeom prst="rect">
            <a:avLst/>
          </a:prstGeom>
        </p:spPr>
      </p:pic>
      <p:pic>
        <p:nvPicPr>
          <p:cNvPr id="41" name="Image 19" descr="ACPD, back view, LIBERO-long, task 6, episode 27, recorded step 104, failure">    </p:cNvPr>
          <p:cNvPicPr>
            <a:picLocks noChangeAspect="1"/>
          </p:cNvPicPr>
          <p:nvPr/>
        </p:nvPicPr>
        <p:blipFill>
          <a:blip r:embed="rId20"/>
          <a:stretch>
            <a:fillRect/>
          </a:stretch>
        </p:blipFill>
        <p:spPr>
          <a:xfrm>
            <a:off x="2139437" y="8860536"/>
            <a:ext cx="1961129" cy="1961129"/>
          </a:xfrm>
          <a:prstGeom prst="rect">
            <a:avLst/>
          </a:prstGeom>
        </p:spPr>
      </p:pic>
      <p:pic>
        <p:nvPicPr>
          <p:cNvPr id="42" name="Image 20" descr="ACPD, back view, LIBERO-long, task 6, episode 27, recorded step 208, failure">    </p:cNvPr>
          <p:cNvPicPr>
            <a:picLocks noChangeAspect="1"/>
          </p:cNvPicPr>
          <p:nvPr/>
        </p:nvPicPr>
        <p:blipFill>
          <a:blip r:embed="rId21"/>
          <a:stretch>
            <a:fillRect/>
          </a:stretch>
        </p:blipFill>
        <p:spPr>
          <a:xfrm>
            <a:off x="4132570" y="8860536"/>
            <a:ext cx="1961129" cy="1961129"/>
          </a:xfrm>
          <a:prstGeom prst="rect">
            <a:avLst/>
          </a:prstGeom>
        </p:spPr>
      </p:pic>
      <p:pic>
        <p:nvPicPr>
          <p:cNvPr id="43" name="Image 21" descr="ACPD, back view, LIBERO-long, task 6, episode 27, recorded step 311, failure">    </p:cNvPr>
          <p:cNvPicPr>
            <a:picLocks noChangeAspect="1"/>
          </p:cNvPicPr>
          <p:nvPr/>
        </p:nvPicPr>
        <p:blipFill>
          <a:blip r:embed="rId22"/>
          <a:stretch>
            <a:fillRect/>
          </a:stretch>
        </p:blipFill>
        <p:spPr>
          <a:xfrm>
            <a:off x="6125703" y="8860536"/>
            <a:ext cx="1961129" cy="1961129"/>
          </a:xfrm>
          <a:prstGeom prst="rect">
            <a:avLst/>
          </a:prstGeom>
        </p:spPr>
      </p:pic>
      <p:pic>
        <p:nvPicPr>
          <p:cNvPr id="44" name="Image 22" descr="ACPD, back view, LIBERO-long, task 6, episode 27, recorded step 415, failure">    </p:cNvPr>
          <p:cNvPicPr>
            <a:picLocks noChangeAspect="1"/>
          </p:cNvPicPr>
          <p:nvPr/>
        </p:nvPicPr>
        <p:blipFill>
          <a:blip r:embed="rId23"/>
          <a:stretch>
            <a:fillRect/>
          </a:stretch>
        </p:blipFill>
        <p:spPr>
          <a:xfrm>
            <a:off x="8118836" y="8860536"/>
            <a:ext cx="1961129" cy="1961129"/>
          </a:xfrm>
          <a:prstGeom prst="rect">
            <a:avLst/>
          </a:prstGeom>
        </p:spPr>
      </p:pic>
      <p:pic>
        <p:nvPicPr>
          <p:cNvPr id="45" name="Image 23" descr="ACPD, back view, LIBERO-long, task 6, episode 27, recorded step 519, failure">    </p:cNvPr>
          <p:cNvPicPr>
            <a:picLocks noChangeAspect="1"/>
          </p:cNvPicPr>
          <p:nvPr/>
        </p:nvPicPr>
        <p:blipFill>
          <a:blip r:embed="rId24"/>
          <a:stretch>
            <a:fillRect/>
          </a:stretch>
        </p:blipFill>
        <p:spPr>
          <a:xfrm>
            <a:off x="10111969" y="8860536"/>
            <a:ext cx="1961129" cy="1961129"/>
          </a:xfrm>
          <a:prstGeom prst="rect">
            <a:avLst/>
          </a:prstGeom>
        </p:spPr>
      </p:pic>
      <p:sp>
        <p:nvSpPr>
          <p:cNvPr id="46" name="Text 20"/>
          <p:cNvSpPr/>
          <p:nvPr/>
        </p:nvSpPr>
        <p:spPr>
          <a:xfrm>
            <a:off x="12310842" y="109728"/>
            <a:ext cx="7315200" cy="566928"/>
          </a:xfrm>
          <a:prstGeom prst="rect">
            <a:avLst/>
          </a:prstGeom>
          <a:noFill/>
          <a:ln/>
        </p:spPr>
        <p:txBody>
          <a:bodyPr wrap="square" lIns="0" tIns="0" rIns="0" bIns="0" rtlCol="0" anchor="ctr"/>
          <a:lstStyle/>
          <a:p>
            <a:pPr indent="0" marL="0">
              <a:buNone/>
            </a:pPr>
            <a:r>
              <a:rPr lang="en-US" sz="3800" b="1" dirty="0">
                <a:solidFill>
                  <a:srgbClr val="A86A00"/>
                </a:solidFill>
                <a:latin typeface="Liberation Serif" pitchFamily="34" charset="0"/>
                <a:ea typeface="Liberation Serif" pitchFamily="34" charset="-122"/>
                <a:cs typeface="Liberation Serif" pitchFamily="34" charset="-120"/>
              </a:rPr>
              <a:t>(b)  Left view</a:t>
            </a:r>
            <a:endParaRPr lang="en-US" sz="3800" dirty="0"/>
          </a:p>
        </p:txBody>
      </p:sp>
      <p:sp>
        <p:nvSpPr>
          <p:cNvPr id="47" name="Text 21"/>
          <p:cNvSpPr/>
          <p:nvPr/>
        </p:nvSpPr>
        <p:spPr>
          <a:xfrm>
            <a:off x="19671762" y="182880"/>
            <a:ext cx="4565874" cy="411480"/>
          </a:xfrm>
          <a:prstGeom prst="rect">
            <a:avLst/>
          </a:prstGeom>
          <a:noFill/>
          <a:ln/>
        </p:spPr>
        <p:txBody>
          <a:bodyPr wrap="square" lIns="0" tIns="0" rIns="0" bIns="0" rtlCol="0" anchor="ctr"/>
          <a:lstStyle/>
          <a:p>
            <a:pPr algn="r" indent="0" marL="0">
              <a:buNone/>
            </a:pPr>
            <a:r>
              <a:rPr lang="en-US" sz="2800" dirty="0">
                <a:solidFill>
                  <a:srgbClr val="666666"/>
                </a:solidFill>
                <a:latin typeface="Liberation Serif" pitchFamily="34" charset="0"/>
                <a:ea typeface="Liberation Serif" pitchFamily="34" charset="-122"/>
                <a:cs typeface="Liberation Serif" pitchFamily="34" charset="-120"/>
              </a:rPr>
              <a:t>Episode progress →</a:t>
            </a:r>
            <a:endParaRPr lang="en-US" sz="2800" dirty="0"/>
          </a:p>
        </p:txBody>
      </p:sp>
      <p:sp>
        <p:nvSpPr>
          <p:cNvPr id="48" name="Text 22"/>
          <p:cNvSpPr/>
          <p:nvPr/>
        </p:nvSpPr>
        <p:spPr>
          <a:xfrm>
            <a:off x="12310842" y="685800"/>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Start</a:t>
            </a:r>
            <a:endParaRPr lang="en-US" sz="2700" dirty="0"/>
          </a:p>
        </p:txBody>
      </p:sp>
      <p:sp>
        <p:nvSpPr>
          <p:cNvPr id="49" name="Text 23"/>
          <p:cNvSpPr/>
          <p:nvPr/>
        </p:nvSpPr>
        <p:spPr>
          <a:xfrm>
            <a:off x="14303974" y="685800"/>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20%</a:t>
            </a:r>
            <a:endParaRPr lang="en-US" sz="2700" dirty="0"/>
          </a:p>
        </p:txBody>
      </p:sp>
      <p:sp>
        <p:nvSpPr>
          <p:cNvPr id="50" name="Text 24"/>
          <p:cNvSpPr/>
          <p:nvPr/>
        </p:nvSpPr>
        <p:spPr>
          <a:xfrm>
            <a:off x="16297107" y="685800"/>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40%</a:t>
            </a:r>
            <a:endParaRPr lang="en-US" sz="2700" dirty="0"/>
          </a:p>
        </p:txBody>
      </p:sp>
      <p:sp>
        <p:nvSpPr>
          <p:cNvPr id="51" name="Text 25"/>
          <p:cNvSpPr/>
          <p:nvPr/>
        </p:nvSpPr>
        <p:spPr>
          <a:xfrm>
            <a:off x="18290240" y="685800"/>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60%</a:t>
            </a:r>
            <a:endParaRPr lang="en-US" sz="2700" dirty="0"/>
          </a:p>
        </p:txBody>
      </p:sp>
      <p:sp>
        <p:nvSpPr>
          <p:cNvPr id="52" name="Text 26"/>
          <p:cNvSpPr/>
          <p:nvPr/>
        </p:nvSpPr>
        <p:spPr>
          <a:xfrm>
            <a:off x="20283373" y="685800"/>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80%</a:t>
            </a:r>
            <a:endParaRPr lang="en-US" sz="2700" dirty="0"/>
          </a:p>
        </p:txBody>
      </p:sp>
      <p:sp>
        <p:nvSpPr>
          <p:cNvPr id="53" name="Text 27"/>
          <p:cNvSpPr/>
          <p:nvPr/>
        </p:nvSpPr>
        <p:spPr>
          <a:xfrm>
            <a:off x="22276506" y="685800"/>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End</a:t>
            </a:r>
            <a:endParaRPr lang="en-US" sz="2700" dirty="0"/>
          </a:p>
        </p:txBody>
      </p:sp>
      <p:sp>
        <p:nvSpPr>
          <p:cNvPr id="54" name="Text 28"/>
          <p:cNvSpPr/>
          <p:nvPr/>
        </p:nvSpPr>
        <p:spPr>
          <a:xfrm>
            <a:off x="12310842" y="1115568"/>
            <a:ext cx="1883664" cy="420624"/>
          </a:xfrm>
          <a:prstGeom prst="rect">
            <a:avLst/>
          </a:prstGeom>
          <a:noFill/>
          <a:ln/>
        </p:spPr>
        <p:txBody>
          <a:bodyPr wrap="square" lIns="0" tIns="0" rIns="0" bIns="0" rtlCol="0" anchor="ctr"/>
          <a:lstStyle/>
          <a:p>
            <a:pPr indent="0" marL="0">
              <a:buNone/>
            </a:pPr>
            <a:r>
              <a:rPr lang="en-US" sz="2800" b="1" dirty="0">
                <a:solidFill>
                  <a:srgbClr val="202020"/>
                </a:solidFill>
                <a:latin typeface="Liberation Serif" pitchFamily="34" charset="0"/>
                <a:ea typeface="Liberation Serif" pitchFamily="34" charset="-122"/>
                <a:cs typeface="Liberation Serif" pitchFamily="34" charset="-120"/>
              </a:rPr>
              <a:t>Spatial</a:t>
            </a:r>
            <a:endParaRPr lang="en-US" sz="2800" dirty="0"/>
          </a:p>
        </p:txBody>
      </p:sp>
      <p:sp>
        <p:nvSpPr>
          <p:cNvPr id="55" name="Text 29"/>
          <p:cNvSpPr/>
          <p:nvPr/>
        </p:nvSpPr>
        <p:spPr>
          <a:xfrm>
            <a:off x="14285946" y="1115568"/>
            <a:ext cx="7973568" cy="420624"/>
          </a:xfrm>
          <a:prstGeom prst="rect">
            <a:avLst/>
          </a:prstGeom>
          <a:noFill/>
          <a:ln/>
        </p:spPr>
        <p:txBody>
          <a:bodyPr wrap="square" lIns="0" tIns="0" rIns="0" bIns="0" rtlCol="0" anchor="ctr"/>
          <a:lstStyle/>
          <a:p>
            <a:pPr indent="0" marL="0">
              <a:buNone/>
            </a:pPr>
            <a:r>
              <a:rPr lang="en-US" sz="2700" dirty="0">
                <a:solidFill>
                  <a:srgbClr val="202020"/>
                </a:solidFill>
                <a:latin typeface="Liberation Serif" pitchFamily="34" charset="0"/>
                <a:ea typeface="Liberation Serif" pitchFamily="34" charset="-122"/>
                <a:cs typeface="Liberation Serif" pitchFamily="34" charset="-120"/>
              </a:rPr>
              <a:t>Bowl on cabinet → plate</a:t>
            </a:r>
            <a:endParaRPr lang="en-US" sz="2700" dirty="0"/>
          </a:p>
        </p:txBody>
      </p:sp>
      <p:sp>
        <p:nvSpPr>
          <p:cNvPr id="56" name="Text 30"/>
          <p:cNvSpPr/>
          <p:nvPr/>
        </p:nvSpPr>
        <p:spPr>
          <a:xfrm>
            <a:off x="22424106" y="1115568"/>
            <a:ext cx="1813530" cy="420624"/>
          </a:xfrm>
          <a:prstGeom prst="rect">
            <a:avLst/>
          </a:prstGeom>
          <a:noFill/>
          <a:ln/>
        </p:spPr>
        <p:txBody>
          <a:bodyPr wrap="square" lIns="0" tIns="0" rIns="0" bIns="0" rtlCol="0" anchor="ctr"/>
          <a:lstStyle/>
          <a:p>
            <a:pPr algn="r" indent="0" marL="0">
              <a:buNone/>
            </a:pPr>
            <a:r>
              <a:rPr lang="en-US" sz="2600" dirty="0">
                <a:solidFill>
                  <a:srgbClr val="666666"/>
                </a:solidFill>
                <a:latin typeface="Liberation Serif" pitchFamily="34" charset="0"/>
                <a:ea typeface="Liberation Serif" pitchFamily="34" charset="-122"/>
                <a:cs typeface="Liberation Serif" pitchFamily="34" charset="-120"/>
              </a:rPr>
              <a:t>Success</a:t>
            </a:r>
            <a:endParaRPr lang="en-US" sz="2600" dirty="0"/>
          </a:p>
        </p:txBody>
      </p:sp>
      <p:pic>
        <p:nvPicPr>
          <p:cNvPr id="57" name="Image 24" descr="ACPD, left view, LIBERO-spatial, task 9, episode 46, recorded step 0, success">    </p:cNvPr>
          <p:cNvPicPr>
            <a:picLocks noChangeAspect="1"/>
          </p:cNvPicPr>
          <p:nvPr/>
        </p:nvPicPr>
        <p:blipFill>
          <a:blip r:embed="rId25"/>
          <a:stretch>
            <a:fillRect/>
          </a:stretch>
        </p:blipFill>
        <p:spPr>
          <a:xfrm>
            <a:off x="12310842" y="1563624"/>
            <a:ext cx="1961129" cy="1961129"/>
          </a:xfrm>
          <a:prstGeom prst="rect">
            <a:avLst/>
          </a:prstGeom>
        </p:spPr>
      </p:pic>
      <p:pic>
        <p:nvPicPr>
          <p:cNvPr id="58" name="Image 25" descr="ACPD, left view, LIBERO-spatial, task 9, episode 46, recorded step 23, success">    </p:cNvPr>
          <p:cNvPicPr>
            <a:picLocks noChangeAspect="1"/>
          </p:cNvPicPr>
          <p:nvPr/>
        </p:nvPicPr>
        <p:blipFill>
          <a:blip r:embed="rId26"/>
          <a:stretch>
            <a:fillRect/>
          </a:stretch>
        </p:blipFill>
        <p:spPr>
          <a:xfrm>
            <a:off x="14303974" y="1563624"/>
            <a:ext cx="1961129" cy="1961129"/>
          </a:xfrm>
          <a:prstGeom prst="rect">
            <a:avLst/>
          </a:prstGeom>
        </p:spPr>
      </p:pic>
      <p:pic>
        <p:nvPicPr>
          <p:cNvPr id="59" name="Image 26" descr="ACPD, left view, LIBERO-spatial, task 9, episode 46, recorded step 47, success">    </p:cNvPr>
          <p:cNvPicPr>
            <a:picLocks noChangeAspect="1"/>
          </p:cNvPicPr>
          <p:nvPr/>
        </p:nvPicPr>
        <p:blipFill>
          <a:blip r:embed="rId27"/>
          <a:stretch>
            <a:fillRect/>
          </a:stretch>
        </p:blipFill>
        <p:spPr>
          <a:xfrm>
            <a:off x="16297107" y="1563624"/>
            <a:ext cx="1961129" cy="1961129"/>
          </a:xfrm>
          <a:prstGeom prst="rect">
            <a:avLst/>
          </a:prstGeom>
        </p:spPr>
      </p:pic>
      <p:pic>
        <p:nvPicPr>
          <p:cNvPr id="60" name="Image 27" descr="ACPD, left view, LIBERO-spatial, task 9, episode 46, recorded step 70, success">    </p:cNvPr>
          <p:cNvPicPr>
            <a:picLocks noChangeAspect="1"/>
          </p:cNvPicPr>
          <p:nvPr/>
        </p:nvPicPr>
        <p:blipFill>
          <a:blip r:embed="rId28"/>
          <a:stretch>
            <a:fillRect/>
          </a:stretch>
        </p:blipFill>
        <p:spPr>
          <a:xfrm>
            <a:off x="18290240" y="1563624"/>
            <a:ext cx="1961129" cy="1961129"/>
          </a:xfrm>
          <a:prstGeom prst="rect">
            <a:avLst/>
          </a:prstGeom>
        </p:spPr>
      </p:pic>
      <p:pic>
        <p:nvPicPr>
          <p:cNvPr id="61" name="Image 28" descr="ACPD, left view, LIBERO-spatial, task 9, episode 46, recorded step 94, success">    </p:cNvPr>
          <p:cNvPicPr>
            <a:picLocks noChangeAspect="1"/>
          </p:cNvPicPr>
          <p:nvPr/>
        </p:nvPicPr>
        <p:blipFill>
          <a:blip r:embed="rId29"/>
          <a:stretch>
            <a:fillRect/>
          </a:stretch>
        </p:blipFill>
        <p:spPr>
          <a:xfrm>
            <a:off x="20283373" y="1563624"/>
            <a:ext cx="1961129" cy="1961129"/>
          </a:xfrm>
          <a:prstGeom prst="rect">
            <a:avLst/>
          </a:prstGeom>
        </p:spPr>
      </p:pic>
      <p:pic>
        <p:nvPicPr>
          <p:cNvPr id="62" name="Image 29" descr="ACPD, left view, LIBERO-spatial, task 9, episode 46, recorded step 117, success">    </p:cNvPr>
          <p:cNvPicPr>
            <a:picLocks noChangeAspect="1"/>
          </p:cNvPicPr>
          <p:nvPr/>
        </p:nvPicPr>
        <p:blipFill>
          <a:blip r:embed="rId30"/>
          <a:stretch>
            <a:fillRect/>
          </a:stretch>
        </p:blipFill>
        <p:spPr>
          <a:xfrm>
            <a:off x="22276506" y="1563624"/>
            <a:ext cx="1961129" cy="1961129"/>
          </a:xfrm>
          <a:prstGeom prst="rect">
            <a:avLst/>
          </a:prstGeom>
        </p:spPr>
      </p:pic>
      <p:sp>
        <p:nvSpPr>
          <p:cNvPr id="63" name="Text 31"/>
          <p:cNvSpPr/>
          <p:nvPr/>
        </p:nvSpPr>
        <p:spPr>
          <a:xfrm>
            <a:off x="12310842" y="3547872"/>
            <a:ext cx="1883664" cy="420624"/>
          </a:xfrm>
          <a:prstGeom prst="rect">
            <a:avLst/>
          </a:prstGeom>
          <a:noFill/>
          <a:ln/>
        </p:spPr>
        <p:txBody>
          <a:bodyPr wrap="square" lIns="0" tIns="0" rIns="0" bIns="0" rtlCol="0" anchor="ctr"/>
          <a:lstStyle/>
          <a:p>
            <a:pPr indent="0" marL="0">
              <a:buNone/>
            </a:pPr>
            <a:r>
              <a:rPr lang="en-US" sz="2800" b="1" dirty="0">
                <a:solidFill>
                  <a:srgbClr val="202020"/>
                </a:solidFill>
                <a:latin typeface="Liberation Serif" pitchFamily="34" charset="0"/>
                <a:ea typeface="Liberation Serif" pitchFamily="34" charset="-122"/>
                <a:cs typeface="Liberation Serif" pitchFamily="34" charset="-120"/>
              </a:rPr>
              <a:t>Object</a:t>
            </a:r>
            <a:endParaRPr lang="en-US" sz="2800" dirty="0"/>
          </a:p>
        </p:txBody>
      </p:sp>
      <p:sp>
        <p:nvSpPr>
          <p:cNvPr id="64" name="Text 32"/>
          <p:cNvSpPr/>
          <p:nvPr/>
        </p:nvSpPr>
        <p:spPr>
          <a:xfrm>
            <a:off x="14285946" y="3547872"/>
            <a:ext cx="7973568" cy="420624"/>
          </a:xfrm>
          <a:prstGeom prst="rect">
            <a:avLst/>
          </a:prstGeom>
          <a:noFill/>
          <a:ln/>
        </p:spPr>
        <p:txBody>
          <a:bodyPr wrap="square" lIns="0" tIns="0" rIns="0" bIns="0" rtlCol="0" anchor="ctr"/>
          <a:lstStyle/>
          <a:p>
            <a:pPr indent="0" marL="0">
              <a:buNone/>
            </a:pPr>
            <a:r>
              <a:rPr lang="en-US" sz="2700" dirty="0">
                <a:solidFill>
                  <a:srgbClr val="202020"/>
                </a:solidFill>
                <a:latin typeface="Liberation Serif" pitchFamily="34" charset="0"/>
                <a:ea typeface="Liberation Serif" pitchFamily="34" charset="-122"/>
                <a:cs typeface="Liberation Serif" pitchFamily="34" charset="-120"/>
              </a:rPr>
              <a:t>BBQ sauce → basket</a:t>
            </a:r>
            <a:endParaRPr lang="en-US" sz="2700" dirty="0"/>
          </a:p>
        </p:txBody>
      </p:sp>
      <p:sp>
        <p:nvSpPr>
          <p:cNvPr id="65" name="Text 33"/>
          <p:cNvSpPr/>
          <p:nvPr/>
        </p:nvSpPr>
        <p:spPr>
          <a:xfrm>
            <a:off x="22424106" y="3547872"/>
            <a:ext cx="1813530" cy="420624"/>
          </a:xfrm>
          <a:prstGeom prst="rect">
            <a:avLst/>
          </a:prstGeom>
          <a:noFill/>
          <a:ln/>
        </p:spPr>
        <p:txBody>
          <a:bodyPr wrap="square" lIns="0" tIns="0" rIns="0" bIns="0" rtlCol="0" anchor="ctr"/>
          <a:lstStyle/>
          <a:p>
            <a:pPr algn="r" indent="0" marL="0">
              <a:buNone/>
            </a:pPr>
            <a:r>
              <a:rPr lang="en-US" sz="2600" dirty="0">
                <a:solidFill>
                  <a:srgbClr val="666666"/>
                </a:solidFill>
                <a:latin typeface="Liberation Serif" pitchFamily="34" charset="0"/>
                <a:ea typeface="Liberation Serif" pitchFamily="34" charset="-122"/>
                <a:cs typeface="Liberation Serif" pitchFamily="34" charset="-120"/>
              </a:rPr>
              <a:t>Success</a:t>
            </a:r>
            <a:endParaRPr lang="en-US" sz="2600" dirty="0"/>
          </a:p>
        </p:txBody>
      </p:sp>
      <p:pic>
        <p:nvPicPr>
          <p:cNvPr id="66" name="Image 30" descr="ACPD, left view, LIBERO-object, task 3, episode 28, recorded step 0, success">    </p:cNvPr>
          <p:cNvPicPr>
            <a:picLocks noChangeAspect="1"/>
          </p:cNvPicPr>
          <p:nvPr/>
        </p:nvPicPr>
        <p:blipFill>
          <a:blip r:embed="rId31"/>
          <a:stretch>
            <a:fillRect/>
          </a:stretch>
        </p:blipFill>
        <p:spPr>
          <a:xfrm>
            <a:off x="12310842" y="3995928"/>
            <a:ext cx="1961129" cy="1961129"/>
          </a:xfrm>
          <a:prstGeom prst="rect">
            <a:avLst/>
          </a:prstGeom>
        </p:spPr>
      </p:pic>
      <p:pic>
        <p:nvPicPr>
          <p:cNvPr id="67" name="Image 31" descr="ACPD, left view, LIBERO-object, task 3, episode 28, recorded step 25, success">    </p:cNvPr>
          <p:cNvPicPr>
            <a:picLocks noChangeAspect="1"/>
          </p:cNvPicPr>
          <p:nvPr/>
        </p:nvPicPr>
        <p:blipFill>
          <a:blip r:embed="rId32"/>
          <a:stretch>
            <a:fillRect/>
          </a:stretch>
        </p:blipFill>
        <p:spPr>
          <a:xfrm>
            <a:off x="14303974" y="3995928"/>
            <a:ext cx="1961129" cy="1961129"/>
          </a:xfrm>
          <a:prstGeom prst="rect">
            <a:avLst/>
          </a:prstGeom>
        </p:spPr>
      </p:pic>
      <p:pic>
        <p:nvPicPr>
          <p:cNvPr id="68" name="Image 32" descr="ACPD, left view, LIBERO-object, task 3, episode 28, recorded step 50, success">    </p:cNvPr>
          <p:cNvPicPr>
            <a:picLocks noChangeAspect="1"/>
          </p:cNvPicPr>
          <p:nvPr/>
        </p:nvPicPr>
        <p:blipFill>
          <a:blip r:embed="rId33"/>
          <a:stretch>
            <a:fillRect/>
          </a:stretch>
        </p:blipFill>
        <p:spPr>
          <a:xfrm>
            <a:off x="16297107" y="3995928"/>
            <a:ext cx="1961129" cy="1961129"/>
          </a:xfrm>
          <a:prstGeom prst="rect">
            <a:avLst/>
          </a:prstGeom>
        </p:spPr>
      </p:pic>
      <p:pic>
        <p:nvPicPr>
          <p:cNvPr id="69" name="Image 33" descr="ACPD, left view, LIBERO-object, task 3, episode 28, recorded step 76, success">    </p:cNvPr>
          <p:cNvPicPr>
            <a:picLocks noChangeAspect="1"/>
          </p:cNvPicPr>
          <p:nvPr/>
        </p:nvPicPr>
        <p:blipFill>
          <a:blip r:embed="rId34"/>
          <a:stretch>
            <a:fillRect/>
          </a:stretch>
        </p:blipFill>
        <p:spPr>
          <a:xfrm>
            <a:off x="18290240" y="3995928"/>
            <a:ext cx="1961129" cy="1961129"/>
          </a:xfrm>
          <a:prstGeom prst="rect">
            <a:avLst/>
          </a:prstGeom>
        </p:spPr>
      </p:pic>
      <p:pic>
        <p:nvPicPr>
          <p:cNvPr id="70" name="Image 34" descr="ACPD, left view, LIBERO-object, task 3, episode 28, recorded step 101, success">    </p:cNvPr>
          <p:cNvPicPr>
            <a:picLocks noChangeAspect="1"/>
          </p:cNvPicPr>
          <p:nvPr/>
        </p:nvPicPr>
        <p:blipFill>
          <a:blip r:embed="rId35"/>
          <a:stretch>
            <a:fillRect/>
          </a:stretch>
        </p:blipFill>
        <p:spPr>
          <a:xfrm>
            <a:off x="20283373" y="3995928"/>
            <a:ext cx="1961129" cy="1961129"/>
          </a:xfrm>
          <a:prstGeom prst="rect">
            <a:avLst/>
          </a:prstGeom>
        </p:spPr>
      </p:pic>
      <p:pic>
        <p:nvPicPr>
          <p:cNvPr id="71" name="Image 35" descr="ACPD, left view, LIBERO-object, task 3, episode 28, recorded step 126, success">    </p:cNvPr>
          <p:cNvPicPr>
            <a:picLocks noChangeAspect="1"/>
          </p:cNvPicPr>
          <p:nvPr/>
        </p:nvPicPr>
        <p:blipFill>
          <a:blip r:embed="rId36"/>
          <a:stretch>
            <a:fillRect/>
          </a:stretch>
        </p:blipFill>
        <p:spPr>
          <a:xfrm>
            <a:off x="22276506" y="3995928"/>
            <a:ext cx="1961129" cy="1961129"/>
          </a:xfrm>
          <a:prstGeom prst="rect">
            <a:avLst/>
          </a:prstGeom>
        </p:spPr>
      </p:pic>
      <p:sp>
        <p:nvSpPr>
          <p:cNvPr id="72" name="Text 34"/>
          <p:cNvSpPr/>
          <p:nvPr/>
        </p:nvSpPr>
        <p:spPr>
          <a:xfrm>
            <a:off x="12310842" y="5980176"/>
            <a:ext cx="1883664" cy="420624"/>
          </a:xfrm>
          <a:prstGeom prst="rect">
            <a:avLst/>
          </a:prstGeom>
          <a:noFill/>
          <a:ln/>
        </p:spPr>
        <p:txBody>
          <a:bodyPr wrap="square" lIns="0" tIns="0" rIns="0" bIns="0" rtlCol="0" anchor="ctr"/>
          <a:lstStyle/>
          <a:p>
            <a:pPr indent="0" marL="0">
              <a:buNone/>
            </a:pPr>
            <a:r>
              <a:rPr lang="en-US" sz="2800" b="1" dirty="0">
                <a:solidFill>
                  <a:srgbClr val="202020"/>
                </a:solidFill>
                <a:latin typeface="Liberation Serif" pitchFamily="34" charset="0"/>
                <a:ea typeface="Liberation Serif" pitchFamily="34" charset="-122"/>
                <a:cs typeface="Liberation Serif" pitchFamily="34" charset="-120"/>
              </a:rPr>
              <a:t>Goal</a:t>
            </a:r>
            <a:endParaRPr lang="en-US" sz="2800" dirty="0"/>
          </a:p>
        </p:txBody>
      </p:sp>
      <p:sp>
        <p:nvSpPr>
          <p:cNvPr id="73" name="Text 35"/>
          <p:cNvSpPr/>
          <p:nvPr/>
        </p:nvSpPr>
        <p:spPr>
          <a:xfrm>
            <a:off x="14285946" y="5980176"/>
            <a:ext cx="7973568" cy="420624"/>
          </a:xfrm>
          <a:prstGeom prst="rect">
            <a:avLst/>
          </a:prstGeom>
          <a:noFill/>
          <a:ln/>
        </p:spPr>
        <p:txBody>
          <a:bodyPr wrap="square" lIns="0" tIns="0" rIns="0" bIns="0" rtlCol="0" anchor="ctr"/>
          <a:lstStyle/>
          <a:p>
            <a:pPr indent="0" marL="0">
              <a:buNone/>
            </a:pPr>
            <a:r>
              <a:rPr lang="en-US" sz="2700" dirty="0">
                <a:solidFill>
                  <a:srgbClr val="202020"/>
                </a:solidFill>
                <a:latin typeface="Liberation Serif" pitchFamily="34" charset="0"/>
                <a:ea typeface="Liberation Serif" pitchFamily="34" charset="-122"/>
                <a:cs typeface="Liberation Serif" pitchFamily="34" charset="-120"/>
              </a:rPr>
              <a:t>Bowl → cabinet top</a:t>
            </a:r>
            <a:endParaRPr lang="en-US" sz="2700" dirty="0"/>
          </a:p>
        </p:txBody>
      </p:sp>
      <p:sp>
        <p:nvSpPr>
          <p:cNvPr id="74" name="Text 36"/>
          <p:cNvSpPr/>
          <p:nvPr/>
        </p:nvSpPr>
        <p:spPr>
          <a:xfrm>
            <a:off x="22424106" y="5980176"/>
            <a:ext cx="1813530" cy="420624"/>
          </a:xfrm>
          <a:prstGeom prst="rect">
            <a:avLst/>
          </a:prstGeom>
          <a:noFill/>
          <a:ln/>
        </p:spPr>
        <p:txBody>
          <a:bodyPr wrap="square" lIns="0" tIns="0" rIns="0" bIns="0" rtlCol="0" anchor="ctr"/>
          <a:lstStyle/>
          <a:p>
            <a:pPr algn="r" indent="0" marL="0">
              <a:buNone/>
            </a:pPr>
            <a:r>
              <a:rPr lang="en-US" sz="2600" dirty="0">
                <a:solidFill>
                  <a:srgbClr val="666666"/>
                </a:solidFill>
                <a:latin typeface="Liberation Serif" pitchFamily="34" charset="0"/>
                <a:ea typeface="Liberation Serif" pitchFamily="34" charset="-122"/>
                <a:cs typeface="Liberation Serif" pitchFamily="34" charset="-120"/>
              </a:rPr>
              <a:t>Success</a:t>
            </a:r>
            <a:endParaRPr lang="en-US" sz="2600" dirty="0"/>
          </a:p>
        </p:txBody>
      </p:sp>
      <p:pic>
        <p:nvPicPr>
          <p:cNvPr id="75" name="Image 36" descr="ACPD, left view, LIBERO-goal, task 4, episode 35, recorded step 0, success">    </p:cNvPr>
          <p:cNvPicPr>
            <a:picLocks noChangeAspect="1"/>
          </p:cNvPicPr>
          <p:nvPr/>
        </p:nvPicPr>
        <p:blipFill>
          <a:blip r:embed="rId37"/>
          <a:stretch>
            <a:fillRect/>
          </a:stretch>
        </p:blipFill>
        <p:spPr>
          <a:xfrm>
            <a:off x="12310842" y="6428232"/>
            <a:ext cx="1961129" cy="1961129"/>
          </a:xfrm>
          <a:prstGeom prst="rect">
            <a:avLst/>
          </a:prstGeom>
        </p:spPr>
      </p:pic>
      <p:pic>
        <p:nvPicPr>
          <p:cNvPr id="76" name="Image 37" descr="ACPD, left view, LIBERO-goal, task 4, episode 35, recorded step 20, success">    </p:cNvPr>
          <p:cNvPicPr>
            <a:picLocks noChangeAspect="1"/>
          </p:cNvPicPr>
          <p:nvPr/>
        </p:nvPicPr>
        <p:blipFill>
          <a:blip r:embed="rId38"/>
          <a:stretch>
            <a:fillRect/>
          </a:stretch>
        </p:blipFill>
        <p:spPr>
          <a:xfrm>
            <a:off x="14303974" y="6428232"/>
            <a:ext cx="1961129" cy="1961129"/>
          </a:xfrm>
          <a:prstGeom prst="rect">
            <a:avLst/>
          </a:prstGeom>
        </p:spPr>
      </p:pic>
      <p:pic>
        <p:nvPicPr>
          <p:cNvPr id="77" name="Image 38" descr="ACPD, left view, LIBERO-goal, task 4, episode 35, recorded step 40, success">    </p:cNvPr>
          <p:cNvPicPr>
            <a:picLocks noChangeAspect="1"/>
          </p:cNvPicPr>
          <p:nvPr/>
        </p:nvPicPr>
        <p:blipFill>
          <a:blip r:embed="rId39"/>
          <a:stretch>
            <a:fillRect/>
          </a:stretch>
        </p:blipFill>
        <p:spPr>
          <a:xfrm>
            <a:off x="16297107" y="6428232"/>
            <a:ext cx="1961129" cy="1961129"/>
          </a:xfrm>
          <a:prstGeom prst="rect">
            <a:avLst/>
          </a:prstGeom>
        </p:spPr>
      </p:pic>
      <p:pic>
        <p:nvPicPr>
          <p:cNvPr id="78" name="Image 39" descr="ACPD, left view, LIBERO-goal, task 4, episode 35, recorded step 61, success">    </p:cNvPr>
          <p:cNvPicPr>
            <a:picLocks noChangeAspect="1"/>
          </p:cNvPicPr>
          <p:nvPr/>
        </p:nvPicPr>
        <p:blipFill>
          <a:blip r:embed="rId40"/>
          <a:stretch>
            <a:fillRect/>
          </a:stretch>
        </p:blipFill>
        <p:spPr>
          <a:xfrm>
            <a:off x="18290240" y="6428232"/>
            <a:ext cx="1961129" cy="1961129"/>
          </a:xfrm>
          <a:prstGeom prst="rect">
            <a:avLst/>
          </a:prstGeom>
        </p:spPr>
      </p:pic>
      <p:pic>
        <p:nvPicPr>
          <p:cNvPr id="79" name="Image 40" descr="ACPD, left view, LIBERO-goal, task 4, episode 35, recorded step 81, success">    </p:cNvPr>
          <p:cNvPicPr>
            <a:picLocks noChangeAspect="1"/>
          </p:cNvPicPr>
          <p:nvPr/>
        </p:nvPicPr>
        <p:blipFill>
          <a:blip r:embed="rId41"/>
          <a:stretch>
            <a:fillRect/>
          </a:stretch>
        </p:blipFill>
        <p:spPr>
          <a:xfrm>
            <a:off x="20283373" y="6428232"/>
            <a:ext cx="1961129" cy="1961129"/>
          </a:xfrm>
          <a:prstGeom prst="rect">
            <a:avLst/>
          </a:prstGeom>
        </p:spPr>
      </p:pic>
      <p:pic>
        <p:nvPicPr>
          <p:cNvPr id="80" name="Image 41" descr="ACPD, left view, LIBERO-goal, task 4, episode 35, recorded step 101, success">    </p:cNvPr>
          <p:cNvPicPr>
            <a:picLocks noChangeAspect="1"/>
          </p:cNvPicPr>
          <p:nvPr/>
        </p:nvPicPr>
        <p:blipFill>
          <a:blip r:embed="rId42"/>
          <a:stretch>
            <a:fillRect/>
          </a:stretch>
        </p:blipFill>
        <p:spPr>
          <a:xfrm>
            <a:off x="22276506" y="6428232"/>
            <a:ext cx="1961129" cy="1961129"/>
          </a:xfrm>
          <a:prstGeom prst="rect">
            <a:avLst/>
          </a:prstGeom>
        </p:spPr>
      </p:pic>
      <p:sp>
        <p:nvSpPr>
          <p:cNvPr id="81" name="Text 37"/>
          <p:cNvSpPr/>
          <p:nvPr/>
        </p:nvSpPr>
        <p:spPr>
          <a:xfrm>
            <a:off x="12310842" y="8412480"/>
            <a:ext cx="1883664" cy="420624"/>
          </a:xfrm>
          <a:prstGeom prst="rect">
            <a:avLst/>
          </a:prstGeom>
          <a:noFill/>
          <a:ln/>
        </p:spPr>
        <p:txBody>
          <a:bodyPr wrap="square" lIns="0" tIns="0" rIns="0" bIns="0" rtlCol="0" anchor="ctr"/>
          <a:lstStyle/>
          <a:p>
            <a:pPr indent="0" marL="0">
              <a:buNone/>
            </a:pPr>
            <a:r>
              <a:rPr lang="en-US" sz="2800" b="1" dirty="0">
                <a:solidFill>
                  <a:srgbClr val="202020"/>
                </a:solidFill>
                <a:latin typeface="Liberation Serif" pitchFamily="34" charset="0"/>
                <a:ea typeface="Liberation Serif" pitchFamily="34" charset="-122"/>
                <a:cs typeface="Liberation Serif" pitchFamily="34" charset="-120"/>
              </a:rPr>
              <a:t>Long</a:t>
            </a:r>
            <a:endParaRPr lang="en-US" sz="2800" dirty="0"/>
          </a:p>
        </p:txBody>
      </p:sp>
      <p:sp>
        <p:nvSpPr>
          <p:cNvPr id="82" name="Text 38"/>
          <p:cNvSpPr/>
          <p:nvPr/>
        </p:nvSpPr>
        <p:spPr>
          <a:xfrm>
            <a:off x="14285946" y="8412480"/>
            <a:ext cx="7973568" cy="420624"/>
          </a:xfrm>
          <a:prstGeom prst="rect">
            <a:avLst/>
          </a:prstGeom>
          <a:noFill/>
          <a:ln/>
        </p:spPr>
        <p:txBody>
          <a:bodyPr wrap="square" lIns="0" tIns="0" rIns="0" bIns="0" rtlCol="0" anchor="ctr"/>
          <a:lstStyle/>
          <a:p>
            <a:pPr indent="0" marL="0">
              <a:buNone/>
            </a:pPr>
            <a:r>
              <a:rPr lang="en-US" sz="2700" dirty="0">
                <a:solidFill>
                  <a:srgbClr val="202020"/>
                </a:solidFill>
                <a:latin typeface="Liberation Serif" pitchFamily="34" charset="0"/>
                <a:ea typeface="Liberation Serif" pitchFamily="34" charset="-122"/>
                <a:cs typeface="Liberation Serif" pitchFamily="34" charset="-120"/>
              </a:rPr>
              <a:t>Turn on stove; moka pot → stove</a:t>
            </a:r>
            <a:endParaRPr lang="en-US" sz="2700" dirty="0"/>
          </a:p>
        </p:txBody>
      </p:sp>
      <p:sp>
        <p:nvSpPr>
          <p:cNvPr id="83" name="Text 39"/>
          <p:cNvSpPr/>
          <p:nvPr/>
        </p:nvSpPr>
        <p:spPr>
          <a:xfrm>
            <a:off x="22424106" y="8412480"/>
            <a:ext cx="1813530" cy="420624"/>
          </a:xfrm>
          <a:prstGeom prst="rect">
            <a:avLst/>
          </a:prstGeom>
          <a:noFill/>
          <a:ln/>
        </p:spPr>
        <p:txBody>
          <a:bodyPr wrap="square" lIns="0" tIns="0" rIns="0" bIns="0" rtlCol="0" anchor="ctr"/>
          <a:lstStyle/>
          <a:p>
            <a:pPr algn="r" indent="0" marL="0">
              <a:buNone/>
            </a:pPr>
            <a:r>
              <a:rPr lang="en-US" sz="2600" dirty="0">
                <a:solidFill>
                  <a:srgbClr val="666666"/>
                </a:solidFill>
                <a:latin typeface="Liberation Serif" pitchFamily="34" charset="0"/>
                <a:ea typeface="Liberation Serif" pitchFamily="34" charset="-122"/>
                <a:cs typeface="Liberation Serif" pitchFamily="34" charset="-120"/>
              </a:rPr>
              <a:t>Success</a:t>
            </a:r>
            <a:endParaRPr lang="en-US" sz="2600" dirty="0"/>
          </a:p>
        </p:txBody>
      </p:sp>
      <p:pic>
        <p:nvPicPr>
          <p:cNvPr id="84" name="Image 42" descr="ACPD, left view, LIBERO-long, task 2, episode 45, recorded step 0, success">    </p:cNvPr>
          <p:cNvPicPr>
            <a:picLocks noChangeAspect="1"/>
          </p:cNvPicPr>
          <p:nvPr/>
        </p:nvPicPr>
        <p:blipFill>
          <a:blip r:embed="rId43"/>
          <a:stretch>
            <a:fillRect/>
          </a:stretch>
        </p:blipFill>
        <p:spPr>
          <a:xfrm>
            <a:off x="12310842" y="8860536"/>
            <a:ext cx="1961129" cy="1961129"/>
          </a:xfrm>
          <a:prstGeom prst="rect">
            <a:avLst/>
          </a:prstGeom>
        </p:spPr>
      </p:pic>
      <p:pic>
        <p:nvPicPr>
          <p:cNvPr id="85" name="Image 43" descr="ACPD, left view, LIBERO-long, task 2, episode 45, recorded step 46, success">    </p:cNvPr>
          <p:cNvPicPr>
            <a:picLocks noChangeAspect="1"/>
          </p:cNvPicPr>
          <p:nvPr/>
        </p:nvPicPr>
        <p:blipFill>
          <a:blip r:embed="rId44"/>
          <a:stretch>
            <a:fillRect/>
          </a:stretch>
        </p:blipFill>
        <p:spPr>
          <a:xfrm>
            <a:off x="14303974" y="8860536"/>
            <a:ext cx="1961129" cy="1961129"/>
          </a:xfrm>
          <a:prstGeom prst="rect">
            <a:avLst/>
          </a:prstGeom>
        </p:spPr>
      </p:pic>
      <p:pic>
        <p:nvPicPr>
          <p:cNvPr id="86" name="Image 44" descr="ACPD, left view, LIBERO-long, task 2, episode 45, recorded step 91, success">    </p:cNvPr>
          <p:cNvPicPr>
            <a:picLocks noChangeAspect="1"/>
          </p:cNvPicPr>
          <p:nvPr/>
        </p:nvPicPr>
        <p:blipFill>
          <a:blip r:embed="rId45"/>
          <a:stretch>
            <a:fillRect/>
          </a:stretch>
        </p:blipFill>
        <p:spPr>
          <a:xfrm>
            <a:off x="16297107" y="8860536"/>
            <a:ext cx="1961129" cy="1961129"/>
          </a:xfrm>
          <a:prstGeom prst="rect">
            <a:avLst/>
          </a:prstGeom>
        </p:spPr>
      </p:pic>
      <p:pic>
        <p:nvPicPr>
          <p:cNvPr id="87" name="Image 45" descr="ACPD, left view, LIBERO-long, task 2, episode 45, recorded step 137, success">    </p:cNvPr>
          <p:cNvPicPr>
            <a:picLocks noChangeAspect="1"/>
          </p:cNvPicPr>
          <p:nvPr/>
        </p:nvPicPr>
        <p:blipFill>
          <a:blip r:embed="rId46"/>
          <a:stretch>
            <a:fillRect/>
          </a:stretch>
        </p:blipFill>
        <p:spPr>
          <a:xfrm>
            <a:off x="18290240" y="8860536"/>
            <a:ext cx="1961129" cy="1961129"/>
          </a:xfrm>
          <a:prstGeom prst="rect">
            <a:avLst/>
          </a:prstGeom>
        </p:spPr>
      </p:pic>
      <p:pic>
        <p:nvPicPr>
          <p:cNvPr id="88" name="Image 46" descr="ACPD, left view, LIBERO-long, task 2, episode 45, recorded step 182, success">    </p:cNvPr>
          <p:cNvPicPr>
            <a:picLocks noChangeAspect="1"/>
          </p:cNvPicPr>
          <p:nvPr/>
        </p:nvPicPr>
        <p:blipFill>
          <a:blip r:embed="rId47"/>
          <a:stretch>
            <a:fillRect/>
          </a:stretch>
        </p:blipFill>
        <p:spPr>
          <a:xfrm>
            <a:off x="20283373" y="8860536"/>
            <a:ext cx="1961129" cy="1961129"/>
          </a:xfrm>
          <a:prstGeom prst="rect">
            <a:avLst/>
          </a:prstGeom>
        </p:spPr>
      </p:pic>
      <p:pic>
        <p:nvPicPr>
          <p:cNvPr id="89" name="Image 47" descr="ACPD, left view, LIBERO-long, task 2, episode 45, recorded step 228, success">    </p:cNvPr>
          <p:cNvPicPr>
            <a:picLocks noChangeAspect="1"/>
          </p:cNvPicPr>
          <p:nvPr/>
        </p:nvPicPr>
        <p:blipFill>
          <a:blip r:embed="rId48"/>
          <a:stretch>
            <a:fillRect/>
          </a:stretch>
        </p:blipFill>
        <p:spPr>
          <a:xfrm>
            <a:off x="22276506" y="8860536"/>
            <a:ext cx="1961129" cy="1961129"/>
          </a:xfrm>
          <a:prstGeom prst="rect">
            <a:avLst/>
          </a:prstGeom>
        </p:spPr>
      </p:pic>
      <p:sp>
        <p:nvSpPr>
          <p:cNvPr id="90" name="Text 40"/>
          <p:cNvSpPr/>
          <p:nvPr/>
        </p:nvSpPr>
        <p:spPr>
          <a:xfrm>
            <a:off x="146304" y="11009376"/>
            <a:ext cx="7315200" cy="566928"/>
          </a:xfrm>
          <a:prstGeom prst="rect">
            <a:avLst/>
          </a:prstGeom>
          <a:noFill/>
          <a:ln/>
        </p:spPr>
        <p:txBody>
          <a:bodyPr wrap="square" lIns="0" tIns="0" rIns="0" bIns="0" rtlCol="0" anchor="ctr"/>
          <a:lstStyle/>
          <a:p>
            <a:pPr indent="0" marL="0">
              <a:buNone/>
            </a:pPr>
            <a:r>
              <a:rPr lang="en-US" sz="3800" b="1" dirty="0">
                <a:solidFill>
                  <a:srgbClr val="007D5D"/>
                </a:solidFill>
                <a:latin typeface="Liberation Serif" pitchFamily="34" charset="0"/>
                <a:ea typeface="Liberation Serif" pitchFamily="34" charset="-122"/>
                <a:cs typeface="Liberation Serif" pitchFamily="34" charset="-120"/>
              </a:rPr>
              <a:t>(c)  Right view</a:t>
            </a:r>
            <a:endParaRPr lang="en-US" sz="3800" dirty="0"/>
          </a:p>
        </p:txBody>
      </p:sp>
      <p:sp>
        <p:nvSpPr>
          <p:cNvPr id="91" name="Text 41"/>
          <p:cNvSpPr/>
          <p:nvPr/>
        </p:nvSpPr>
        <p:spPr>
          <a:xfrm>
            <a:off x="7507224" y="11082528"/>
            <a:ext cx="4565874" cy="411480"/>
          </a:xfrm>
          <a:prstGeom prst="rect">
            <a:avLst/>
          </a:prstGeom>
          <a:noFill/>
          <a:ln/>
        </p:spPr>
        <p:txBody>
          <a:bodyPr wrap="square" lIns="0" tIns="0" rIns="0" bIns="0" rtlCol="0" anchor="ctr"/>
          <a:lstStyle/>
          <a:p>
            <a:pPr algn="r" indent="0" marL="0">
              <a:buNone/>
            </a:pPr>
            <a:r>
              <a:rPr lang="en-US" sz="2800" dirty="0">
                <a:solidFill>
                  <a:srgbClr val="666666"/>
                </a:solidFill>
                <a:latin typeface="Liberation Serif" pitchFamily="34" charset="0"/>
                <a:ea typeface="Liberation Serif" pitchFamily="34" charset="-122"/>
                <a:cs typeface="Liberation Serif" pitchFamily="34" charset="-120"/>
              </a:rPr>
              <a:t>Episode progress →</a:t>
            </a:r>
            <a:endParaRPr lang="en-US" sz="2800" dirty="0"/>
          </a:p>
        </p:txBody>
      </p:sp>
      <p:sp>
        <p:nvSpPr>
          <p:cNvPr id="92" name="Text 42"/>
          <p:cNvSpPr/>
          <p:nvPr/>
        </p:nvSpPr>
        <p:spPr>
          <a:xfrm>
            <a:off x="146304" y="11585448"/>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Start</a:t>
            </a:r>
            <a:endParaRPr lang="en-US" sz="2700" dirty="0"/>
          </a:p>
        </p:txBody>
      </p:sp>
      <p:sp>
        <p:nvSpPr>
          <p:cNvPr id="93" name="Text 43"/>
          <p:cNvSpPr/>
          <p:nvPr/>
        </p:nvSpPr>
        <p:spPr>
          <a:xfrm>
            <a:off x="2139437" y="11585448"/>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20%</a:t>
            </a:r>
            <a:endParaRPr lang="en-US" sz="2700" dirty="0"/>
          </a:p>
        </p:txBody>
      </p:sp>
      <p:sp>
        <p:nvSpPr>
          <p:cNvPr id="94" name="Text 44"/>
          <p:cNvSpPr/>
          <p:nvPr/>
        </p:nvSpPr>
        <p:spPr>
          <a:xfrm>
            <a:off x="4132570" y="11585448"/>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40%</a:t>
            </a:r>
            <a:endParaRPr lang="en-US" sz="2700" dirty="0"/>
          </a:p>
        </p:txBody>
      </p:sp>
      <p:sp>
        <p:nvSpPr>
          <p:cNvPr id="95" name="Text 45"/>
          <p:cNvSpPr/>
          <p:nvPr/>
        </p:nvSpPr>
        <p:spPr>
          <a:xfrm>
            <a:off x="6125703" y="11585448"/>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60%</a:t>
            </a:r>
            <a:endParaRPr lang="en-US" sz="2700" dirty="0"/>
          </a:p>
        </p:txBody>
      </p:sp>
      <p:sp>
        <p:nvSpPr>
          <p:cNvPr id="96" name="Text 46"/>
          <p:cNvSpPr/>
          <p:nvPr/>
        </p:nvSpPr>
        <p:spPr>
          <a:xfrm>
            <a:off x="8118836" y="11585448"/>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80%</a:t>
            </a:r>
            <a:endParaRPr lang="en-US" sz="2700" dirty="0"/>
          </a:p>
        </p:txBody>
      </p:sp>
      <p:sp>
        <p:nvSpPr>
          <p:cNvPr id="97" name="Text 47"/>
          <p:cNvSpPr/>
          <p:nvPr/>
        </p:nvSpPr>
        <p:spPr>
          <a:xfrm>
            <a:off x="10111969" y="11585448"/>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End</a:t>
            </a:r>
            <a:endParaRPr lang="en-US" sz="2700" dirty="0"/>
          </a:p>
        </p:txBody>
      </p:sp>
      <p:sp>
        <p:nvSpPr>
          <p:cNvPr id="98" name="Text 48"/>
          <p:cNvSpPr/>
          <p:nvPr/>
        </p:nvSpPr>
        <p:spPr>
          <a:xfrm>
            <a:off x="146304" y="12015216"/>
            <a:ext cx="1883664" cy="420624"/>
          </a:xfrm>
          <a:prstGeom prst="rect">
            <a:avLst/>
          </a:prstGeom>
          <a:noFill/>
          <a:ln/>
        </p:spPr>
        <p:txBody>
          <a:bodyPr wrap="square" lIns="0" tIns="0" rIns="0" bIns="0" rtlCol="0" anchor="ctr"/>
          <a:lstStyle/>
          <a:p>
            <a:pPr indent="0" marL="0">
              <a:buNone/>
            </a:pPr>
            <a:r>
              <a:rPr lang="en-US" sz="2800" b="1" dirty="0">
                <a:solidFill>
                  <a:srgbClr val="202020"/>
                </a:solidFill>
                <a:latin typeface="Liberation Serif" pitchFamily="34" charset="0"/>
                <a:ea typeface="Liberation Serif" pitchFamily="34" charset="-122"/>
                <a:cs typeface="Liberation Serif" pitchFamily="34" charset="-120"/>
              </a:rPr>
              <a:t>Spatial</a:t>
            </a:r>
            <a:endParaRPr lang="en-US" sz="2800" dirty="0"/>
          </a:p>
        </p:txBody>
      </p:sp>
      <p:sp>
        <p:nvSpPr>
          <p:cNvPr id="99" name="Text 49"/>
          <p:cNvSpPr/>
          <p:nvPr/>
        </p:nvSpPr>
        <p:spPr>
          <a:xfrm>
            <a:off x="2121408" y="12015216"/>
            <a:ext cx="7973568" cy="420624"/>
          </a:xfrm>
          <a:prstGeom prst="rect">
            <a:avLst/>
          </a:prstGeom>
          <a:noFill/>
          <a:ln/>
        </p:spPr>
        <p:txBody>
          <a:bodyPr wrap="square" lIns="0" tIns="0" rIns="0" bIns="0" rtlCol="0" anchor="ctr"/>
          <a:lstStyle/>
          <a:p>
            <a:pPr indent="0" marL="0">
              <a:buNone/>
            </a:pPr>
            <a:r>
              <a:rPr lang="en-US" sz="2700" dirty="0">
                <a:solidFill>
                  <a:srgbClr val="202020"/>
                </a:solidFill>
                <a:latin typeface="Liberation Serif" pitchFamily="34" charset="0"/>
                <a:ea typeface="Liberation Serif" pitchFamily="34" charset="-122"/>
                <a:cs typeface="Liberation Serif" pitchFamily="34" charset="-120"/>
              </a:rPr>
              <a:t>Bowl beside ramekin → plate</a:t>
            </a:r>
            <a:endParaRPr lang="en-US" sz="2700" dirty="0"/>
          </a:p>
        </p:txBody>
      </p:sp>
      <p:sp>
        <p:nvSpPr>
          <p:cNvPr id="100" name="Text 50"/>
          <p:cNvSpPr/>
          <p:nvPr/>
        </p:nvSpPr>
        <p:spPr>
          <a:xfrm>
            <a:off x="10259568" y="12015216"/>
            <a:ext cx="1813530" cy="420624"/>
          </a:xfrm>
          <a:prstGeom prst="rect">
            <a:avLst/>
          </a:prstGeom>
          <a:noFill/>
          <a:ln/>
        </p:spPr>
        <p:txBody>
          <a:bodyPr wrap="square" lIns="0" tIns="0" rIns="0" bIns="0" rtlCol="0" anchor="ctr"/>
          <a:lstStyle/>
          <a:p>
            <a:pPr algn="r" indent="0" marL="0">
              <a:buNone/>
            </a:pPr>
            <a:r>
              <a:rPr lang="en-US" sz="2600" dirty="0">
                <a:solidFill>
                  <a:srgbClr val="666666"/>
                </a:solidFill>
                <a:latin typeface="Liberation Serif" pitchFamily="34" charset="0"/>
                <a:ea typeface="Liberation Serif" pitchFamily="34" charset="-122"/>
                <a:cs typeface="Liberation Serif" pitchFamily="34" charset="-120"/>
              </a:rPr>
              <a:t>Success</a:t>
            </a:r>
            <a:endParaRPr lang="en-US" sz="2600" dirty="0"/>
          </a:p>
        </p:txBody>
      </p:sp>
      <p:pic>
        <p:nvPicPr>
          <p:cNvPr id="101" name="Image 48" descr="ACPD, right view, LIBERO-spatial, task 1, episode 42, recorded step 0, success">    </p:cNvPr>
          <p:cNvPicPr>
            <a:picLocks noChangeAspect="1"/>
          </p:cNvPicPr>
          <p:nvPr/>
        </p:nvPicPr>
        <p:blipFill>
          <a:blip r:embed="rId49"/>
          <a:stretch>
            <a:fillRect/>
          </a:stretch>
        </p:blipFill>
        <p:spPr>
          <a:xfrm>
            <a:off x="146304" y="12463272"/>
            <a:ext cx="1961129" cy="1961129"/>
          </a:xfrm>
          <a:prstGeom prst="rect">
            <a:avLst/>
          </a:prstGeom>
        </p:spPr>
      </p:pic>
      <p:pic>
        <p:nvPicPr>
          <p:cNvPr id="102" name="Image 49" descr="ACPD, right view, LIBERO-spatial, task 1, episode 42, recorded step 21, success">    </p:cNvPr>
          <p:cNvPicPr>
            <a:picLocks noChangeAspect="1"/>
          </p:cNvPicPr>
          <p:nvPr/>
        </p:nvPicPr>
        <p:blipFill>
          <a:blip r:embed="rId50"/>
          <a:stretch>
            <a:fillRect/>
          </a:stretch>
        </p:blipFill>
        <p:spPr>
          <a:xfrm>
            <a:off x="2139437" y="12463272"/>
            <a:ext cx="1961129" cy="1961129"/>
          </a:xfrm>
          <a:prstGeom prst="rect">
            <a:avLst/>
          </a:prstGeom>
        </p:spPr>
      </p:pic>
      <p:pic>
        <p:nvPicPr>
          <p:cNvPr id="103" name="Image 50" descr="ACPD, right view, LIBERO-spatial, task 1, episode 42, recorded step 41, success">    </p:cNvPr>
          <p:cNvPicPr>
            <a:picLocks noChangeAspect="1"/>
          </p:cNvPicPr>
          <p:nvPr/>
        </p:nvPicPr>
        <p:blipFill>
          <a:blip r:embed="rId51"/>
          <a:stretch>
            <a:fillRect/>
          </a:stretch>
        </p:blipFill>
        <p:spPr>
          <a:xfrm>
            <a:off x="4132570" y="12463272"/>
            <a:ext cx="1961129" cy="1961129"/>
          </a:xfrm>
          <a:prstGeom prst="rect">
            <a:avLst/>
          </a:prstGeom>
        </p:spPr>
      </p:pic>
      <p:pic>
        <p:nvPicPr>
          <p:cNvPr id="104" name="Image 51" descr="ACPD, right view, LIBERO-spatial, task 1, episode 42, recorded step 62, success">    </p:cNvPr>
          <p:cNvPicPr>
            <a:picLocks noChangeAspect="1"/>
          </p:cNvPicPr>
          <p:nvPr/>
        </p:nvPicPr>
        <p:blipFill>
          <a:blip r:embed="rId52"/>
          <a:stretch>
            <a:fillRect/>
          </a:stretch>
        </p:blipFill>
        <p:spPr>
          <a:xfrm>
            <a:off x="6125703" y="12463272"/>
            <a:ext cx="1961129" cy="1961129"/>
          </a:xfrm>
          <a:prstGeom prst="rect">
            <a:avLst/>
          </a:prstGeom>
        </p:spPr>
      </p:pic>
      <p:pic>
        <p:nvPicPr>
          <p:cNvPr id="105" name="Image 52" descr="ACPD, right view, LIBERO-spatial, task 1, episode 42, recorded step 82, success">    </p:cNvPr>
          <p:cNvPicPr>
            <a:picLocks noChangeAspect="1"/>
          </p:cNvPicPr>
          <p:nvPr/>
        </p:nvPicPr>
        <p:blipFill>
          <a:blip r:embed="rId53"/>
          <a:stretch>
            <a:fillRect/>
          </a:stretch>
        </p:blipFill>
        <p:spPr>
          <a:xfrm>
            <a:off x="8118836" y="12463272"/>
            <a:ext cx="1961129" cy="1961129"/>
          </a:xfrm>
          <a:prstGeom prst="rect">
            <a:avLst/>
          </a:prstGeom>
        </p:spPr>
      </p:pic>
      <p:pic>
        <p:nvPicPr>
          <p:cNvPr id="106" name="Image 53" descr="ACPD, right view, LIBERO-spatial, task 1, episode 42, recorded step 103, success">    </p:cNvPr>
          <p:cNvPicPr>
            <a:picLocks noChangeAspect="1"/>
          </p:cNvPicPr>
          <p:nvPr/>
        </p:nvPicPr>
        <p:blipFill>
          <a:blip r:embed="rId54"/>
          <a:stretch>
            <a:fillRect/>
          </a:stretch>
        </p:blipFill>
        <p:spPr>
          <a:xfrm>
            <a:off x="10111969" y="12463272"/>
            <a:ext cx="1961129" cy="1961129"/>
          </a:xfrm>
          <a:prstGeom prst="rect">
            <a:avLst/>
          </a:prstGeom>
        </p:spPr>
      </p:pic>
      <p:sp>
        <p:nvSpPr>
          <p:cNvPr id="107" name="Text 51"/>
          <p:cNvSpPr/>
          <p:nvPr/>
        </p:nvSpPr>
        <p:spPr>
          <a:xfrm>
            <a:off x="146304" y="14447520"/>
            <a:ext cx="1883664" cy="420624"/>
          </a:xfrm>
          <a:prstGeom prst="rect">
            <a:avLst/>
          </a:prstGeom>
          <a:noFill/>
          <a:ln/>
        </p:spPr>
        <p:txBody>
          <a:bodyPr wrap="square" lIns="0" tIns="0" rIns="0" bIns="0" rtlCol="0" anchor="ctr"/>
          <a:lstStyle/>
          <a:p>
            <a:pPr indent="0" marL="0">
              <a:buNone/>
            </a:pPr>
            <a:r>
              <a:rPr lang="en-US" sz="2800" b="1" dirty="0">
                <a:solidFill>
                  <a:srgbClr val="202020"/>
                </a:solidFill>
                <a:latin typeface="Liberation Serif" pitchFamily="34" charset="0"/>
                <a:ea typeface="Liberation Serif" pitchFamily="34" charset="-122"/>
                <a:cs typeface="Liberation Serif" pitchFamily="34" charset="-120"/>
              </a:rPr>
              <a:t>Object</a:t>
            </a:r>
            <a:endParaRPr lang="en-US" sz="2800" dirty="0"/>
          </a:p>
        </p:txBody>
      </p:sp>
      <p:sp>
        <p:nvSpPr>
          <p:cNvPr id="108" name="Text 52"/>
          <p:cNvSpPr/>
          <p:nvPr/>
        </p:nvSpPr>
        <p:spPr>
          <a:xfrm>
            <a:off x="2121408" y="14447520"/>
            <a:ext cx="7973568" cy="420624"/>
          </a:xfrm>
          <a:prstGeom prst="rect">
            <a:avLst/>
          </a:prstGeom>
          <a:noFill/>
          <a:ln/>
        </p:spPr>
        <p:txBody>
          <a:bodyPr wrap="square" lIns="0" tIns="0" rIns="0" bIns="0" rtlCol="0" anchor="ctr"/>
          <a:lstStyle/>
          <a:p>
            <a:pPr indent="0" marL="0">
              <a:buNone/>
            </a:pPr>
            <a:r>
              <a:rPr lang="en-US" sz="2700" dirty="0">
                <a:solidFill>
                  <a:srgbClr val="202020"/>
                </a:solidFill>
                <a:latin typeface="Liberation Serif" pitchFamily="34" charset="0"/>
                <a:ea typeface="Liberation Serif" pitchFamily="34" charset="-122"/>
                <a:cs typeface="Liberation Serif" pitchFamily="34" charset="-120"/>
              </a:rPr>
              <a:t>Milk → basket</a:t>
            </a:r>
            <a:endParaRPr lang="en-US" sz="2700" dirty="0"/>
          </a:p>
        </p:txBody>
      </p:sp>
      <p:sp>
        <p:nvSpPr>
          <p:cNvPr id="109" name="Text 53"/>
          <p:cNvSpPr/>
          <p:nvPr/>
        </p:nvSpPr>
        <p:spPr>
          <a:xfrm>
            <a:off x="10259568" y="14447520"/>
            <a:ext cx="1813530" cy="420624"/>
          </a:xfrm>
          <a:prstGeom prst="rect">
            <a:avLst/>
          </a:prstGeom>
          <a:noFill/>
          <a:ln/>
        </p:spPr>
        <p:txBody>
          <a:bodyPr wrap="square" lIns="0" tIns="0" rIns="0" bIns="0" rtlCol="0" anchor="ctr"/>
          <a:lstStyle/>
          <a:p>
            <a:pPr algn="r" indent="0" marL="0">
              <a:buNone/>
            </a:pPr>
            <a:r>
              <a:rPr lang="en-US" sz="2600" dirty="0">
                <a:solidFill>
                  <a:srgbClr val="666666"/>
                </a:solidFill>
                <a:latin typeface="Liberation Serif" pitchFamily="34" charset="0"/>
                <a:ea typeface="Liberation Serif" pitchFamily="34" charset="-122"/>
                <a:cs typeface="Liberation Serif" pitchFamily="34" charset="-120"/>
              </a:rPr>
              <a:t>Failure</a:t>
            </a:r>
            <a:endParaRPr lang="en-US" sz="2600" dirty="0"/>
          </a:p>
        </p:txBody>
      </p:sp>
      <p:pic>
        <p:nvPicPr>
          <p:cNvPr id="110" name="Image 54" descr="ACPD, right view, LIBERO-object, task 7, episode 19, recorded step 0, failure">    </p:cNvPr>
          <p:cNvPicPr>
            <a:picLocks noChangeAspect="1"/>
          </p:cNvPicPr>
          <p:nvPr/>
        </p:nvPicPr>
        <p:blipFill>
          <a:blip r:embed="rId55"/>
          <a:stretch>
            <a:fillRect/>
          </a:stretch>
        </p:blipFill>
        <p:spPr>
          <a:xfrm>
            <a:off x="146304" y="14895576"/>
            <a:ext cx="1961129" cy="1961129"/>
          </a:xfrm>
          <a:prstGeom prst="rect">
            <a:avLst/>
          </a:prstGeom>
        </p:spPr>
      </p:pic>
      <p:pic>
        <p:nvPicPr>
          <p:cNvPr id="111" name="Image 55" descr="ACPD, right view, LIBERO-object, task 7, episode 19, recorded step 56, failure">    </p:cNvPr>
          <p:cNvPicPr>
            <a:picLocks noChangeAspect="1"/>
          </p:cNvPicPr>
          <p:nvPr/>
        </p:nvPicPr>
        <p:blipFill>
          <a:blip r:embed="rId56"/>
          <a:stretch>
            <a:fillRect/>
          </a:stretch>
        </p:blipFill>
        <p:spPr>
          <a:xfrm>
            <a:off x="2139437" y="14895576"/>
            <a:ext cx="1961129" cy="1961129"/>
          </a:xfrm>
          <a:prstGeom prst="rect">
            <a:avLst/>
          </a:prstGeom>
        </p:spPr>
      </p:pic>
      <p:pic>
        <p:nvPicPr>
          <p:cNvPr id="112" name="Image 56" descr="ACPD, right view, LIBERO-object, task 7, episode 19, recorded step 112, failure">    </p:cNvPr>
          <p:cNvPicPr>
            <a:picLocks noChangeAspect="1"/>
          </p:cNvPicPr>
          <p:nvPr/>
        </p:nvPicPr>
        <p:blipFill>
          <a:blip r:embed="rId57"/>
          <a:stretch>
            <a:fillRect/>
          </a:stretch>
        </p:blipFill>
        <p:spPr>
          <a:xfrm>
            <a:off x="4132570" y="14895576"/>
            <a:ext cx="1961129" cy="1961129"/>
          </a:xfrm>
          <a:prstGeom prst="rect">
            <a:avLst/>
          </a:prstGeom>
        </p:spPr>
      </p:pic>
      <p:pic>
        <p:nvPicPr>
          <p:cNvPr id="113" name="Image 57" descr="ACPD, right view, LIBERO-object, task 7, episode 19, recorded step 167, failure">    </p:cNvPr>
          <p:cNvPicPr>
            <a:picLocks noChangeAspect="1"/>
          </p:cNvPicPr>
          <p:nvPr/>
        </p:nvPicPr>
        <p:blipFill>
          <a:blip r:embed="rId58"/>
          <a:stretch>
            <a:fillRect/>
          </a:stretch>
        </p:blipFill>
        <p:spPr>
          <a:xfrm>
            <a:off x="6125703" y="14895576"/>
            <a:ext cx="1961129" cy="1961129"/>
          </a:xfrm>
          <a:prstGeom prst="rect">
            <a:avLst/>
          </a:prstGeom>
        </p:spPr>
      </p:pic>
      <p:pic>
        <p:nvPicPr>
          <p:cNvPr id="114" name="Image 58" descr="ACPD, right view, LIBERO-object, task 7, episode 19, recorded step 223, failure">    </p:cNvPr>
          <p:cNvPicPr>
            <a:picLocks noChangeAspect="1"/>
          </p:cNvPicPr>
          <p:nvPr/>
        </p:nvPicPr>
        <p:blipFill>
          <a:blip r:embed="rId59"/>
          <a:stretch>
            <a:fillRect/>
          </a:stretch>
        </p:blipFill>
        <p:spPr>
          <a:xfrm>
            <a:off x="8118836" y="14895576"/>
            <a:ext cx="1961129" cy="1961129"/>
          </a:xfrm>
          <a:prstGeom prst="rect">
            <a:avLst/>
          </a:prstGeom>
        </p:spPr>
      </p:pic>
      <p:pic>
        <p:nvPicPr>
          <p:cNvPr id="115" name="Image 59" descr="ACPD, right view, LIBERO-object, task 7, episode 19, recorded step 279, failure">    </p:cNvPr>
          <p:cNvPicPr>
            <a:picLocks noChangeAspect="1"/>
          </p:cNvPicPr>
          <p:nvPr/>
        </p:nvPicPr>
        <p:blipFill>
          <a:blip r:embed="rId60"/>
          <a:stretch>
            <a:fillRect/>
          </a:stretch>
        </p:blipFill>
        <p:spPr>
          <a:xfrm>
            <a:off x="10111969" y="14895576"/>
            <a:ext cx="1961129" cy="1961129"/>
          </a:xfrm>
          <a:prstGeom prst="rect">
            <a:avLst/>
          </a:prstGeom>
        </p:spPr>
      </p:pic>
      <p:sp>
        <p:nvSpPr>
          <p:cNvPr id="116" name="Text 54"/>
          <p:cNvSpPr/>
          <p:nvPr/>
        </p:nvSpPr>
        <p:spPr>
          <a:xfrm>
            <a:off x="146304" y="16879824"/>
            <a:ext cx="1883664" cy="420624"/>
          </a:xfrm>
          <a:prstGeom prst="rect">
            <a:avLst/>
          </a:prstGeom>
          <a:noFill/>
          <a:ln/>
        </p:spPr>
        <p:txBody>
          <a:bodyPr wrap="square" lIns="0" tIns="0" rIns="0" bIns="0" rtlCol="0" anchor="ctr"/>
          <a:lstStyle/>
          <a:p>
            <a:pPr indent="0" marL="0">
              <a:buNone/>
            </a:pPr>
            <a:r>
              <a:rPr lang="en-US" sz="2800" b="1" dirty="0">
                <a:solidFill>
                  <a:srgbClr val="202020"/>
                </a:solidFill>
                <a:latin typeface="Liberation Serif" pitchFamily="34" charset="0"/>
                <a:ea typeface="Liberation Serif" pitchFamily="34" charset="-122"/>
                <a:cs typeface="Liberation Serif" pitchFamily="34" charset="-120"/>
              </a:rPr>
              <a:t>Goal</a:t>
            </a:r>
            <a:endParaRPr lang="en-US" sz="2800" dirty="0"/>
          </a:p>
        </p:txBody>
      </p:sp>
      <p:sp>
        <p:nvSpPr>
          <p:cNvPr id="117" name="Text 55"/>
          <p:cNvSpPr/>
          <p:nvPr/>
        </p:nvSpPr>
        <p:spPr>
          <a:xfrm>
            <a:off x="2121408" y="16879824"/>
            <a:ext cx="7973568" cy="420624"/>
          </a:xfrm>
          <a:prstGeom prst="rect">
            <a:avLst/>
          </a:prstGeom>
          <a:noFill/>
          <a:ln/>
        </p:spPr>
        <p:txBody>
          <a:bodyPr wrap="square" lIns="0" tIns="0" rIns="0" bIns="0" rtlCol="0" anchor="ctr"/>
          <a:lstStyle/>
          <a:p>
            <a:pPr indent="0" marL="0">
              <a:buNone/>
            </a:pPr>
            <a:r>
              <a:rPr lang="en-US" sz="2700" dirty="0">
                <a:solidFill>
                  <a:srgbClr val="202020"/>
                </a:solidFill>
                <a:latin typeface="Liberation Serif" pitchFamily="34" charset="0"/>
                <a:ea typeface="Liberation Serif" pitchFamily="34" charset="-122"/>
                <a:cs typeface="Liberation Serif" pitchFamily="34" charset="-120"/>
              </a:rPr>
              <a:t>Turn on stove</a:t>
            </a:r>
            <a:endParaRPr lang="en-US" sz="2700" dirty="0"/>
          </a:p>
        </p:txBody>
      </p:sp>
      <p:sp>
        <p:nvSpPr>
          <p:cNvPr id="118" name="Text 56"/>
          <p:cNvSpPr/>
          <p:nvPr/>
        </p:nvSpPr>
        <p:spPr>
          <a:xfrm>
            <a:off x="10259568" y="16879824"/>
            <a:ext cx="1813530" cy="420624"/>
          </a:xfrm>
          <a:prstGeom prst="rect">
            <a:avLst/>
          </a:prstGeom>
          <a:noFill/>
          <a:ln/>
        </p:spPr>
        <p:txBody>
          <a:bodyPr wrap="square" lIns="0" tIns="0" rIns="0" bIns="0" rtlCol="0" anchor="ctr"/>
          <a:lstStyle/>
          <a:p>
            <a:pPr algn="r" indent="0" marL="0">
              <a:buNone/>
            </a:pPr>
            <a:r>
              <a:rPr lang="en-US" sz="2600" dirty="0">
                <a:solidFill>
                  <a:srgbClr val="666666"/>
                </a:solidFill>
                <a:latin typeface="Liberation Serif" pitchFamily="34" charset="0"/>
                <a:ea typeface="Liberation Serif" pitchFamily="34" charset="-122"/>
                <a:cs typeface="Liberation Serif" pitchFamily="34" charset="-120"/>
              </a:rPr>
              <a:t>Success</a:t>
            </a:r>
            <a:endParaRPr lang="en-US" sz="2600" dirty="0"/>
          </a:p>
        </p:txBody>
      </p:sp>
      <p:pic>
        <p:nvPicPr>
          <p:cNvPr id="119" name="Image 60" descr="ACPD, right view, LIBERO-goal, task 7, episode 0, recorded step 0, success">    </p:cNvPr>
          <p:cNvPicPr>
            <a:picLocks noChangeAspect="1"/>
          </p:cNvPicPr>
          <p:nvPr/>
        </p:nvPicPr>
        <p:blipFill>
          <a:blip r:embed="rId61"/>
          <a:stretch>
            <a:fillRect/>
          </a:stretch>
        </p:blipFill>
        <p:spPr>
          <a:xfrm>
            <a:off x="146304" y="17327880"/>
            <a:ext cx="1961129" cy="1961129"/>
          </a:xfrm>
          <a:prstGeom prst="rect">
            <a:avLst/>
          </a:prstGeom>
        </p:spPr>
      </p:pic>
      <p:pic>
        <p:nvPicPr>
          <p:cNvPr id="120" name="Image 61" descr="ACPD, right view, LIBERO-goal, task 7, episode 0, recorded step 18, success">    </p:cNvPr>
          <p:cNvPicPr>
            <a:picLocks noChangeAspect="1"/>
          </p:cNvPicPr>
          <p:nvPr/>
        </p:nvPicPr>
        <p:blipFill>
          <a:blip r:embed="rId62"/>
          <a:stretch>
            <a:fillRect/>
          </a:stretch>
        </p:blipFill>
        <p:spPr>
          <a:xfrm>
            <a:off x="2139437" y="17327880"/>
            <a:ext cx="1961129" cy="1961129"/>
          </a:xfrm>
          <a:prstGeom prst="rect">
            <a:avLst/>
          </a:prstGeom>
        </p:spPr>
      </p:pic>
      <p:pic>
        <p:nvPicPr>
          <p:cNvPr id="121" name="Image 62" descr="ACPD, right view, LIBERO-goal, task 7, episode 0, recorded step 36, success">    </p:cNvPr>
          <p:cNvPicPr>
            <a:picLocks noChangeAspect="1"/>
          </p:cNvPicPr>
          <p:nvPr/>
        </p:nvPicPr>
        <p:blipFill>
          <a:blip r:embed="rId63"/>
          <a:stretch>
            <a:fillRect/>
          </a:stretch>
        </p:blipFill>
        <p:spPr>
          <a:xfrm>
            <a:off x="4132570" y="17327880"/>
            <a:ext cx="1961129" cy="1961129"/>
          </a:xfrm>
          <a:prstGeom prst="rect">
            <a:avLst/>
          </a:prstGeom>
        </p:spPr>
      </p:pic>
      <p:pic>
        <p:nvPicPr>
          <p:cNvPr id="122" name="Image 63" descr="ACPD, right view, LIBERO-goal, task 7, episode 0, recorded step 55, success">    </p:cNvPr>
          <p:cNvPicPr>
            <a:picLocks noChangeAspect="1"/>
          </p:cNvPicPr>
          <p:nvPr/>
        </p:nvPicPr>
        <p:blipFill>
          <a:blip r:embed="rId64"/>
          <a:stretch>
            <a:fillRect/>
          </a:stretch>
        </p:blipFill>
        <p:spPr>
          <a:xfrm>
            <a:off x="6125703" y="17327880"/>
            <a:ext cx="1961129" cy="1961129"/>
          </a:xfrm>
          <a:prstGeom prst="rect">
            <a:avLst/>
          </a:prstGeom>
        </p:spPr>
      </p:pic>
      <p:pic>
        <p:nvPicPr>
          <p:cNvPr id="123" name="Image 64" descr="ACPD, right view, LIBERO-goal, task 7, episode 0, recorded step 73, success">    </p:cNvPr>
          <p:cNvPicPr>
            <a:picLocks noChangeAspect="1"/>
          </p:cNvPicPr>
          <p:nvPr/>
        </p:nvPicPr>
        <p:blipFill>
          <a:blip r:embed="rId65"/>
          <a:stretch>
            <a:fillRect/>
          </a:stretch>
        </p:blipFill>
        <p:spPr>
          <a:xfrm>
            <a:off x="8118836" y="17327880"/>
            <a:ext cx="1961129" cy="1961129"/>
          </a:xfrm>
          <a:prstGeom prst="rect">
            <a:avLst/>
          </a:prstGeom>
        </p:spPr>
      </p:pic>
      <p:pic>
        <p:nvPicPr>
          <p:cNvPr id="124" name="Image 65" descr="ACPD, right view, LIBERO-goal, task 7, episode 0, recorded step 91, success">    </p:cNvPr>
          <p:cNvPicPr>
            <a:picLocks noChangeAspect="1"/>
          </p:cNvPicPr>
          <p:nvPr/>
        </p:nvPicPr>
        <p:blipFill>
          <a:blip r:embed="rId66"/>
          <a:stretch>
            <a:fillRect/>
          </a:stretch>
        </p:blipFill>
        <p:spPr>
          <a:xfrm>
            <a:off x="10111969" y="17327880"/>
            <a:ext cx="1961129" cy="1961129"/>
          </a:xfrm>
          <a:prstGeom prst="rect">
            <a:avLst/>
          </a:prstGeom>
        </p:spPr>
      </p:pic>
      <p:sp>
        <p:nvSpPr>
          <p:cNvPr id="125" name="Text 57"/>
          <p:cNvSpPr/>
          <p:nvPr/>
        </p:nvSpPr>
        <p:spPr>
          <a:xfrm>
            <a:off x="146304" y="19312128"/>
            <a:ext cx="1883664" cy="420624"/>
          </a:xfrm>
          <a:prstGeom prst="rect">
            <a:avLst/>
          </a:prstGeom>
          <a:noFill/>
          <a:ln/>
        </p:spPr>
        <p:txBody>
          <a:bodyPr wrap="square" lIns="0" tIns="0" rIns="0" bIns="0" rtlCol="0" anchor="ctr"/>
          <a:lstStyle/>
          <a:p>
            <a:pPr indent="0" marL="0">
              <a:buNone/>
            </a:pPr>
            <a:r>
              <a:rPr lang="en-US" sz="2800" b="1" dirty="0">
                <a:solidFill>
                  <a:srgbClr val="202020"/>
                </a:solidFill>
                <a:latin typeface="Liberation Serif" pitchFamily="34" charset="0"/>
                <a:ea typeface="Liberation Serif" pitchFamily="34" charset="-122"/>
                <a:cs typeface="Liberation Serif" pitchFamily="34" charset="-120"/>
              </a:rPr>
              <a:t>Long</a:t>
            </a:r>
            <a:endParaRPr lang="en-US" sz="2800" dirty="0"/>
          </a:p>
        </p:txBody>
      </p:sp>
      <p:sp>
        <p:nvSpPr>
          <p:cNvPr id="126" name="Text 58"/>
          <p:cNvSpPr/>
          <p:nvPr/>
        </p:nvSpPr>
        <p:spPr>
          <a:xfrm>
            <a:off x="2121408" y="19312128"/>
            <a:ext cx="7973568" cy="420624"/>
          </a:xfrm>
          <a:prstGeom prst="rect">
            <a:avLst/>
          </a:prstGeom>
          <a:noFill/>
          <a:ln/>
        </p:spPr>
        <p:txBody>
          <a:bodyPr wrap="square" lIns="0" tIns="0" rIns="0" bIns="0" rtlCol="0" anchor="ctr"/>
          <a:lstStyle/>
          <a:p>
            <a:pPr indent="0" marL="0">
              <a:buNone/>
            </a:pPr>
            <a:r>
              <a:rPr lang="en-US" sz="2700" dirty="0">
                <a:solidFill>
                  <a:srgbClr val="202020"/>
                </a:solidFill>
                <a:latin typeface="Liberation Serif" pitchFamily="34" charset="0"/>
                <a:ea typeface="Liberation Serif" pitchFamily="34" charset="-122"/>
                <a:cs typeface="Liberation Serif" pitchFamily="34" charset="-120"/>
              </a:rPr>
              <a:t>Two mugs → left and right plates</a:t>
            </a:r>
            <a:endParaRPr lang="en-US" sz="2700" dirty="0"/>
          </a:p>
        </p:txBody>
      </p:sp>
      <p:sp>
        <p:nvSpPr>
          <p:cNvPr id="127" name="Text 59"/>
          <p:cNvSpPr/>
          <p:nvPr/>
        </p:nvSpPr>
        <p:spPr>
          <a:xfrm>
            <a:off x="10259568" y="19312128"/>
            <a:ext cx="1813530" cy="420624"/>
          </a:xfrm>
          <a:prstGeom prst="rect">
            <a:avLst/>
          </a:prstGeom>
          <a:noFill/>
          <a:ln/>
        </p:spPr>
        <p:txBody>
          <a:bodyPr wrap="square" lIns="0" tIns="0" rIns="0" bIns="0" rtlCol="0" anchor="ctr"/>
          <a:lstStyle/>
          <a:p>
            <a:pPr algn="r" indent="0" marL="0">
              <a:buNone/>
            </a:pPr>
            <a:r>
              <a:rPr lang="en-US" sz="2600" dirty="0">
                <a:solidFill>
                  <a:srgbClr val="666666"/>
                </a:solidFill>
                <a:latin typeface="Liberation Serif" pitchFamily="34" charset="0"/>
                <a:ea typeface="Liberation Serif" pitchFamily="34" charset="-122"/>
                <a:cs typeface="Liberation Serif" pitchFamily="34" charset="-120"/>
              </a:rPr>
              <a:t>Success</a:t>
            </a:r>
            <a:endParaRPr lang="en-US" sz="2600" dirty="0"/>
          </a:p>
        </p:txBody>
      </p:sp>
      <p:pic>
        <p:nvPicPr>
          <p:cNvPr id="128" name="Image 66" descr="ACPD, right view, LIBERO-long, task 4, episode 34, recorded step 0, success">    </p:cNvPr>
          <p:cNvPicPr>
            <a:picLocks noChangeAspect="1"/>
          </p:cNvPicPr>
          <p:nvPr/>
        </p:nvPicPr>
        <p:blipFill>
          <a:blip r:embed="rId67"/>
          <a:stretch>
            <a:fillRect/>
          </a:stretch>
        </p:blipFill>
        <p:spPr>
          <a:xfrm>
            <a:off x="146304" y="19760184"/>
            <a:ext cx="1961129" cy="1961129"/>
          </a:xfrm>
          <a:prstGeom prst="rect">
            <a:avLst/>
          </a:prstGeom>
        </p:spPr>
      </p:pic>
      <p:pic>
        <p:nvPicPr>
          <p:cNvPr id="129" name="Image 67" descr="ACPD, right view, LIBERO-long, task 4, episode 34, recorded step 51, success">    </p:cNvPr>
          <p:cNvPicPr>
            <a:picLocks noChangeAspect="1"/>
          </p:cNvPicPr>
          <p:nvPr/>
        </p:nvPicPr>
        <p:blipFill>
          <a:blip r:embed="rId68"/>
          <a:stretch>
            <a:fillRect/>
          </a:stretch>
        </p:blipFill>
        <p:spPr>
          <a:xfrm>
            <a:off x="2139437" y="19760184"/>
            <a:ext cx="1961129" cy="1961129"/>
          </a:xfrm>
          <a:prstGeom prst="rect">
            <a:avLst/>
          </a:prstGeom>
        </p:spPr>
      </p:pic>
      <p:pic>
        <p:nvPicPr>
          <p:cNvPr id="130" name="Image 68" descr="ACPD, right view, LIBERO-long, task 4, episode 34, recorded step 101, success">    </p:cNvPr>
          <p:cNvPicPr>
            <a:picLocks noChangeAspect="1"/>
          </p:cNvPicPr>
          <p:nvPr/>
        </p:nvPicPr>
        <p:blipFill>
          <a:blip r:embed="rId69"/>
          <a:stretch>
            <a:fillRect/>
          </a:stretch>
        </p:blipFill>
        <p:spPr>
          <a:xfrm>
            <a:off x="4132570" y="19760184"/>
            <a:ext cx="1961129" cy="1961129"/>
          </a:xfrm>
          <a:prstGeom prst="rect">
            <a:avLst/>
          </a:prstGeom>
        </p:spPr>
      </p:pic>
      <p:pic>
        <p:nvPicPr>
          <p:cNvPr id="131" name="Image 69" descr="ACPD, right view, LIBERO-long, task 4, episode 34, recorded step 152, success">    </p:cNvPr>
          <p:cNvPicPr>
            <a:picLocks noChangeAspect="1"/>
          </p:cNvPicPr>
          <p:nvPr/>
        </p:nvPicPr>
        <p:blipFill>
          <a:blip r:embed="rId70"/>
          <a:stretch>
            <a:fillRect/>
          </a:stretch>
        </p:blipFill>
        <p:spPr>
          <a:xfrm>
            <a:off x="6125703" y="19760184"/>
            <a:ext cx="1961129" cy="1961129"/>
          </a:xfrm>
          <a:prstGeom prst="rect">
            <a:avLst/>
          </a:prstGeom>
        </p:spPr>
      </p:pic>
      <p:pic>
        <p:nvPicPr>
          <p:cNvPr id="132" name="Image 70" descr="ACPD, right view, LIBERO-long, task 4, episode 34, recorded step 202, success">    </p:cNvPr>
          <p:cNvPicPr>
            <a:picLocks noChangeAspect="1"/>
          </p:cNvPicPr>
          <p:nvPr/>
        </p:nvPicPr>
        <p:blipFill>
          <a:blip r:embed="rId71"/>
          <a:stretch>
            <a:fillRect/>
          </a:stretch>
        </p:blipFill>
        <p:spPr>
          <a:xfrm>
            <a:off x="8118836" y="19760184"/>
            <a:ext cx="1961129" cy="1961129"/>
          </a:xfrm>
          <a:prstGeom prst="rect">
            <a:avLst/>
          </a:prstGeom>
        </p:spPr>
      </p:pic>
      <p:pic>
        <p:nvPicPr>
          <p:cNvPr id="133" name="Image 71" descr="ACPD, right view, LIBERO-long, task 4, episode 34, recorded step 253, success">    </p:cNvPr>
          <p:cNvPicPr>
            <a:picLocks noChangeAspect="1"/>
          </p:cNvPicPr>
          <p:nvPr/>
        </p:nvPicPr>
        <p:blipFill>
          <a:blip r:embed="rId72"/>
          <a:stretch>
            <a:fillRect/>
          </a:stretch>
        </p:blipFill>
        <p:spPr>
          <a:xfrm>
            <a:off x="10111969" y="19760184"/>
            <a:ext cx="1961129" cy="1961129"/>
          </a:xfrm>
          <a:prstGeom prst="rect">
            <a:avLst/>
          </a:prstGeom>
        </p:spPr>
      </p:pic>
      <p:sp>
        <p:nvSpPr>
          <p:cNvPr id="134" name="Text 60"/>
          <p:cNvSpPr/>
          <p:nvPr/>
        </p:nvSpPr>
        <p:spPr>
          <a:xfrm>
            <a:off x="12310842" y="11009376"/>
            <a:ext cx="7315200" cy="566928"/>
          </a:xfrm>
          <a:prstGeom prst="rect">
            <a:avLst/>
          </a:prstGeom>
          <a:noFill/>
          <a:ln/>
        </p:spPr>
        <p:txBody>
          <a:bodyPr wrap="square" lIns="0" tIns="0" rIns="0" bIns="0" rtlCol="0" anchor="ctr"/>
          <a:lstStyle/>
          <a:p>
            <a:pPr indent="0" marL="0">
              <a:buNone/>
            </a:pPr>
            <a:r>
              <a:rPr lang="en-US" sz="3800" b="1" dirty="0">
                <a:solidFill>
                  <a:srgbClr val="9E4C7E"/>
                </a:solidFill>
                <a:latin typeface="Liberation Serif" pitchFamily="34" charset="0"/>
                <a:ea typeface="Liberation Serif" pitchFamily="34" charset="-122"/>
                <a:cs typeface="Liberation Serif" pitchFamily="34" charset="-120"/>
              </a:rPr>
              <a:t>(d)  Top view</a:t>
            </a:r>
            <a:endParaRPr lang="en-US" sz="3800" dirty="0"/>
          </a:p>
        </p:txBody>
      </p:sp>
      <p:sp>
        <p:nvSpPr>
          <p:cNvPr id="135" name="Text 61"/>
          <p:cNvSpPr/>
          <p:nvPr/>
        </p:nvSpPr>
        <p:spPr>
          <a:xfrm>
            <a:off x="19671762" y="11082528"/>
            <a:ext cx="4565874" cy="411480"/>
          </a:xfrm>
          <a:prstGeom prst="rect">
            <a:avLst/>
          </a:prstGeom>
          <a:noFill/>
          <a:ln/>
        </p:spPr>
        <p:txBody>
          <a:bodyPr wrap="square" lIns="0" tIns="0" rIns="0" bIns="0" rtlCol="0" anchor="ctr"/>
          <a:lstStyle/>
          <a:p>
            <a:pPr algn="r" indent="0" marL="0">
              <a:buNone/>
            </a:pPr>
            <a:r>
              <a:rPr lang="en-US" sz="2800" dirty="0">
                <a:solidFill>
                  <a:srgbClr val="666666"/>
                </a:solidFill>
                <a:latin typeface="Liberation Serif" pitchFamily="34" charset="0"/>
                <a:ea typeface="Liberation Serif" pitchFamily="34" charset="-122"/>
                <a:cs typeface="Liberation Serif" pitchFamily="34" charset="-120"/>
              </a:rPr>
              <a:t>Episode progress →</a:t>
            </a:r>
            <a:endParaRPr lang="en-US" sz="2800" dirty="0"/>
          </a:p>
        </p:txBody>
      </p:sp>
      <p:sp>
        <p:nvSpPr>
          <p:cNvPr id="136" name="Text 62"/>
          <p:cNvSpPr/>
          <p:nvPr/>
        </p:nvSpPr>
        <p:spPr>
          <a:xfrm>
            <a:off x="12310842" y="11585448"/>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Start</a:t>
            </a:r>
            <a:endParaRPr lang="en-US" sz="2700" dirty="0"/>
          </a:p>
        </p:txBody>
      </p:sp>
      <p:sp>
        <p:nvSpPr>
          <p:cNvPr id="137" name="Text 63"/>
          <p:cNvSpPr/>
          <p:nvPr/>
        </p:nvSpPr>
        <p:spPr>
          <a:xfrm>
            <a:off x="14303974" y="11585448"/>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20%</a:t>
            </a:r>
            <a:endParaRPr lang="en-US" sz="2700" dirty="0"/>
          </a:p>
        </p:txBody>
      </p:sp>
      <p:sp>
        <p:nvSpPr>
          <p:cNvPr id="138" name="Text 64"/>
          <p:cNvSpPr/>
          <p:nvPr/>
        </p:nvSpPr>
        <p:spPr>
          <a:xfrm>
            <a:off x="16297107" y="11585448"/>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40%</a:t>
            </a:r>
            <a:endParaRPr lang="en-US" sz="2700" dirty="0"/>
          </a:p>
        </p:txBody>
      </p:sp>
      <p:sp>
        <p:nvSpPr>
          <p:cNvPr id="139" name="Text 65"/>
          <p:cNvSpPr/>
          <p:nvPr/>
        </p:nvSpPr>
        <p:spPr>
          <a:xfrm>
            <a:off x="18290240" y="11585448"/>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60%</a:t>
            </a:r>
            <a:endParaRPr lang="en-US" sz="2700" dirty="0"/>
          </a:p>
        </p:txBody>
      </p:sp>
      <p:sp>
        <p:nvSpPr>
          <p:cNvPr id="140" name="Text 66"/>
          <p:cNvSpPr/>
          <p:nvPr/>
        </p:nvSpPr>
        <p:spPr>
          <a:xfrm>
            <a:off x="20283373" y="11585448"/>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80%</a:t>
            </a:r>
            <a:endParaRPr lang="en-US" sz="2700" dirty="0"/>
          </a:p>
        </p:txBody>
      </p:sp>
      <p:sp>
        <p:nvSpPr>
          <p:cNvPr id="141" name="Text 67"/>
          <p:cNvSpPr/>
          <p:nvPr/>
        </p:nvSpPr>
        <p:spPr>
          <a:xfrm>
            <a:off x="22276506" y="11585448"/>
            <a:ext cx="1961129" cy="393192"/>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End</a:t>
            </a:r>
            <a:endParaRPr lang="en-US" sz="2700" dirty="0"/>
          </a:p>
        </p:txBody>
      </p:sp>
      <p:sp>
        <p:nvSpPr>
          <p:cNvPr id="142" name="Text 68"/>
          <p:cNvSpPr/>
          <p:nvPr/>
        </p:nvSpPr>
        <p:spPr>
          <a:xfrm>
            <a:off x="12310842" y="12015216"/>
            <a:ext cx="1883664" cy="420624"/>
          </a:xfrm>
          <a:prstGeom prst="rect">
            <a:avLst/>
          </a:prstGeom>
          <a:noFill/>
          <a:ln/>
        </p:spPr>
        <p:txBody>
          <a:bodyPr wrap="square" lIns="0" tIns="0" rIns="0" bIns="0" rtlCol="0" anchor="ctr"/>
          <a:lstStyle/>
          <a:p>
            <a:pPr indent="0" marL="0">
              <a:buNone/>
            </a:pPr>
            <a:r>
              <a:rPr lang="en-US" sz="2800" b="1" dirty="0">
                <a:solidFill>
                  <a:srgbClr val="202020"/>
                </a:solidFill>
                <a:latin typeface="Liberation Serif" pitchFamily="34" charset="0"/>
                <a:ea typeface="Liberation Serif" pitchFamily="34" charset="-122"/>
                <a:cs typeface="Liberation Serif" pitchFamily="34" charset="-120"/>
              </a:rPr>
              <a:t>Spatial</a:t>
            </a:r>
            <a:endParaRPr lang="en-US" sz="2800" dirty="0"/>
          </a:p>
        </p:txBody>
      </p:sp>
      <p:sp>
        <p:nvSpPr>
          <p:cNvPr id="143" name="Text 69"/>
          <p:cNvSpPr/>
          <p:nvPr/>
        </p:nvSpPr>
        <p:spPr>
          <a:xfrm>
            <a:off x="14285946" y="12015216"/>
            <a:ext cx="7973568" cy="420624"/>
          </a:xfrm>
          <a:prstGeom prst="rect">
            <a:avLst/>
          </a:prstGeom>
          <a:noFill/>
          <a:ln/>
        </p:spPr>
        <p:txBody>
          <a:bodyPr wrap="square" lIns="0" tIns="0" rIns="0" bIns="0" rtlCol="0" anchor="ctr"/>
          <a:lstStyle/>
          <a:p>
            <a:pPr indent="0" marL="0">
              <a:buNone/>
            </a:pPr>
            <a:r>
              <a:rPr lang="en-US" sz="2700" dirty="0">
                <a:solidFill>
                  <a:srgbClr val="202020"/>
                </a:solidFill>
                <a:latin typeface="Liberation Serif" pitchFamily="34" charset="0"/>
                <a:ea typeface="Liberation Serif" pitchFamily="34" charset="-122"/>
                <a:cs typeface="Liberation Serif" pitchFamily="34" charset="-120"/>
              </a:rPr>
              <a:t>Bowl on stove → plate</a:t>
            </a:r>
            <a:endParaRPr lang="en-US" sz="2700" dirty="0"/>
          </a:p>
        </p:txBody>
      </p:sp>
      <p:sp>
        <p:nvSpPr>
          <p:cNvPr id="144" name="Text 70"/>
          <p:cNvSpPr/>
          <p:nvPr/>
        </p:nvSpPr>
        <p:spPr>
          <a:xfrm>
            <a:off x="22424106" y="12015216"/>
            <a:ext cx="1813530" cy="420624"/>
          </a:xfrm>
          <a:prstGeom prst="rect">
            <a:avLst/>
          </a:prstGeom>
          <a:noFill/>
          <a:ln/>
        </p:spPr>
        <p:txBody>
          <a:bodyPr wrap="square" lIns="0" tIns="0" rIns="0" bIns="0" rtlCol="0" anchor="ctr"/>
          <a:lstStyle/>
          <a:p>
            <a:pPr algn="r" indent="0" marL="0">
              <a:buNone/>
            </a:pPr>
            <a:r>
              <a:rPr lang="en-US" sz="2600" dirty="0">
                <a:solidFill>
                  <a:srgbClr val="666666"/>
                </a:solidFill>
                <a:latin typeface="Liberation Serif" pitchFamily="34" charset="0"/>
                <a:ea typeface="Liberation Serif" pitchFamily="34" charset="-122"/>
                <a:cs typeface="Liberation Serif" pitchFamily="34" charset="-120"/>
              </a:rPr>
              <a:t>Success</a:t>
            </a:r>
            <a:endParaRPr lang="en-US" sz="2600" dirty="0"/>
          </a:p>
        </p:txBody>
      </p:sp>
      <p:pic>
        <p:nvPicPr>
          <p:cNvPr id="145" name="Image 72" descr="ACPD, top view, LIBERO-spatial, task 7, episode 4, recorded step 0, success">    </p:cNvPr>
          <p:cNvPicPr>
            <a:picLocks noChangeAspect="1"/>
          </p:cNvPicPr>
          <p:nvPr/>
        </p:nvPicPr>
        <p:blipFill>
          <a:blip r:embed="rId73"/>
          <a:stretch>
            <a:fillRect/>
          </a:stretch>
        </p:blipFill>
        <p:spPr>
          <a:xfrm>
            <a:off x="12310842" y="12463272"/>
            <a:ext cx="1961129" cy="1961129"/>
          </a:xfrm>
          <a:prstGeom prst="rect">
            <a:avLst/>
          </a:prstGeom>
        </p:spPr>
      </p:pic>
      <p:pic>
        <p:nvPicPr>
          <p:cNvPr id="146" name="Image 73" descr="ACPD, top view, LIBERO-spatial, task 7, episode 4, recorded step 36, success">    </p:cNvPr>
          <p:cNvPicPr>
            <a:picLocks noChangeAspect="1"/>
          </p:cNvPicPr>
          <p:nvPr/>
        </p:nvPicPr>
        <p:blipFill>
          <a:blip r:embed="rId74"/>
          <a:stretch>
            <a:fillRect/>
          </a:stretch>
        </p:blipFill>
        <p:spPr>
          <a:xfrm>
            <a:off x="14303974" y="12463272"/>
            <a:ext cx="1961129" cy="1961129"/>
          </a:xfrm>
          <a:prstGeom prst="rect">
            <a:avLst/>
          </a:prstGeom>
        </p:spPr>
      </p:pic>
      <p:pic>
        <p:nvPicPr>
          <p:cNvPr id="147" name="Image 74" descr="ACPD, top view, LIBERO-spatial, task 7, episode 4, recorded step 73, success">    </p:cNvPr>
          <p:cNvPicPr>
            <a:picLocks noChangeAspect="1"/>
          </p:cNvPicPr>
          <p:nvPr/>
        </p:nvPicPr>
        <p:blipFill>
          <a:blip r:embed="rId75"/>
          <a:stretch>
            <a:fillRect/>
          </a:stretch>
        </p:blipFill>
        <p:spPr>
          <a:xfrm>
            <a:off x="16297107" y="12463272"/>
            <a:ext cx="1961129" cy="1961129"/>
          </a:xfrm>
          <a:prstGeom prst="rect">
            <a:avLst/>
          </a:prstGeom>
        </p:spPr>
      </p:pic>
      <p:pic>
        <p:nvPicPr>
          <p:cNvPr id="148" name="Image 75" descr="ACPD, top view, LIBERO-spatial, task 7, episode 4, recorded step 109, success">    </p:cNvPr>
          <p:cNvPicPr>
            <a:picLocks noChangeAspect="1"/>
          </p:cNvPicPr>
          <p:nvPr/>
        </p:nvPicPr>
        <p:blipFill>
          <a:blip r:embed="rId76"/>
          <a:stretch>
            <a:fillRect/>
          </a:stretch>
        </p:blipFill>
        <p:spPr>
          <a:xfrm>
            <a:off x="18290240" y="12463272"/>
            <a:ext cx="1961129" cy="1961129"/>
          </a:xfrm>
          <a:prstGeom prst="rect">
            <a:avLst/>
          </a:prstGeom>
        </p:spPr>
      </p:pic>
      <p:pic>
        <p:nvPicPr>
          <p:cNvPr id="149" name="Image 76" descr="ACPD, top view, LIBERO-spatial, task 7, episode 4, recorded step 146, success">    </p:cNvPr>
          <p:cNvPicPr>
            <a:picLocks noChangeAspect="1"/>
          </p:cNvPicPr>
          <p:nvPr/>
        </p:nvPicPr>
        <p:blipFill>
          <a:blip r:embed="rId77"/>
          <a:stretch>
            <a:fillRect/>
          </a:stretch>
        </p:blipFill>
        <p:spPr>
          <a:xfrm>
            <a:off x="20283373" y="12463272"/>
            <a:ext cx="1961129" cy="1961129"/>
          </a:xfrm>
          <a:prstGeom prst="rect">
            <a:avLst/>
          </a:prstGeom>
        </p:spPr>
      </p:pic>
      <p:pic>
        <p:nvPicPr>
          <p:cNvPr id="150" name="Image 77" descr="ACPD, top view, LIBERO-spatial, task 7, episode 4, recorded step 182, success">    </p:cNvPr>
          <p:cNvPicPr>
            <a:picLocks noChangeAspect="1"/>
          </p:cNvPicPr>
          <p:nvPr/>
        </p:nvPicPr>
        <p:blipFill>
          <a:blip r:embed="rId78"/>
          <a:stretch>
            <a:fillRect/>
          </a:stretch>
        </p:blipFill>
        <p:spPr>
          <a:xfrm>
            <a:off x="22276506" y="12463272"/>
            <a:ext cx="1961129" cy="1961129"/>
          </a:xfrm>
          <a:prstGeom prst="rect">
            <a:avLst/>
          </a:prstGeom>
        </p:spPr>
      </p:pic>
      <p:sp>
        <p:nvSpPr>
          <p:cNvPr id="151" name="Text 71"/>
          <p:cNvSpPr/>
          <p:nvPr/>
        </p:nvSpPr>
        <p:spPr>
          <a:xfrm>
            <a:off x="12310842" y="14447520"/>
            <a:ext cx="1883664" cy="420624"/>
          </a:xfrm>
          <a:prstGeom prst="rect">
            <a:avLst/>
          </a:prstGeom>
          <a:noFill/>
          <a:ln/>
        </p:spPr>
        <p:txBody>
          <a:bodyPr wrap="square" lIns="0" tIns="0" rIns="0" bIns="0" rtlCol="0" anchor="ctr"/>
          <a:lstStyle/>
          <a:p>
            <a:pPr indent="0" marL="0">
              <a:buNone/>
            </a:pPr>
            <a:r>
              <a:rPr lang="en-US" sz="2800" b="1" dirty="0">
                <a:solidFill>
                  <a:srgbClr val="202020"/>
                </a:solidFill>
                <a:latin typeface="Liberation Serif" pitchFamily="34" charset="0"/>
                <a:ea typeface="Liberation Serif" pitchFamily="34" charset="-122"/>
                <a:cs typeface="Liberation Serif" pitchFamily="34" charset="-120"/>
              </a:rPr>
              <a:t>Object</a:t>
            </a:r>
            <a:endParaRPr lang="en-US" sz="2800" dirty="0"/>
          </a:p>
        </p:txBody>
      </p:sp>
      <p:sp>
        <p:nvSpPr>
          <p:cNvPr id="152" name="Text 72"/>
          <p:cNvSpPr/>
          <p:nvPr/>
        </p:nvSpPr>
        <p:spPr>
          <a:xfrm>
            <a:off x="14285946" y="14447520"/>
            <a:ext cx="7973568" cy="420624"/>
          </a:xfrm>
          <a:prstGeom prst="rect">
            <a:avLst/>
          </a:prstGeom>
          <a:noFill/>
          <a:ln/>
        </p:spPr>
        <p:txBody>
          <a:bodyPr wrap="square" lIns="0" tIns="0" rIns="0" bIns="0" rtlCol="0" anchor="ctr"/>
          <a:lstStyle/>
          <a:p>
            <a:pPr indent="0" marL="0">
              <a:buNone/>
            </a:pPr>
            <a:r>
              <a:rPr lang="en-US" sz="2700" dirty="0">
                <a:solidFill>
                  <a:srgbClr val="202020"/>
                </a:solidFill>
                <a:latin typeface="Liberation Serif" pitchFamily="34" charset="0"/>
                <a:ea typeface="Liberation Serif" pitchFamily="34" charset="-122"/>
                <a:cs typeface="Liberation Serif" pitchFamily="34" charset="-120"/>
              </a:rPr>
              <a:t>Ketchup → basket</a:t>
            </a:r>
            <a:endParaRPr lang="en-US" sz="2700" dirty="0"/>
          </a:p>
        </p:txBody>
      </p:sp>
      <p:sp>
        <p:nvSpPr>
          <p:cNvPr id="153" name="Text 73"/>
          <p:cNvSpPr/>
          <p:nvPr/>
        </p:nvSpPr>
        <p:spPr>
          <a:xfrm>
            <a:off x="22424106" y="14447520"/>
            <a:ext cx="1813530" cy="420624"/>
          </a:xfrm>
          <a:prstGeom prst="rect">
            <a:avLst/>
          </a:prstGeom>
          <a:noFill/>
          <a:ln/>
        </p:spPr>
        <p:txBody>
          <a:bodyPr wrap="square" lIns="0" tIns="0" rIns="0" bIns="0" rtlCol="0" anchor="ctr"/>
          <a:lstStyle/>
          <a:p>
            <a:pPr algn="r" indent="0" marL="0">
              <a:buNone/>
            </a:pPr>
            <a:r>
              <a:rPr lang="en-US" sz="2600" dirty="0">
                <a:solidFill>
                  <a:srgbClr val="666666"/>
                </a:solidFill>
                <a:latin typeface="Liberation Serif" pitchFamily="34" charset="0"/>
                <a:ea typeface="Liberation Serif" pitchFamily="34" charset="-122"/>
                <a:cs typeface="Liberation Serif" pitchFamily="34" charset="-120"/>
              </a:rPr>
              <a:t>Success</a:t>
            </a:r>
            <a:endParaRPr lang="en-US" sz="2600" dirty="0"/>
          </a:p>
        </p:txBody>
      </p:sp>
      <p:pic>
        <p:nvPicPr>
          <p:cNvPr id="154" name="Image 78" descr="ACPD, top view, LIBERO-object, task 4, episode 17, recorded step 0, success">    </p:cNvPr>
          <p:cNvPicPr>
            <a:picLocks noChangeAspect="1"/>
          </p:cNvPicPr>
          <p:nvPr/>
        </p:nvPicPr>
        <p:blipFill>
          <a:blip r:embed="rId79"/>
          <a:stretch>
            <a:fillRect/>
          </a:stretch>
        </p:blipFill>
        <p:spPr>
          <a:xfrm>
            <a:off x="12310842" y="14895576"/>
            <a:ext cx="1961129" cy="1961129"/>
          </a:xfrm>
          <a:prstGeom prst="rect">
            <a:avLst/>
          </a:prstGeom>
        </p:spPr>
      </p:pic>
      <p:pic>
        <p:nvPicPr>
          <p:cNvPr id="155" name="Image 79" descr="ACPD, top view, LIBERO-object, task 4, episode 17, recorded step 32, success">    </p:cNvPr>
          <p:cNvPicPr>
            <a:picLocks noChangeAspect="1"/>
          </p:cNvPicPr>
          <p:nvPr/>
        </p:nvPicPr>
        <p:blipFill>
          <a:blip r:embed="rId80"/>
          <a:stretch>
            <a:fillRect/>
          </a:stretch>
        </p:blipFill>
        <p:spPr>
          <a:xfrm>
            <a:off x="14303974" y="14895576"/>
            <a:ext cx="1961129" cy="1961129"/>
          </a:xfrm>
          <a:prstGeom prst="rect">
            <a:avLst/>
          </a:prstGeom>
        </p:spPr>
      </p:pic>
      <p:pic>
        <p:nvPicPr>
          <p:cNvPr id="156" name="Image 80" descr="ACPD, top view, LIBERO-object, task 4, episode 17, recorded step 64, success">    </p:cNvPr>
          <p:cNvPicPr>
            <a:picLocks noChangeAspect="1"/>
          </p:cNvPicPr>
          <p:nvPr/>
        </p:nvPicPr>
        <p:blipFill>
          <a:blip r:embed="rId81"/>
          <a:stretch>
            <a:fillRect/>
          </a:stretch>
        </p:blipFill>
        <p:spPr>
          <a:xfrm>
            <a:off x="16297107" y="14895576"/>
            <a:ext cx="1961129" cy="1961129"/>
          </a:xfrm>
          <a:prstGeom prst="rect">
            <a:avLst/>
          </a:prstGeom>
        </p:spPr>
      </p:pic>
      <p:pic>
        <p:nvPicPr>
          <p:cNvPr id="157" name="Image 81" descr="ACPD, top view, LIBERO-object, task 4, episode 17, recorded step 97, success">    </p:cNvPr>
          <p:cNvPicPr>
            <a:picLocks noChangeAspect="1"/>
          </p:cNvPicPr>
          <p:nvPr/>
        </p:nvPicPr>
        <p:blipFill>
          <a:blip r:embed="rId82"/>
          <a:stretch>
            <a:fillRect/>
          </a:stretch>
        </p:blipFill>
        <p:spPr>
          <a:xfrm>
            <a:off x="18290240" y="14895576"/>
            <a:ext cx="1961129" cy="1961129"/>
          </a:xfrm>
          <a:prstGeom prst="rect">
            <a:avLst/>
          </a:prstGeom>
        </p:spPr>
      </p:pic>
      <p:pic>
        <p:nvPicPr>
          <p:cNvPr id="158" name="Image 82" descr="ACPD, top view, LIBERO-object, task 4, episode 17, recorded step 129, success">    </p:cNvPr>
          <p:cNvPicPr>
            <a:picLocks noChangeAspect="1"/>
          </p:cNvPicPr>
          <p:nvPr/>
        </p:nvPicPr>
        <p:blipFill>
          <a:blip r:embed="rId83"/>
          <a:stretch>
            <a:fillRect/>
          </a:stretch>
        </p:blipFill>
        <p:spPr>
          <a:xfrm>
            <a:off x="20283373" y="14895576"/>
            <a:ext cx="1961129" cy="1961129"/>
          </a:xfrm>
          <a:prstGeom prst="rect">
            <a:avLst/>
          </a:prstGeom>
        </p:spPr>
      </p:pic>
      <p:pic>
        <p:nvPicPr>
          <p:cNvPr id="159" name="Image 83" descr="ACPD, top view, LIBERO-object, task 4, episode 17, recorded step 161, success">    </p:cNvPr>
          <p:cNvPicPr>
            <a:picLocks noChangeAspect="1"/>
          </p:cNvPicPr>
          <p:nvPr/>
        </p:nvPicPr>
        <p:blipFill>
          <a:blip r:embed="rId84"/>
          <a:stretch>
            <a:fillRect/>
          </a:stretch>
        </p:blipFill>
        <p:spPr>
          <a:xfrm>
            <a:off x="22276506" y="14895576"/>
            <a:ext cx="1961129" cy="1961129"/>
          </a:xfrm>
          <a:prstGeom prst="rect">
            <a:avLst/>
          </a:prstGeom>
        </p:spPr>
      </p:pic>
      <p:sp>
        <p:nvSpPr>
          <p:cNvPr id="160" name="Text 74"/>
          <p:cNvSpPr/>
          <p:nvPr/>
        </p:nvSpPr>
        <p:spPr>
          <a:xfrm>
            <a:off x="12310842" y="16879824"/>
            <a:ext cx="1883664" cy="420624"/>
          </a:xfrm>
          <a:prstGeom prst="rect">
            <a:avLst/>
          </a:prstGeom>
          <a:noFill/>
          <a:ln/>
        </p:spPr>
        <p:txBody>
          <a:bodyPr wrap="square" lIns="0" tIns="0" rIns="0" bIns="0" rtlCol="0" anchor="ctr"/>
          <a:lstStyle/>
          <a:p>
            <a:pPr indent="0" marL="0">
              <a:buNone/>
            </a:pPr>
            <a:r>
              <a:rPr lang="en-US" sz="2800" b="1" dirty="0">
                <a:solidFill>
                  <a:srgbClr val="202020"/>
                </a:solidFill>
                <a:latin typeface="Liberation Serif" pitchFamily="34" charset="0"/>
                <a:ea typeface="Liberation Serif" pitchFamily="34" charset="-122"/>
                <a:cs typeface="Liberation Serif" pitchFamily="34" charset="-120"/>
              </a:rPr>
              <a:t>Goal</a:t>
            </a:r>
            <a:endParaRPr lang="en-US" sz="2800" dirty="0"/>
          </a:p>
        </p:txBody>
      </p:sp>
      <p:sp>
        <p:nvSpPr>
          <p:cNvPr id="161" name="Text 75"/>
          <p:cNvSpPr/>
          <p:nvPr/>
        </p:nvSpPr>
        <p:spPr>
          <a:xfrm>
            <a:off x="14285946" y="16879824"/>
            <a:ext cx="7973568" cy="420624"/>
          </a:xfrm>
          <a:prstGeom prst="rect">
            <a:avLst/>
          </a:prstGeom>
          <a:noFill/>
          <a:ln/>
        </p:spPr>
        <p:txBody>
          <a:bodyPr wrap="square" lIns="0" tIns="0" rIns="0" bIns="0" rtlCol="0" anchor="ctr"/>
          <a:lstStyle/>
          <a:p>
            <a:pPr indent="0" marL="0">
              <a:buNone/>
            </a:pPr>
            <a:r>
              <a:rPr lang="en-US" sz="2700" dirty="0">
                <a:solidFill>
                  <a:srgbClr val="202020"/>
                </a:solidFill>
                <a:latin typeface="Liberation Serif" pitchFamily="34" charset="0"/>
                <a:ea typeface="Liberation Serif" pitchFamily="34" charset="-122"/>
                <a:cs typeface="Liberation Serif" pitchFamily="34" charset="-120"/>
              </a:rPr>
              <a:t>Wine bottle → rack</a:t>
            </a:r>
            <a:endParaRPr lang="en-US" sz="2700" dirty="0"/>
          </a:p>
        </p:txBody>
      </p:sp>
      <p:sp>
        <p:nvSpPr>
          <p:cNvPr id="162" name="Text 76"/>
          <p:cNvSpPr/>
          <p:nvPr/>
        </p:nvSpPr>
        <p:spPr>
          <a:xfrm>
            <a:off x="22424106" y="16879824"/>
            <a:ext cx="1813530" cy="420624"/>
          </a:xfrm>
          <a:prstGeom prst="rect">
            <a:avLst/>
          </a:prstGeom>
          <a:noFill/>
          <a:ln/>
        </p:spPr>
        <p:txBody>
          <a:bodyPr wrap="square" lIns="0" tIns="0" rIns="0" bIns="0" rtlCol="0" anchor="ctr"/>
          <a:lstStyle/>
          <a:p>
            <a:pPr algn="r" indent="0" marL="0">
              <a:buNone/>
            </a:pPr>
            <a:r>
              <a:rPr lang="en-US" sz="2600" dirty="0">
                <a:solidFill>
                  <a:srgbClr val="666666"/>
                </a:solidFill>
                <a:latin typeface="Liberation Serif" pitchFamily="34" charset="0"/>
                <a:ea typeface="Liberation Serif" pitchFamily="34" charset="-122"/>
                <a:cs typeface="Liberation Serif" pitchFamily="34" charset="-120"/>
              </a:rPr>
              <a:t>Failure</a:t>
            </a:r>
            <a:endParaRPr lang="en-US" sz="2600" dirty="0"/>
          </a:p>
        </p:txBody>
      </p:sp>
      <p:pic>
        <p:nvPicPr>
          <p:cNvPr id="163" name="Image 84" descr="ACPD, top view, LIBERO-goal, task 9, episode 2, recorded step 0, failure">    </p:cNvPr>
          <p:cNvPicPr>
            <a:picLocks noChangeAspect="1"/>
          </p:cNvPicPr>
          <p:nvPr/>
        </p:nvPicPr>
        <p:blipFill>
          <a:blip r:embed="rId85"/>
          <a:stretch>
            <a:fillRect/>
          </a:stretch>
        </p:blipFill>
        <p:spPr>
          <a:xfrm>
            <a:off x="12310842" y="17327880"/>
            <a:ext cx="1961129" cy="1961129"/>
          </a:xfrm>
          <a:prstGeom prst="rect">
            <a:avLst/>
          </a:prstGeom>
        </p:spPr>
      </p:pic>
      <p:pic>
        <p:nvPicPr>
          <p:cNvPr id="164" name="Image 85" descr="ACPD, top view, LIBERO-goal, task 9, episode 2, recorded step 60, failure">    </p:cNvPr>
          <p:cNvPicPr>
            <a:picLocks noChangeAspect="1"/>
          </p:cNvPicPr>
          <p:nvPr/>
        </p:nvPicPr>
        <p:blipFill>
          <a:blip r:embed="rId86"/>
          <a:stretch>
            <a:fillRect/>
          </a:stretch>
        </p:blipFill>
        <p:spPr>
          <a:xfrm>
            <a:off x="14303974" y="17327880"/>
            <a:ext cx="1961129" cy="1961129"/>
          </a:xfrm>
          <a:prstGeom prst="rect">
            <a:avLst/>
          </a:prstGeom>
        </p:spPr>
      </p:pic>
      <p:pic>
        <p:nvPicPr>
          <p:cNvPr id="165" name="Image 86" descr="ACPD, top view, LIBERO-goal, task 9, episode 2, recorded step 120, failure">    </p:cNvPr>
          <p:cNvPicPr>
            <a:picLocks noChangeAspect="1"/>
          </p:cNvPicPr>
          <p:nvPr/>
        </p:nvPicPr>
        <p:blipFill>
          <a:blip r:embed="rId87"/>
          <a:stretch>
            <a:fillRect/>
          </a:stretch>
        </p:blipFill>
        <p:spPr>
          <a:xfrm>
            <a:off x="16297107" y="17327880"/>
            <a:ext cx="1961129" cy="1961129"/>
          </a:xfrm>
          <a:prstGeom prst="rect">
            <a:avLst/>
          </a:prstGeom>
        </p:spPr>
      </p:pic>
      <p:pic>
        <p:nvPicPr>
          <p:cNvPr id="166" name="Image 87" descr="ACPD, top view, LIBERO-goal, task 9, episode 2, recorded step 179, failure">    </p:cNvPr>
          <p:cNvPicPr>
            <a:picLocks noChangeAspect="1"/>
          </p:cNvPicPr>
          <p:nvPr/>
        </p:nvPicPr>
        <p:blipFill>
          <a:blip r:embed="rId88"/>
          <a:stretch>
            <a:fillRect/>
          </a:stretch>
        </p:blipFill>
        <p:spPr>
          <a:xfrm>
            <a:off x="18290240" y="17327880"/>
            <a:ext cx="1961129" cy="1961129"/>
          </a:xfrm>
          <a:prstGeom prst="rect">
            <a:avLst/>
          </a:prstGeom>
        </p:spPr>
      </p:pic>
      <p:pic>
        <p:nvPicPr>
          <p:cNvPr id="167" name="Image 88" descr="ACPD, top view, LIBERO-goal, task 9, episode 2, recorded step 239, failure">    </p:cNvPr>
          <p:cNvPicPr>
            <a:picLocks noChangeAspect="1"/>
          </p:cNvPicPr>
          <p:nvPr/>
        </p:nvPicPr>
        <p:blipFill>
          <a:blip r:embed="rId89"/>
          <a:stretch>
            <a:fillRect/>
          </a:stretch>
        </p:blipFill>
        <p:spPr>
          <a:xfrm>
            <a:off x="20283373" y="17327880"/>
            <a:ext cx="1961129" cy="1961129"/>
          </a:xfrm>
          <a:prstGeom prst="rect">
            <a:avLst/>
          </a:prstGeom>
        </p:spPr>
      </p:pic>
      <p:pic>
        <p:nvPicPr>
          <p:cNvPr id="168" name="Image 89" descr="ACPD, top view, LIBERO-goal, task 9, episode 2, recorded step 299, failure">    </p:cNvPr>
          <p:cNvPicPr>
            <a:picLocks noChangeAspect="1"/>
          </p:cNvPicPr>
          <p:nvPr/>
        </p:nvPicPr>
        <p:blipFill>
          <a:blip r:embed="rId90"/>
          <a:stretch>
            <a:fillRect/>
          </a:stretch>
        </p:blipFill>
        <p:spPr>
          <a:xfrm>
            <a:off x="22276506" y="17327880"/>
            <a:ext cx="1961129" cy="1961129"/>
          </a:xfrm>
          <a:prstGeom prst="rect">
            <a:avLst/>
          </a:prstGeom>
        </p:spPr>
      </p:pic>
      <p:sp>
        <p:nvSpPr>
          <p:cNvPr id="169" name="Text 77"/>
          <p:cNvSpPr/>
          <p:nvPr/>
        </p:nvSpPr>
        <p:spPr>
          <a:xfrm>
            <a:off x="12310842" y="19312128"/>
            <a:ext cx="1883664" cy="420624"/>
          </a:xfrm>
          <a:prstGeom prst="rect">
            <a:avLst/>
          </a:prstGeom>
          <a:noFill/>
          <a:ln/>
        </p:spPr>
        <p:txBody>
          <a:bodyPr wrap="square" lIns="0" tIns="0" rIns="0" bIns="0" rtlCol="0" anchor="ctr"/>
          <a:lstStyle/>
          <a:p>
            <a:pPr indent="0" marL="0">
              <a:buNone/>
            </a:pPr>
            <a:r>
              <a:rPr lang="en-US" sz="2800" b="1" dirty="0">
                <a:solidFill>
                  <a:srgbClr val="202020"/>
                </a:solidFill>
                <a:latin typeface="Liberation Serif" pitchFamily="34" charset="0"/>
                <a:ea typeface="Liberation Serif" pitchFamily="34" charset="-122"/>
                <a:cs typeface="Liberation Serif" pitchFamily="34" charset="-120"/>
              </a:rPr>
              <a:t>Long</a:t>
            </a:r>
            <a:endParaRPr lang="en-US" sz="2800" dirty="0"/>
          </a:p>
        </p:txBody>
      </p:sp>
      <p:sp>
        <p:nvSpPr>
          <p:cNvPr id="170" name="Text 78"/>
          <p:cNvSpPr/>
          <p:nvPr/>
        </p:nvSpPr>
        <p:spPr>
          <a:xfrm>
            <a:off x="14285946" y="19312128"/>
            <a:ext cx="7973568" cy="420624"/>
          </a:xfrm>
          <a:prstGeom prst="rect">
            <a:avLst/>
          </a:prstGeom>
          <a:noFill/>
          <a:ln/>
        </p:spPr>
        <p:txBody>
          <a:bodyPr wrap="square" lIns="0" tIns="0" rIns="0" bIns="0" rtlCol="0" anchor="ctr"/>
          <a:lstStyle/>
          <a:p>
            <a:pPr indent="0" marL="0">
              <a:buNone/>
            </a:pPr>
            <a:r>
              <a:rPr lang="en-US" sz="2700" dirty="0">
                <a:solidFill>
                  <a:srgbClr val="202020"/>
                </a:solidFill>
                <a:latin typeface="Liberation Serif" pitchFamily="34" charset="0"/>
                <a:ea typeface="Liberation Serif" pitchFamily="34" charset="-122"/>
                <a:cs typeface="Liberation Serif" pitchFamily="34" charset="-120"/>
              </a:rPr>
              <a:t>Soup and tomato sauce → basket</a:t>
            </a:r>
            <a:endParaRPr lang="en-US" sz="2700" dirty="0"/>
          </a:p>
        </p:txBody>
      </p:sp>
      <p:sp>
        <p:nvSpPr>
          <p:cNvPr id="171" name="Text 79"/>
          <p:cNvSpPr/>
          <p:nvPr/>
        </p:nvSpPr>
        <p:spPr>
          <a:xfrm>
            <a:off x="22424106" y="19312128"/>
            <a:ext cx="1813530" cy="420624"/>
          </a:xfrm>
          <a:prstGeom prst="rect">
            <a:avLst/>
          </a:prstGeom>
          <a:noFill/>
          <a:ln/>
        </p:spPr>
        <p:txBody>
          <a:bodyPr wrap="square" lIns="0" tIns="0" rIns="0" bIns="0" rtlCol="0" anchor="ctr"/>
          <a:lstStyle/>
          <a:p>
            <a:pPr algn="r" indent="0" marL="0">
              <a:buNone/>
            </a:pPr>
            <a:r>
              <a:rPr lang="en-US" sz="2600" dirty="0">
                <a:solidFill>
                  <a:srgbClr val="666666"/>
                </a:solidFill>
                <a:latin typeface="Liberation Serif" pitchFamily="34" charset="0"/>
                <a:ea typeface="Liberation Serif" pitchFamily="34" charset="-122"/>
                <a:cs typeface="Liberation Serif" pitchFamily="34" charset="-120"/>
              </a:rPr>
              <a:t>Success</a:t>
            </a:r>
            <a:endParaRPr lang="en-US" sz="2600" dirty="0"/>
          </a:p>
        </p:txBody>
      </p:sp>
      <p:pic>
        <p:nvPicPr>
          <p:cNvPr id="172" name="Image 90" descr="ACPD, top view, LIBERO-long, task 0, episode 44, recorded step 0, success">    </p:cNvPr>
          <p:cNvPicPr>
            <a:picLocks noChangeAspect="1"/>
          </p:cNvPicPr>
          <p:nvPr/>
        </p:nvPicPr>
        <p:blipFill>
          <a:blip r:embed="rId91"/>
          <a:stretch>
            <a:fillRect/>
          </a:stretch>
        </p:blipFill>
        <p:spPr>
          <a:xfrm>
            <a:off x="12310842" y="19760184"/>
            <a:ext cx="1961129" cy="1961129"/>
          </a:xfrm>
          <a:prstGeom prst="rect">
            <a:avLst/>
          </a:prstGeom>
        </p:spPr>
      </p:pic>
      <p:pic>
        <p:nvPicPr>
          <p:cNvPr id="173" name="Image 91" descr="ACPD, top view, LIBERO-long, task 0, episode 44, recorded step 87, success">    </p:cNvPr>
          <p:cNvPicPr>
            <a:picLocks noChangeAspect="1"/>
          </p:cNvPicPr>
          <p:nvPr/>
        </p:nvPicPr>
        <p:blipFill>
          <a:blip r:embed="rId92"/>
          <a:stretch>
            <a:fillRect/>
          </a:stretch>
        </p:blipFill>
        <p:spPr>
          <a:xfrm>
            <a:off x="14303974" y="19760184"/>
            <a:ext cx="1961129" cy="1961129"/>
          </a:xfrm>
          <a:prstGeom prst="rect">
            <a:avLst/>
          </a:prstGeom>
        </p:spPr>
      </p:pic>
      <p:pic>
        <p:nvPicPr>
          <p:cNvPr id="174" name="Image 92" descr="ACPD, top view, LIBERO-long, task 0, episode 44, recorded step 175, success">    </p:cNvPr>
          <p:cNvPicPr>
            <a:picLocks noChangeAspect="1"/>
          </p:cNvPicPr>
          <p:nvPr/>
        </p:nvPicPr>
        <p:blipFill>
          <a:blip r:embed="rId93"/>
          <a:stretch>
            <a:fillRect/>
          </a:stretch>
        </p:blipFill>
        <p:spPr>
          <a:xfrm>
            <a:off x="16297107" y="19760184"/>
            <a:ext cx="1961129" cy="1961129"/>
          </a:xfrm>
          <a:prstGeom prst="rect">
            <a:avLst/>
          </a:prstGeom>
        </p:spPr>
      </p:pic>
      <p:pic>
        <p:nvPicPr>
          <p:cNvPr id="175" name="Image 93" descr="ACPD, top view, LIBERO-long, task 0, episode 44, recorded step 262, success">    </p:cNvPr>
          <p:cNvPicPr>
            <a:picLocks noChangeAspect="1"/>
          </p:cNvPicPr>
          <p:nvPr/>
        </p:nvPicPr>
        <p:blipFill>
          <a:blip r:embed="rId94"/>
          <a:stretch>
            <a:fillRect/>
          </a:stretch>
        </p:blipFill>
        <p:spPr>
          <a:xfrm>
            <a:off x="18290240" y="19760184"/>
            <a:ext cx="1961129" cy="1961129"/>
          </a:xfrm>
          <a:prstGeom prst="rect">
            <a:avLst/>
          </a:prstGeom>
        </p:spPr>
      </p:pic>
      <p:pic>
        <p:nvPicPr>
          <p:cNvPr id="176" name="Image 94" descr="ACPD, top view, LIBERO-long, task 0, episode 44, recorded step 350, success">    </p:cNvPr>
          <p:cNvPicPr>
            <a:picLocks noChangeAspect="1"/>
          </p:cNvPicPr>
          <p:nvPr/>
        </p:nvPicPr>
        <p:blipFill>
          <a:blip r:embed="rId95"/>
          <a:stretch>
            <a:fillRect/>
          </a:stretch>
        </p:blipFill>
        <p:spPr>
          <a:xfrm>
            <a:off x="20283373" y="19760184"/>
            <a:ext cx="1961129" cy="1961129"/>
          </a:xfrm>
          <a:prstGeom prst="rect">
            <a:avLst/>
          </a:prstGeom>
        </p:spPr>
      </p:pic>
      <p:pic>
        <p:nvPicPr>
          <p:cNvPr id="177" name="Image 95" descr="ACPD, top view, LIBERO-long, task 0, episode 44, recorded step 437, success">    </p:cNvPr>
          <p:cNvPicPr>
            <a:picLocks noChangeAspect="1"/>
          </p:cNvPicPr>
          <p:nvPr/>
        </p:nvPicPr>
        <p:blipFill>
          <a:blip r:embed="rId96"/>
          <a:stretch>
            <a:fillRect/>
          </a:stretch>
        </p:blipFill>
        <p:spPr>
          <a:xfrm>
            <a:off x="22276506" y="19760184"/>
            <a:ext cx="1961129" cy="19611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46304" y="109728"/>
            <a:ext cx="16459200" cy="640080"/>
          </a:xfrm>
          <a:prstGeom prst="rect">
            <a:avLst/>
          </a:prstGeom>
          <a:noFill/>
          <a:ln/>
        </p:spPr>
        <p:txBody>
          <a:bodyPr wrap="square" lIns="0" tIns="0" rIns="0" bIns="0" rtlCol="0" anchor="ctr"/>
          <a:lstStyle/>
          <a:p>
            <a:pPr indent="0" marL="0">
              <a:buNone/>
            </a:pPr>
            <a:r>
              <a:rPr lang="en-US" sz="4400" b="1" dirty="0">
                <a:solidFill>
                  <a:srgbClr val="0072B2"/>
                </a:solidFill>
                <a:latin typeface="Liberation Serif" pitchFamily="34" charset="0"/>
                <a:ea typeface="Liberation Serif" pitchFamily="34" charset="-122"/>
                <a:cs typeface="Liberation Serif" pitchFamily="34" charset="-120"/>
              </a:rPr>
              <a:t>ACPD · Back view</a:t>
            </a:r>
            <a:endParaRPr lang="en-US" sz="4400" dirty="0"/>
          </a:p>
        </p:txBody>
      </p:sp>
      <p:sp>
        <p:nvSpPr>
          <p:cNvPr id="3" name="Text 1"/>
          <p:cNvSpPr/>
          <p:nvPr/>
        </p:nvSpPr>
        <p:spPr>
          <a:xfrm>
            <a:off x="17099280" y="201168"/>
            <a:ext cx="7138355" cy="475488"/>
          </a:xfrm>
          <a:prstGeom prst="rect">
            <a:avLst/>
          </a:prstGeom>
          <a:noFill/>
          <a:ln/>
        </p:spPr>
        <p:txBody>
          <a:bodyPr wrap="square" lIns="0" tIns="0" rIns="0" bIns="0" rtlCol="0" anchor="ctr"/>
          <a:lstStyle/>
          <a:p>
            <a:pPr algn="r" indent="0" marL="0">
              <a:buNone/>
            </a:pPr>
            <a:r>
              <a:rPr lang="en-US" sz="3200" dirty="0">
                <a:solidFill>
                  <a:srgbClr val="666666"/>
                </a:solidFill>
                <a:latin typeface="Liberation Serif" pitchFamily="34" charset="0"/>
                <a:ea typeface="Liberation Serif" pitchFamily="34" charset="-122"/>
                <a:cs typeface="Liberation Serif" pitchFamily="34" charset="-120"/>
              </a:rPr>
              <a:t>Episode progression →</a:t>
            </a:r>
            <a:endParaRPr lang="en-US" sz="3200" dirty="0"/>
          </a:p>
        </p:txBody>
      </p:sp>
      <p:sp>
        <p:nvSpPr>
          <p:cNvPr id="4" name="Text 2"/>
          <p:cNvSpPr/>
          <p:nvPr/>
        </p:nvSpPr>
        <p:spPr>
          <a:xfrm>
            <a:off x="146304" y="868680"/>
            <a:ext cx="2926080" cy="512064"/>
          </a:xfrm>
          <a:prstGeom prst="rect">
            <a:avLst/>
          </a:prstGeom>
          <a:noFill/>
          <a:ln/>
        </p:spPr>
        <p:txBody>
          <a:bodyPr wrap="square" lIns="0" tIns="0" rIns="0" bIns="0" rtlCol="0" anchor="ctr"/>
          <a:lstStyle/>
          <a:p>
            <a:pPr indent="0" marL="0">
              <a:buNone/>
            </a:pPr>
            <a:r>
              <a:rPr lang="en-US" sz="3400" b="1" dirty="0">
                <a:solidFill>
                  <a:srgbClr val="202020"/>
                </a:solidFill>
                <a:latin typeface="Liberation Serif" pitchFamily="34" charset="0"/>
                <a:ea typeface="Liberation Serif" pitchFamily="34" charset="-122"/>
                <a:cs typeface="Liberation Serif" pitchFamily="34" charset="-120"/>
              </a:rPr>
              <a:t>Spatial</a:t>
            </a:r>
            <a:endParaRPr lang="en-US" sz="3400" dirty="0"/>
          </a:p>
        </p:txBody>
      </p:sp>
      <p:sp>
        <p:nvSpPr>
          <p:cNvPr id="5" name="Text 3"/>
          <p:cNvSpPr/>
          <p:nvPr/>
        </p:nvSpPr>
        <p:spPr>
          <a:xfrm>
            <a:off x="3246120" y="868680"/>
            <a:ext cx="20991515" cy="512064"/>
          </a:xfrm>
          <a:prstGeom prst="rect">
            <a:avLst/>
          </a:prstGeom>
          <a:noFill/>
          <a:ln/>
        </p:spPr>
        <p:txBody>
          <a:bodyPr wrap="square" lIns="0" tIns="0" rIns="0" bIns="0" rtlCol="0" anchor="ctr"/>
          <a:lstStyle/>
          <a:p>
            <a:pPr indent="0" marL="0">
              <a:buNone/>
            </a:pPr>
            <a:r>
              <a:rPr lang="en-US" sz="3000" dirty="0">
                <a:solidFill>
                  <a:srgbClr val="202020"/>
                </a:solidFill>
                <a:latin typeface="Liberation Serif" pitchFamily="34" charset="0"/>
                <a:ea typeface="Liberation Serif" pitchFamily="34" charset="-122"/>
                <a:cs typeface="Liberation Serif" pitchFamily="34" charset="-120"/>
              </a:rPr>
              <a:t>pick up the black bowl on the ramekin and place it on the plate</a:t>
            </a:r>
            <a:endParaRPr lang="en-US" sz="3000" dirty="0"/>
          </a:p>
        </p:txBody>
      </p:sp>
      <p:pic>
        <p:nvPicPr>
          <p:cNvPr id="6" name="Image 0" descr="ACPD, back view, LIBERO-spatial, task 5, episode 23, recorded step 0, failure">    </p:cNvPr>
          <p:cNvPicPr>
            <a:picLocks noChangeAspect="1"/>
          </p:cNvPicPr>
          <p:nvPr/>
        </p:nvPicPr>
        <p:blipFill>
          <a:blip r:embed="rId1"/>
          <a:stretch>
            <a:fillRect/>
          </a:stretch>
        </p:blipFill>
        <p:spPr>
          <a:xfrm>
            <a:off x="146304" y="1426464"/>
            <a:ext cx="3954262" cy="3954262"/>
          </a:xfrm>
          <a:prstGeom prst="rect">
            <a:avLst/>
          </a:prstGeom>
        </p:spPr>
      </p:pic>
      <p:sp>
        <p:nvSpPr>
          <p:cNvPr id="7" name="Text 4"/>
          <p:cNvSpPr/>
          <p:nvPr/>
        </p:nvSpPr>
        <p:spPr>
          <a:xfrm>
            <a:off x="146304" y="5403586"/>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0</a:t>
            </a:r>
            <a:endParaRPr lang="en-US" sz="2700" dirty="0"/>
          </a:p>
        </p:txBody>
      </p:sp>
      <p:pic>
        <p:nvPicPr>
          <p:cNvPr id="8" name="Image 1" descr="ACPD, back view, LIBERO-spatial, task 5, episode 23, recorded step 44, failure">    </p:cNvPr>
          <p:cNvPicPr>
            <a:picLocks noChangeAspect="1"/>
          </p:cNvPicPr>
          <p:nvPr/>
        </p:nvPicPr>
        <p:blipFill>
          <a:blip r:embed="rId2"/>
          <a:stretch>
            <a:fillRect/>
          </a:stretch>
        </p:blipFill>
        <p:spPr>
          <a:xfrm>
            <a:off x="4173718" y="1426464"/>
            <a:ext cx="3954262" cy="3954262"/>
          </a:xfrm>
          <a:prstGeom prst="rect">
            <a:avLst/>
          </a:prstGeom>
        </p:spPr>
      </p:pic>
      <p:sp>
        <p:nvSpPr>
          <p:cNvPr id="9" name="Text 5"/>
          <p:cNvSpPr/>
          <p:nvPr/>
        </p:nvSpPr>
        <p:spPr>
          <a:xfrm>
            <a:off x="4173718" y="5403586"/>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44</a:t>
            </a:r>
            <a:endParaRPr lang="en-US" sz="2700" dirty="0"/>
          </a:p>
        </p:txBody>
      </p:sp>
      <p:pic>
        <p:nvPicPr>
          <p:cNvPr id="10" name="Image 2" descr="ACPD, back view, LIBERO-spatial, task 5, episode 23, recorded step 88, failure">    </p:cNvPr>
          <p:cNvPicPr>
            <a:picLocks noChangeAspect="1"/>
          </p:cNvPicPr>
          <p:nvPr/>
        </p:nvPicPr>
        <p:blipFill>
          <a:blip r:embed="rId3"/>
          <a:stretch>
            <a:fillRect/>
          </a:stretch>
        </p:blipFill>
        <p:spPr>
          <a:xfrm>
            <a:off x="8201132" y="1426464"/>
            <a:ext cx="3954262" cy="3954262"/>
          </a:xfrm>
          <a:prstGeom prst="rect">
            <a:avLst/>
          </a:prstGeom>
        </p:spPr>
      </p:pic>
      <p:sp>
        <p:nvSpPr>
          <p:cNvPr id="11" name="Text 6"/>
          <p:cNvSpPr/>
          <p:nvPr/>
        </p:nvSpPr>
        <p:spPr>
          <a:xfrm>
            <a:off x="8201132" y="5403586"/>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88</a:t>
            </a:r>
            <a:endParaRPr lang="en-US" sz="2700" dirty="0"/>
          </a:p>
        </p:txBody>
      </p:sp>
      <p:pic>
        <p:nvPicPr>
          <p:cNvPr id="12" name="Image 3" descr="ACPD, back view, LIBERO-spatial, task 5, episode 23, recorded step 131, failure">    </p:cNvPr>
          <p:cNvPicPr>
            <a:picLocks noChangeAspect="1"/>
          </p:cNvPicPr>
          <p:nvPr/>
        </p:nvPicPr>
        <p:blipFill>
          <a:blip r:embed="rId4"/>
          <a:stretch>
            <a:fillRect/>
          </a:stretch>
        </p:blipFill>
        <p:spPr>
          <a:xfrm>
            <a:off x="12228546" y="1426464"/>
            <a:ext cx="3954262" cy="3954262"/>
          </a:xfrm>
          <a:prstGeom prst="rect">
            <a:avLst/>
          </a:prstGeom>
        </p:spPr>
      </p:pic>
      <p:sp>
        <p:nvSpPr>
          <p:cNvPr id="13" name="Text 7"/>
          <p:cNvSpPr/>
          <p:nvPr/>
        </p:nvSpPr>
        <p:spPr>
          <a:xfrm>
            <a:off x="12228546" y="5403586"/>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131</a:t>
            </a:r>
            <a:endParaRPr lang="en-US" sz="2700" dirty="0"/>
          </a:p>
        </p:txBody>
      </p:sp>
      <p:pic>
        <p:nvPicPr>
          <p:cNvPr id="14" name="Image 4" descr="ACPD, back view, LIBERO-spatial, task 5, episode 23, recorded step 175, failure">    </p:cNvPr>
          <p:cNvPicPr>
            <a:picLocks noChangeAspect="1"/>
          </p:cNvPicPr>
          <p:nvPr/>
        </p:nvPicPr>
        <p:blipFill>
          <a:blip r:embed="rId5"/>
          <a:stretch>
            <a:fillRect/>
          </a:stretch>
        </p:blipFill>
        <p:spPr>
          <a:xfrm>
            <a:off x="16255959" y="1426464"/>
            <a:ext cx="3954262" cy="3954262"/>
          </a:xfrm>
          <a:prstGeom prst="rect">
            <a:avLst/>
          </a:prstGeom>
        </p:spPr>
      </p:pic>
      <p:sp>
        <p:nvSpPr>
          <p:cNvPr id="15" name="Text 8"/>
          <p:cNvSpPr/>
          <p:nvPr/>
        </p:nvSpPr>
        <p:spPr>
          <a:xfrm>
            <a:off x="16255959" y="5403586"/>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175</a:t>
            </a:r>
            <a:endParaRPr lang="en-US" sz="2700" dirty="0"/>
          </a:p>
        </p:txBody>
      </p:sp>
      <p:pic>
        <p:nvPicPr>
          <p:cNvPr id="16" name="Image 5" descr="ACPD, back view, LIBERO-spatial, task 5, episode 23, recorded step 219, failure">    </p:cNvPr>
          <p:cNvPicPr>
            <a:picLocks noChangeAspect="1"/>
          </p:cNvPicPr>
          <p:nvPr/>
        </p:nvPicPr>
        <p:blipFill>
          <a:blip r:embed="rId6"/>
          <a:stretch>
            <a:fillRect/>
          </a:stretch>
        </p:blipFill>
        <p:spPr>
          <a:xfrm>
            <a:off x="20283373" y="1426464"/>
            <a:ext cx="3954262" cy="3954262"/>
          </a:xfrm>
          <a:prstGeom prst="rect">
            <a:avLst/>
          </a:prstGeom>
        </p:spPr>
      </p:pic>
      <p:sp>
        <p:nvSpPr>
          <p:cNvPr id="17" name="Text 9"/>
          <p:cNvSpPr/>
          <p:nvPr/>
        </p:nvSpPr>
        <p:spPr>
          <a:xfrm>
            <a:off x="20283373" y="5403586"/>
            <a:ext cx="3954262" cy="420624"/>
          </a:xfrm>
          <a:prstGeom prst="rect">
            <a:avLst/>
          </a:prstGeom>
          <a:noFill/>
          <a:ln/>
        </p:spPr>
        <p:txBody>
          <a:bodyPr wrap="square" lIns="0" tIns="0" rIns="0" bIns="0" rtlCol="0" anchor="ctr"/>
          <a:lstStyle/>
          <a:p>
            <a:pPr algn="ctr" indent="0" marL="0">
              <a:buNone/>
            </a:pPr>
            <a:r>
              <a:rPr lang="en-US" sz="2700" b="1" dirty="0">
                <a:solidFill>
                  <a:srgbClr val="666666"/>
                </a:solidFill>
                <a:latin typeface="Liberation Serif" pitchFamily="34" charset="0"/>
                <a:ea typeface="Liberation Serif" pitchFamily="34" charset="-122"/>
                <a:cs typeface="Liberation Serif" pitchFamily="34" charset="-120"/>
              </a:rPr>
              <a:t>Step 219 · Failure</a:t>
            </a:r>
            <a:endParaRPr lang="en-US" sz="2700" dirty="0"/>
          </a:p>
        </p:txBody>
      </p:sp>
      <p:sp>
        <p:nvSpPr>
          <p:cNvPr id="18" name="Text 10"/>
          <p:cNvSpPr/>
          <p:nvPr/>
        </p:nvSpPr>
        <p:spPr>
          <a:xfrm>
            <a:off x="146304" y="6044184"/>
            <a:ext cx="2926080" cy="512064"/>
          </a:xfrm>
          <a:prstGeom prst="rect">
            <a:avLst/>
          </a:prstGeom>
          <a:noFill/>
          <a:ln/>
        </p:spPr>
        <p:txBody>
          <a:bodyPr wrap="square" lIns="0" tIns="0" rIns="0" bIns="0" rtlCol="0" anchor="ctr"/>
          <a:lstStyle/>
          <a:p>
            <a:pPr indent="0" marL="0">
              <a:buNone/>
            </a:pPr>
            <a:r>
              <a:rPr lang="en-US" sz="3400" b="1" dirty="0">
                <a:solidFill>
                  <a:srgbClr val="202020"/>
                </a:solidFill>
                <a:latin typeface="Liberation Serif" pitchFamily="34" charset="0"/>
                <a:ea typeface="Liberation Serif" pitchFamily="34" charset="-122"/>
                <a:cs typeface="Liberation Serif" pitchFamily="34" charset="-120"/>
              </a:rPr>
              <a:t>Object</a:t>
            </a:r>
            <a:endParaRPr lang="en-US" sz="3400" dirty="0"/>
          </a:p>
        </p:txBody>
      </p:sp>
      <p:sp>
        <p:nvSpPr>
          <p:cNvPr id="19" name="Text 11"/>
          <p:cNvSpPr/>
          <p:nvPr/>
        </p:nvSpPr>
        <p:spPr>
          <a:xfrm>
            <a:off x="3246120" y="6044184"/>
            <a:ext cx="20991515" cy="512064"/>
          </a:xfrm>
          <a:prstGeom prst="rect">
            <a:avLst/>
          </a:prstGeom>
          <a:noFill/>
          <a:ln/>
        </p:spPr>
        <p:txBody>
          <a:bodyPr wrap="square" lIns="0" tIns="0" rIns="0" bIns="0" rtlCol="0" anchor="ctr"/>
          <a:lstStyle/>
          <a:p>
            <a:pPr indent="0" marL="0">
              <a:buNone/>
            </a:pPr>
            <a:r>
              <a:rPr lang="en-US" sz="3000" dirty="0">
                <a:solidFill>
                  <a:srgbClr val="202020"/>
                </a:solidFill>
                <a:latin typeface="Liberation Serif" pitchFamily="34" charset="0"/>
                <a:ea typeface="Liberation Serif" pitchFamily="34" charset="-122"/>
                <a:cs typeface="Liberation Serif" pitchFamily="34" charset="-120"/>
              </a:rPr>
              <a:t>pick up the ketchup and place it in the basket</a:t>
            </a:r>
            <a:endParaRPr lang="en-US" sz="3000" dirty="0"/>
          </a:p>
        </p:txBody>
      </p:sp>
      <p:pic>
        <p:nvPicPr>
          <p:cNvPr id="20" name="Image 6" descr="ACPD, back view, LIBERO-object, task 4, episode 26, recorded step 0, success">    </p:cNvPr>
          <p:cNvPicPr>
            <a:picLocks noChangeAspect="1"/>
          </p:cNvPicPr>
          <p:nvPr/>
        </p:nvPicPr>
        <p:blipFill>
          <a:blip r:embed="rId7"/>
          <a:stretch>
            <a:fillRect/>
          </a:stretch>
        </p:blipFill>
        <p:spPr>
          <a:xfrm>
            <a:off x="146304" y="6601968"/>
            <a:ext cx="3954262" cy="3954262"/>
          </a:xfrm>
          <a:prstGeom prst="rect">
            <a:avLst/>
          </a:prstGeom>
        </p:spPr>
      </p:pic>
      <p:sp>
        <p:nvSpPr>
          <p:cNvPr id="21" name="Text 12"/>
          <p:cNvSpPr/>
          <p:nvPr/>
        </p:nvSpPr>
        <p:spPr>
          <a:xfrm>
            <a:off x="146304" y="10579090"/>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0</a:t>
            </a:r>
            <a:endParaRPr lang="en-US" sz="2700" dirty="0"/>
          </a:p>
        </p:txBody>
      </p:sp>
      <p:pic>
        <p:nvPicPr>
          <p:cNvPr id="22" name="Image 7" descr="ACPD, back view, LIBERO-object, task 4, episode 26, recorded step 39, success">    </p:cNvPr>
          <p:cNvPicPr>
            <a:picLocks noChangeAspect="1"/>
          </p:cNvPicPr>
          <p:nvPr/>
        </p:nvPicPr>
        <p:blipFill>
          <a:blip r:embed="rId8"/>
          <a:stretch>
            <a:fillRect/>
          </a:stretch>
        </p:blipFill>
        <p:spPr>
          <a:xfrm>
            <a:off x="4173718" y="6601968"/>
            <a:ext cx="3954262" cy="3954262"/>
          </a:xfrm>
          <a:prstGeom prst="rect">
            <a:avLst/>
          </a:prstGeom>
        </p:spPr>
      </p:pic>
      <p:sp>
        <p:nvSpPr>
          <p:cNvPr id="23" name="Text 13"/>
          <p:cNvSpPr/>
          <p:nvPr/>
        </p:nvSpPr>
        <p:spPr>
          <a:xfrm>
            <a:off x="4173718" y="10579090"/>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39</a:t>
            </a:r>
            <a:endParaRPr lang="en-US" sz="2700" dirty="0"/>
          </a:p>
        </p:txBody>
      </p:sp>
      <p:pic>
        <p:nvPicPr>
          <p:cNvPr id="24" name="Image 8" descr="ACPD, back view, LIBERO-object, task 4, episode 26, recorded step 79, success">    </p:cNvPr>
          <p:cNvPicPr>
            <a:picLocks noChangeAspect="1"/>
          </p:cNvPicPr>
          <p:nvPr/>
        </p:nvPicPr>
        <p:blipFill>
          <a:blip r:embed="rId9"/>
          <a:stretch>
            <a:fillRect/>
          </a:stretch>
        </p:blipFill>
        <p:spPr>
          <a:xfrm>
            <a:off x="8201132" y="6601968"/>
            <a:ext cx="3954262" cy="3954262"/>
          </a:xfrm>
          <a:prstGeom prst="rect">
            <a:avLst/>
          </a:prstGeom>
        </p:spPr>
      </p:pic>
      <p:sp>
        <p:nvSpPr>
          <p:cNvPr id="25" name="Text 14"/>
          <p:cNvSpPr/>
          <p:nvPr/>
        </p:nvSpPr>
        <p:spPr>
          <a:xfrm>
            <a:off x="8201132" y="10579090"/>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79</a:t>
            </a:r>
            <a:endParaRPr lang="en-US" sz="2700" dirty="0"/>
          </a:p>
        </p:txBody>
      </p:sp>
      <p:pic>
        <p:nvPicPr>
          <p:cNvPr id="26" name="Image 9" descr="ACPD, back view, LIBERO-object, task 4, episode 26, recorded step 118, success">    </p:cNvPr>
          <p:cNvPicPr>
            <a:picLocks noChangeAspect="1"/>
          </p:cNvPicPr>
          <p:nvPr/>
        </p:nvPicPr>
        <p:blipFill>
          <a:blip r:embed="rId10"/>
          <a:stretch>
            <a:fillRect/>
          </a:stretch>
        </p:blipFill>
        <p:spPr>
          <a:xfrm>
            <a:off x="12228546" y="6601968"/>
            <a:ext cx="3954262" cy="3954262"/>
          </a:xfrm>
          <a:prstGeom prst="rect">
            <a:avLst/>
          </a:prstGeom>
        </p:spPr>
      </p:pic>
      <p:sp>
        <p:nvSpPr>
          <p:cNvPr id="27" name="Text 15"/>
          <p:cNvSpPr/>
          <p:nvPr/>
        </p:nvSpPr>
        <p:spPr>
          <a:xfrm>
            <a:off x="12228546" y="10579090"/>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118</a:t>
            </a:r>
            <a:endParaRPr lang="en-US" sz="2700" dirty="0"/>
          </a:p>
        </p:txBody>
      </p:sp>
      <p:pic>
        <p:nvPicPr>
          <p:cNvPr id="28" name="Image 10" descr="ACPD, back view, LIBERO-object, task 4, episode 26, recorded step 158, success">    </p:cNvPr>
          <p:cNvPicPr>
            <a:picLocks noChangeAspect="1"/>
          </p:cNvPicPr>
          <p:nvPr/>
        </p:nvPicPr>
        <p:blipFill>
          <a:blip r:embed="rId11"/>
          <a:stretch>
            <a:fillRect/>
          </a:stretch>
        </p:blipFill>
        <p:spPr>
          <a:xfrm>
            <a:off x="16255959" y="6601968"/>
            <a:ext cx="3954262" cy="3954262"/>
          </a:xfrm>
          <a:prstGeom prst="rect">
            <a:avLst/>
          </a:prstGeom>
        </p:spPr>
      </p:pic>
      <p:sp>
        <p:nvSpPr>
          <p:cNvPr id="29" name="Text 16"/>
          <p:cNvSpPr/>
          <p:nvPr/>
        </p:nvSpPr>
        <p:spPr>
          <a:xfrm>
            <a:off x="16255959" y="10579090"/>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158</a:t>
            </a:r>
            <a:endParaRPr lang="en-US" sz="2700" dirty="0"/>
          </a:p>
        </p:txBody>
      </p:sp>
      <p:pic>
        <p:nvPicPr>
          <p:cNvPr id="30" name="Image 11" descr="ACPD, back view, LIBERO-object, task 4, episode 26, recorded step 197, success">    </p:cNvPr>
          <p:cNvPicPr>
            <a:picLocks noChangeAspect="1"/>
          </p:cNvPicPr>
          <p:nvPr/>
        </p:nvPicPr>
        <p:blipFill>
          <a:blip r:embed="rId12"/>
          <a:stretch>
            <a:fillRect/>
          </a:stretch>
        </p:blipFill>
        <p:spPr>
          <a:xfrm>
            <a:off x="20283373" y="6601968"/>
            <a:ext cx="3954262" cy="3954262"/>
          </a:xfrm>
          <a:prstGeom prst="rect">
            <a:avLst/>
          </a:prstGeom>
        </p:spPr>
      </p:pic>
      <p:sp>
        <p:nvSpPr>
          <p:cNvPr id="31" name="Text 17"/>
          <p:cNvSpPr/>
          <p:nvPr/>
        </p:nvSpPr>
        <p:spPr>
          <a:xfrm>
            <a:off x="20283373" y="10579090"/>
            <a:ext cx="3954262" cy="420624"/>
          </a:xfrm>
          <a:prstGeom prst="rect">
            <a:avLst/>
          </a:prstGeom>
          <a:noFill/>
          <a:ln/>
        </p:spPr>
        <p:txBody>
          <a:bodyPr wrap="square" lIns="0" tIns="0" rIns="0" bIns="0" rtlCol="0" anchor="ctr"/>
          <a:lstStyle/>
          <a:p>
            <a:pPr algn="ctr" indent="0" marL="0">
              <a:buNone/>
            </a:pPr>
            <a:r>
              <a:rPr lang="en-US" sz="2700" b="1" dirty="0">
                <a:solidFill>
                  <a:srgbClr val="666666"/>
                </a:solidFill>
                <a:latin typeface="Liberation Serif" pitchFamily="34" charset="0"/>
                <a:ea typeface="Liberation Serif" pitchFamily="34" charset="-122"/>
                <a:cs typeface="Liberation Serif" pitchFamily="34" charset="-120"/>
              </a:rPr>
              <a:t>Step 197 · Success</a:t>
            </a:r>
            <a:endParaRPr lang="en-US" sz="2700" dirty="0"/>
          </a:p>
        </p:txBody>
      </p:sp>
      <p:sp>
        <p:nvSpPr>
          <p:cNvPr id="32" name="Text 18"/>
          <p:cNvSpPr/>
          <p:nvPr/>
        </p:nvSpPr>
        <p:spPr>
          <a:xfrm>
            <a:off x="146304" y="11219688"/>
            <a:ext cx="2926080" cy="512064"/>
          </a:xfrm>
          <a:prstGeom prst="rect">
            <a:avLst/>
          </a:prstGeom>
          <a:noFill/>
          <a:ln/>
        </p:spPr>
        <p:txBody>
          <a:bodyPr wrap="square" lIns="0" tIns="0" rIns="0" bIns="0" rtlCol="0" anchor="ctr"/>
          <a:lstStyle/>
          <a:p>
            <a:pPr indent="0" marL="0">
              <a:buNone/>
            </a:pPr>
            <a:r>
              <a:rPr lang="en-US" sz="3400" b="1" dirty="0">
                <a:solidFill>
                  <a:srgbClr val="202020"/>
                </a:solidFill>
                <a:latin typeface="Liberation Serif" pitchFamily="34" charset="0"/>
                <a:ea typeface="Liberation Serif" pitchFamily="34" charset="-122"/>
                <a:cs typeface="Liberation Serif" pitchFamily="34" charset="-120"/>
              </a:rPr>
              <a:t>Goal</a:t>
            </a:r>
            <a:endParaRPr lang="en-US" sz="3400" dirty="0"/>
          </a:p>
        </p:txBody>
      </p:sp>
      <p:sp>
        <p:nvSpPr>
          <p:cNvPr id="33" name="Text 19"/>
          <p:cNvSpPr/>
          <p:nvPr/>
        </p:nvSpPr>
        <p:spPr>
          <a:xfrm>
            <a:off x="3246120" y="11219688"/>
            <a:ext cx="20991515" cy="512064"/>
          </a:xfrm>
          <a:prstGeom prst="rect">
            <a:avLst/>
          </a:prstGeom>
          <a:noFill/>
          <a:ln/>
        </p:spPr>
        <p:txBody>
          <a:bodyPr wrap="square" lIns="0" tIns="0" rIns="0" bIns="0" rtlCol="0" anchor="ctr"/>
          <a:lstStyle/>
          <a:p>
            <a:pPr indent="0" marL="0">
              <a:buNone/>
            </a:pPr>
            <a:r>
              <a:rPr lang="en-US" sz="3000" dirty="0">
                <a:solidFill>
                  <a:srgbClr val="202020"/>
                </a:solidFill>
                <a:latin typeface="Liberation Serif" pitchFamily="34" charset="0"/>
                <a:ea typeface="Liberation Serif" pitchFamily="34" charset="-122"/>
                <a:cs typeface="Liberation Serif" pitchFamily="34" charset="-120"/>
              </a:rPr>
              <a:t>put the wine bottle on top of the cabinet</a:t>
            </a:r>
            <a:endParaRPr lang="en-US" sz="3000" dirty="0"/>
          </a:p>
        </p:txBody>
      </p:sp>
      <p:pic>
        <p:nvPicPr>
          <p:cNvPr id="34" name="Image 12" descr="ACPD, back view, LIBERO-goal, task 2, episode 15, recorded step 0, success">    </p:cNvPr>
          <p:cNvPicPr>
            <a:picLocks noChangeAspect="1"/>
          </p:cNvPicPr>
          <p:nvPr/>
        </p:nvPicPr>
        <p:blipFill>
          <a:blip r:embed="rId13"/>
          <a:stretch>
            <a:fillRect/>
          </a:stretch>
        </p:blipFill>
        <p:spPr>
          <a:xfrm>
            <a:off x="146304" y="11777472"/>
            <a:ext cx="3954262" cy="3954262"/>
          </a:xfrm>
          <a:prstGeom prst="rect">
            <a:avLst/>
          </a:prstGeom>
        </p:spPr>
      </p:pic>
      <p:sp>
        <p:nvSpPr>
          <p:cNvPr id="35" name="Text 20"/>
          <p:cNvSpPr/>
          <p:nvPr/>
        </p:nvSpPr>
        <p:spPr>
          <a:xfrm>
            <a:off x="146304" y="15754594"/>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0</a:t>
            </a:r>
            <a:endParaRPr lang="en-US" sz="2700" dirty="0"/>
          </a:p>
        </p:txBody>
      </p:sp>
      <p:pic>
        <p:nvPicPr>
          <p:cNvPr id="36" name="Image 13" descr="ACPD, back view, LIBERO-goal, task 2, episode 15, recorded step 22, success">    </p:cNvPr>
          <p:cNvPicPr>
            <a:picLocks noChangeAspect="1"/>
          </p:cNvPicPr>
          <p:nvPr/>
        </p:nvPicPr>
        <p:blipFill>
          <a:blip r:embed="rId14"/>
          <a:stretch>
            <a:fillRect/>
          </a:stretch>
        </p:blipFill>
        <p:spPr>
          <a:xfrm>
            <a:off x="4173718" y="11777472"/>
            <a:ext cx="3954262" cy="3954262"/>
          </a:xfrm>
          <a:prstGeom prst="rect">
            <a:avLst/>
          </a:prstGeom>
        </p:spPr>
      </p:pic>
      <p:sp>
        <p:nvSpPr>
          <p:cNvPr id="37" name="Text 21"/>
          <p:cNvSpPr/>
          <p:nvPr/>
        </p:nvSpPr>
        <p:spPr>
          <a:xfrm>
            <a:off x="4173718" y="15754594"/>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22</a:t>
            </a:r>
            <a:endParaRPr lang="en-US" sz="2700" dirty="0"/>
          </a:p>
        </p:txBody>
      </p:sp>
      <p:pic>
        <p:nvPicPr>
          <p:cNvPr id="38" name="Image 14" descr="ACPD, back view, LIBERO-goal, task 2, episode 15, recorded step 43, success">    </p:cNvPr>
          <p:cNvPicPr>
            <a:picLocks noChangeAspect="1"/>
          </p:cNvPicPr>
          <p:nvPr/>
        </p:nvPicPr>
        <p:blipFill>
          <a:blip r:embed="rId15"/>
          <a:stretch>
            <a:fillRect/>
          </a:stretch>
        </p:blipFill>
        <p:spPr>
          <a:xfrm>
            <a:off x="8201132" y="11777472"/>
            <a:ext cx="3954262" cy="3954262"/>
          </a:xfrm>
          <a:prstGeom prst="rect">
            <a:avLst/>
          </a:prstGeom>
        </p:spPr>
      </p:pic>
      <p:sp>
        <p:nvSpPr>
          <p:cNvPr id="39" name="Text 22"/>
          <p:cNvSpPr/>
          <p:nvPr/>
        </p:nvSpPr>
        <p:spPr>
          <a:xfrm>
            <a:off x="8201132" y="15754594"/>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43</a:t>
            </a:r>
            <a:endParaRPr lang="en-US" sz="2700" dirty="0"/>
          </a:p>
        </p:txBody>
      </p:sp>
      <p:pic>
        <p:nvPicPr>
          <p:cNvPr id="40" name="Image 15" descr="ACPD, back view, LIBERO-goal, task 2, episode 15, recorded step 65, success">    </p:cNvPr>
          <p:cNvPicPr>
            <a:picLocks noChangeAspect="1"/>
          </p:cNvPicPr>
          <p:nvPr/>
        </p:nvPicPr>
        <p:blipFill>
          <a:blip r:embed="rId16"/>
          <a:stretch>
            <a:fillRect/>
          </a:stretch>
        </p:blipFill>
        <p:spPr>
          <a:xfrm>
            <a:off x="12228546" y="11777472"/>
            <a:ext cx="3954262" cy="3954262"/>
          </a:xfrm>
          <a:prstGeom prst="rect">
            <a:avLst/>
          </a:prstGeom>
        </p:spPr>
      </p:pic>
      <p:sp>
        <p:nvSpPr>
          <p:cNvPr id="41" name="Text 23"/>
          <p:cNvSpPr/>
          <p:nvPr/>
        </p:nvSpPr>
        <p:spPr>
          <a:xfrm>
            <a:off x="12228546" y="15754594"/>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65</a:t>
            </a:r>
            <a:endParaRPr lang="en-US" sz="2700" dirty="0"/>
          </a:p>
        </p:txBody>
      </p:sp>
      <p:pic>
        <p:nvPicPr>
          <p:cNvPr id="42" name="Image 16" descr="ACPD, back view, LIBERO-goal, task 2, episode 15, recorded step 86, success">    </p:cNvPr>
          <p:cNvPicPr>
            <a:picLocks noChangeAspect="1"/>
          </p:cNvPicPr>
          <p:nvPr/>
        </p:nvPicPr>
        <p:blipFill>
          <a:blip r:embed="rId17"/>
          <a:stretch>
            <a:fillRect/>
          </a:stretch>
        </p:blipFill>
        <p:spPr>
          <a:xfrm>
            <a:off x="16255959" y="11777472"/>
            <a:ext cx="3954262" cy="3954262"/>
          </a:xfrm>
          <a:prstGeom prst="rect">
            <a:avLst/>
          </a:prstGeom>
        </p:spPr>
      </p:pic>
      <p:sp>
        <p:nvSpPr>
          <p:cNvPr id="43" name="Text 24"/>
          <p:cNvSpPr/>
          <p:nvPr/>
        </p:nvSpPr>
        <p:spPr>
          <a:xfrm>
            <a:off x="16255959" y="15754594"/>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86</a:t>
            </a:r>
            <a:endParaRPr lang="en-US" sz="2700" dirty="0"/>
          </a:p>
        </p:txBody>
      </p:sp>
      <p:pic>
        <p:nvPicPr>
          <p:cNvPr id="44" name="Image 17" descr="ACPD, back view, LIBERO-goal, task 2, episode 15, recorded step 108, success">    </p:cNvPr>
          <p:cNvPicPr>
            <a:picLocks noChangeAspect="1"/>
          </p:cNvPicPr>
          <p:nvPr/>
        </p:nvPicPr>
        <p:blipFill>
          <a:blip r:embed="rId18"/>
          <a:stretch>
            <a:fillRect/>
          </a:stretch>
        </p:blipFill>
        <p:spPr>
          <a:xfrm>
            <a:off x="20283373" y="11777472"/>
            <a:ext cx="3954262" cy="3954262"/>
          </a:xfrm>
          <a:prstGeom prst="rect">
            <a:avLst/>
          </a:prstGeom>
        </p:spPr>
      </p:pic>
      <p:sp>
        <p:nvSpPr>
          <p:cNvPr id="45" name="Text 25"/>
          <p:cNvSpPr/>
          <p:nvPr/>
        </p:nvSpPr>
        <p:spPr>
          <a:xfrm>
            <a:off x="20283373" y="15754594"/>
            <a:ext cx="3954262" cy="420624"/>
          </a:xfrm>
          <a:prstGeom prst="rect">
            <a:avLst/>
          </a:prstGeom>
          <a:noFill/>
          <a:ln/>
        </p:spPr>
        <p:txBody>
          <a:bodyPr wrap="square" lIns="0" tIns="0" rIns="0" bIns="0" rtlCol="0" anchor="ctr"/>
          <a:lstStyle/>
          <a:p>
            <a:pPr algn="ctr" indent="0" marL="0">
              <a:buNone/>
            </a:pPr>
            <a:r>
              <a:rPr lang="en-US" sz="2700" b="1" dirty="0">
                <a:solidFill>
                  <a:srgbClr val="666666"/>
                </a:solidFill>
                <a:latin typeface="Liberation Serif" pitchFamily="34" charset="0"/>
                <a:ea typeface="Liberation Serif" pitchFamily="34" charset="-122"/>
                <a:cs typeface="Liberation Serif" pitchFamily="34" charset="-120"/>
              </a:rPr>
              <a:t>Step 108 · Success</a:t>
            </a:r>
            <a:endParaRPr lang="en-US" sz="2700" dirty="0"/>
          </a:p>
        </p:txBody>
      </p:sp>
      <p:sp>
        <p:nvSpPr>
          <p:cNvPr id="46" name="Text 26"/>
          <p:cNvSpPr/>
          <p:nvPr/>
        </p:nvSpPr>
        <p:spPr>
          <a:xfrm>
            <a:off x="146304" y="16395192"/>
            <a:ext cx="2926080" cy="512064"/>
          </a:xfrm>
          <a:prstGeom prst="rect">
            <a:avLst/>
          </a:prstGeom>
          <a:noFill/>
          <a:ln/>
        </p:spPr>
        <p:txBody>
          <a:bodyPr wrap="square" lIns="0" tIns="0" rIns="0" bIns="0" rtlCol="0" anchor="ctr"/>
          <a:lstStyle/>
          <a:p>
            <a:pPr indent="0" marL="0">
              <a:buNone/>
            </a:pPr>
            <a:r>
              <a:rPr lang="en-US" sz="3400" b="1" dirty="0">
                <a:solidFill>
                  <a:srgbClr val="202020"/>
                </a:solidFill>
                <a:latin typeface="Liberation Serif" pitchFamily="34" charset="0"/>
                <a:ea typeface="Liberation Serif" pitchFamily="34" charset="-122"/>
                <a:cs typeface="Liberation Serif" pitchFamily="34" charset="-120"/>
              </a:rPr>
              <a:t>Long</a:t>
            </a:r>
            <a:endParaRPr lang="en-US" sz="3400" dirty="0"/>
          </a:p>
        </p:txBody>
      </p:sp>
      <p:sp>
        <p:nvSpPr>
          <p:cNvPr id="47" name="Text 27"/>
          <p:cNvSpPr/>
          <p:nvPr/>
        </p:nvSpPr>
        <p:spPr>
          <a:xfrm>
            <a:off x="3246120" y="16395192"/>
            <a:ext cx="20991515" cy="512064"/>
          </a:xfrm>
          <a:prstGeom prst="rect">
            <a:avLst/>
          </a:prstGeom>
          <a:noFill/>
          <a:ln/>
        </p:spPr>
        <p:txBody>
          <a:bodyPr wrap="square" lIns="0" tIns="0" rIns="0" bIns="0" rtlCol="0" anchor="ctr"/>
          <a:lstStyle/>
          <a:p>
            <a:pPr indent="0" marL="0">
              <a:buNone/>
            </a:pPr>
            <a:r>
              <a:rPr lang="en-US" sz="3000" dirty="0">
                <a:solidFill>
                  <a:srgbClr val="202020"/>
                </a:solidFill>
                <a:latin typeface="Liberation Serif" pitchFamily="34" charset="0"/>
                <a:ea typeface="Liberation Serif" pitchFamily="34" charset="-122"/>
                <a:cs typeface="Liberation Serif" pitchFamily="34" charset="-120"/>
              </a:rPr>
              <a:t>put the white mug on the plate and put the chocolate pudding to the right of the plate</a:t>
            </a:r>
            <a:endParaRPr lang="en-US" sz="3000" dirty="0"/>
          </a:p>
        </p:txBody>
      </p:sp>
      <p:pic>
        <p:nvPicPr>
          <p:cNvPr id="48" name="Image 18" descr="ACPD, back view, LIBERO-long, task 6, episode 27, recorded step 0, failure">    </p:cNvPr>
          <p:cNvPicPr>
            <a:picLocks noChangeAspect="1"/>
          </p:cNvPicPr>
          <p:nvPr/>
        </p:nvPicPr>
        <p:blipFill>
          <a:blip r:embed="rId19"/>
          <a:stretch>
            <a:fillRect/>
          </a:stretch>
        </p:blipFill>
        <p:spPr>
          <a:xfrm>
            <a:off x="146304" y="16952976"/>
            <a:ext cx="3954262" cy="3954262"/>
          </a:xfrm>
          <a:prstGeom prst="rect">
            <a:avLst/>
          </a:prstGeom>
        </p:spPr>
      </p:pic>
      <p:sp>
        <p:nvSpPr>
          <p:cNvPr id="49" name="Text 28"/>
          <p:cNvSpPr/>
          <p:nvPr/>
        </p:nvSpPr>
        <p:spPr>
          <a:xfrm>
            <a:off x="146304" y="20930098"/>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0</a:t>
            </a:r>
            <a:endParaRPr lang="en-US" sz="2700" dirty="0"/>
          </a:p>
        </p:txBody>
      </p:sp>
      <p:pic>
        <p:nvPicPr>
          <p:cNvPr id="50" name="Image 19" descr="ACPD, back view, LIBERO-long, task 6, episode 27, recorded step 104, failure">    </p:cNvPr>
          <p:cNvPicPr>
            <a:picLocks noChangeAspect="1"/>
          </p:cNvPicPr>
          <p:nvPr/>
        </p:nvPicPr>
        <p:blipFill>
          <a:blip r:embed="rId20"/>
          <a:stretch>
            <a:fillRect/>
          </a:stretch>
        </p:blipFill>
        <p:spPr>
          <a:xfrm>
            <a:off x="4173718" y="16952976"/>
            <a:ext cx="3954262" cy="3954262"/>
          </a:xfrm>
          <a:prstGeom prst="rect">
            <a:avLst/>
          </a:prstGeom>
        </p:spPr>
      </p:pic>
      <p:sp>
        <p:nvSpPr>
          <p:cNvPr id="51" name="Text 29"/>
          <p:cNvSpPr/>
          <p:nvPr/>
        </p:nvSpPr>
        <p:spPr>
          <a:xfrm>
            <a:off x="4173718" y="20930098"/>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104</a:t>
            </a:r>
            <a:endParaRPr lang="en-US" sz="2700" dirty="0"/>
          </a:p>
        </p:txBody>
      </p:sp>
      <p:pic>
        <p:nvPicPr>
          <p:cNvPr id="52" name="Image 20" descr="ACPD, back view, LIBERO-long, task 6, episode 27, recorded step 208, failure">    </p:cNvPr>
          <p:cNvPicPr>
            <a:picLocks noChangeAspect="1"/>
          </p:cNvPicPr>
          <p:nvPr/>
        </p:nvPicPr>
        <p:blipFill>
          <a:blip r:embed="rId21"/>
          <a:stretch>
            <a:fillRect/>
          </a:stretch>
        </p:blipFill>
        <p:spPr>
          <a:xfrm>
            <a:off x="8201132" y="16952976"/>
            <a:ext cx="3954262" cy="3954262"/>
          </a:xfrm>
          <a:prstGeom prst="rect">
            <a:avLst/>
          </a:prstGeom>
        </p:spPr>
      </p:pic>
      <p:sp>
        <p:nvSpPr>
          <p:cNvPr id="53" name="Text 30"/>
          <p:cNvSpPr/>
          <p:nvPr/>
        </p:nvSpPr>
        <p:spPr>
          <a:xfrm>
            <a:off x="8201132" y="20930098"/>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208</a:t>
            </a:r>
            <a:endParaRPr lang="en-US" sz="2700" dirty="0"/>
          </a:p>
        </p:txBody>
      </p:sp>
      <p:pic>
        <p:nvPicPr>
          <p:cNvPr id="54" name="Image 21" descr="ACPD, back view, LIBERO-long, task 6, episode 27, recorded step 311, failure">    </p:cNvPr>
          <p:cNvPicPr>
            <a:picLocks noChangeAspect="1"/>
          </p:cNvPicPr>
          <p:nvPr/>
        </p:nvPicPr>
        <p:blipFill>
          <a:blip r:embed="rId22"/>
          <a:stretch>
            <a:fillRect/>
          </a:stretch>
        </p:blipFill>
        <p:spPr>
          <a:xfrm>
            <a:off x="12228546" y="16952976"/>
            <a:ext cx="3954262" cy="3954262"/>
          </a:xfrm>
          <a:prstGeom prst="rect">
            <a:avLst/>
          </a:prstGeom>
        </p:spPr>
      </p:pic>
      <p:sp>
        <p:nvSpPr>
          <p:cNvPr id="55" name="Text 31"/>
          <p:cNvSpPr/>
          <p:nvPr/>
        </p:nvSpPr>
        <p:spPr>
          <a:xfrm>
            <a:off x="12228546" y="20930098"/>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311</a:t>
            </a:r>
            <a:endParaRPr lang="en-US" sz="2700" dirty="0"/>
          </a:p>
        </p:txBody>
      </p:sp>
      <p:pic>
        <p:nvPicPr>
          <p:cNvPr id="56" name="Image 22" descr="ACPD, back view, LIBERO-long, task 6, episode 27, recorded step 415, failure">    </p:cNvPr>
          <p:cNvPicPr>
            <a:picLocks noChangeAspect="1"/>
          </p:cNvPicPr>
          <p:nvPr/>
        </p:nvPicPr>
        <p:blipFill>
          <a:blip r:embed="rId23"/>
          <a:stretch>
            <a:fillRect/>
          </a:stretch>
        </p:blipFill>
        <p:spPr>
          <a:xfrm>
            <a:off x="16255959" y="16952976"/>
            <a:ext cx="3954262" cy="3954262"/>
          </a:xfrm>
          <a:prstGeom prst="rect">
            <a:avLst/>
          </a:prstGeom>
        </p:spPr>
      </p:pic>
      <p:sp>
        <p:nvSpPr>
          <p:cNvPr id="57" name="Text 32"/>
          <p:cNvSpPr/>
          <p:nvPr/>
        </p:nvSpPr>
        <p:spPr>
          <a:xfrm>
            <a:off x="16255959" y="20930098"/>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415</a:t>
            </a:r>
            <a:endParaRPr lang="en-US" sz="2700" dirty="0"/>
          </a:p>
        </p:txBody>
      </p:sp>
      <p:pic>
        <p:nvPicPr>
          <p:cNvPr id="58" name="Image 23" descr="ACPD, back view, LIBERO-long, task 6, episode 27, recorded step 519, failure">    </p:cNvPr>
          <p:cNvPicPr>
            <a:picLocks noChangeAspect="1"/>
          </p:cNvPicPr>
          <p:nvPr/>
        </p:nvPicPr>
        <p:blipFill>
          <a:blip r:embed="rId24"/>
          <a:stretch>
            <a:fillRect/>
          </a:stretch>
        </p:blipFill>
        <p:spPr>
          <a:xfrm>
            <a:off x="20283373" y="16952976"/>
            <a:ext cx="3954262" cy="3954262"/>
          </a:xfrm>
          <a:prstGeom prst="rect">
            <a:avLst/>
          </a:prstGeom>
        </p:spPr>
      </p:pic>
      <p:sp>
        <p:nvSpPr>
          <p:cNvPr id="59" name="Text 33"/>
          <p:cNvSpPr/>
          <p:nvPr/>
        </p:nvSpPr>
        <p:spPr>
          <a:xfrm>
            <a:off x="20283373" y="20930098"/>
            <a:ext cx="3954262" cy="420624"/>
          </a:xfrm>
          <a:prstGeom prst="rect">
            <a:avLst/>
          </a:prstGeom>
          <a:noFill/>
          <a:ln/>
        </p:spPr>
        <p:txBody>
          <a:bodyPr wrap="square" lIns="0" tIns="0" rIns="0" bIns="0" rtlCol="0" anchor="ctr"/>
          <a:lstStyle/>
          <a:p>
            <a:pPr algn="ctr" indent="0" marL="0">
              <a:buNone/>
            </a:pPr>
            <a:r>
              <a:rPr lang="en-US" sz="2700" b="1" dirty="0">
                <a:solidFill>
                  <a:srgbClr val="666666"/>
                </a:solidFill>
                <a:latin typeface="Liberation Serif" pitchFamily="34" charset="0"/>
                <a:ea typeface="Liberation Serif" pitchFamily="34" charset="-122"/>
                <a:cs typeface="Liberation Serif" pitchFamily="34" charset="-120"/>
              </a:rPr>
              <a:t>Step 519 · Failure</a:t>
            </a:r>
            <a:endParaRPr lang="en-US" sz="2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46304" y="109728"/>
            <a:ext cx="16459200" cy="640080"/>
          </a:xfrm>
          <a:prstGeom prst="rect">
            <a:avLst/>
          </a:prstGeom>
          <a:noFill/>
          <a:ln/>
        </p:spPr>
        <p:txBody>
          <a:bodyPr wrap="square" lIns="0" tIns="0" rIns="0" bIns="0" rtlCol="0" anchor="ctr"/>
          <a:lstStyle/>
          <a:p>
            <a:pPr indent="0" marL="0">
              <a:buNone/>
            </a:pPr>
            <a:r>
              <a:rPr lang="en-US" sz="4400" b="1" dirty="0">
                <a:solidFill>
                  <a:srgbClr val="A86A00"/>
                </a:solidFill>
                <a:latin typeface="Liberation Serif" pitchFamily="34" charset="0"/>
                <a:ea typeface="Liberation Serif" pitchFamily="34" charset="-122"/>
                <a:cs typeface="Liberation Serif" pitchFamily="34" charset="-120"/>
              </a:rPr>
              <a:t>ACPD · Left view</a:t>
            </a:r>
            <a:endParaRPr lang="en-US" sz="4400" dirty="0"/>
          </a:p>
        </p:txBody>
      </p:sp>
      <p:sp>
        <p:nvSpPr>
          <p:cNvPr id="3" name="Text 1"/>
          <p:cNvSpPr/>
          <p:nvPr/>
        </p:nvSpPr>
        <p:spPr>
          <a:xfrm>
            <a:off x="17099280" y="201168"/>
            <a:ext cx="7138355" cy="475488"/>
          </a:xfrm>
          <a:prstGeom prst="rect">
            <a:avLst/>
          </a:prstGeom>
          <a:noFill/>
          <a:ln/>
        </p:spPr>
        <p:txBody>
          <a:bodyPr wrap="square" lIns="0" tIns="0" rIns="0" bIns="0" rtlCol="0" anchor="ctr"/>
          <a:lstStyle/>
          <a:p>
            <a:pPr algn="r" indent="0" marL="0">
              <a:buNone/>
            </a:pPr>
            <a:r>
              <a:rPr lang="en-US" sz="3200" dirty="0">
                <a:solidFill>
                  <a:srgbClr val="666666"/>
                </a:solidFill>
                <a:latin typeface="Liberation Serif" pitchFamily="34" charset="0"/>
                <a:ea typeface="Liberation Serif" pitchFamily="34" charset="-122"/>
                <a:cs typeface="Liberation Serif" pitchFamily="34" charset="-120"/>
              </a:rPr>
              <a:t>Episode progression →</a:t>
            </a:r>
            <a:endParaRPr lang="en-US" sz="3200" dirty="0"/>
          </a:p>
        </p:txBody>
      </p:sp>
      <p:sp>
        <p:nvSpPr>
          <p:cNvPr id="4" name="Text 2"/>
          <p:cNvSpPr/>
          <p:nvPr/>
        </p:nvSpPr>
        <p:spPr>
          <a:xfrm>
            <a:off x="146304" y="868680"/>
            <a:ext cx="2926080" cy="512064"/>
          </a:xfrm>
          <a:prstGeom prst="rect">
            <a:avLst/>
          </a:prstGeom>
          <a:noFill/>
          <a:ln/>
        </p:spPr>
        <p:txBody>
          <a:bodyPr wrap="square" lIns="0" tIns="0" rIns="0" bIns="0" rtlCol="0" anchor="ctr"/>
          <a:lstStyle/>
          <a:p>
            <a:pPr indent="0" marL="0">
              <a:buNone/>
            </a:pPr>
            <a:r>
              <a:rPr lang="en-US" sz="3400" b="1" dirty="0">
                <a:solidFill>
                  <a:srgbClr val="202020"/>
                </a:solidFill>
                <a:latin typeface="Liberation Serif" pitchFamily="34" charset="0"/>
                <a:ea typeface="Liberation Serif" pitchFamily="34" charset="-122"/>
                <a:cs typeface="Liberation Serif" pitchFamily="34" charset="-120"/>
              </a:rPr>
              <a:t>Spatial</a:t>
            </a:r>
            <a:endParaRPr lang="en-US" sz="3400" dirty="0"/>
          </a:p>
        </p:txBody>
      </p:sp>
      <p:sp>
        <p:nvSpPr>
          <p:cNvPr id="5" name="Text 3"/>
          <p:cNvSpPr/>
          <p:nvPr/>
        </p:nvSpPr>
        <p:spPr>
          <a:xfrm>
            <a:off x="3246120" y="868680"/>
            <a:ext cx="20991515" cy="512064"/>
          </a:xfrm>
          <a:prstGeom prst="rect">
            <a:avLst/>
          </a:prstGeom>
          <a:noFill/>
          <a:ln/>
        </p:spPr>
        <p:txBody>
          <a:bodyPr wrap="square" lIns="0" tIns="0" rIns="0" bIns="0" rtlCol="0" anchor="ctr"/>
          <a:lstStyle/>
          <a:p>
            <a:pPr indent="0" marL="0">
              <a:buNone/>
            </a:pPr>
            <a:r>
              <a:rPr lang="en-US" sz="3000" dirty="0">
                <a:solidFill>
                  <a:srgbClr val="202020"/>
                </a:solidFill>
                <a:latin typeface="Liberation Serif" pitchFamily="34" charset="0"/>
                <a:ea typeface="Liberation Serif" pitchFamily="34" charset="-122"/>
                <a:cs typeface="Liberation Serif" pitchFamily="34" charset="-120"/>
              </a:rPr>
              <a:t>pick up the black bowl on the wooden cabinet and place it on the plate</a:t>
            </a:r>
            <a:endParaRPr lang="en-US" sz="3000" dirty="0"/>
          </a:p>
        </p:txBody>
      </p:sp>
      <p:pic>
        <p:nvPicPr>
          <p:cNvPr id="6" name="Image 0" descr="ACPD, left view, LIBERO-spatial, task 9, episode 46, recorded step 0, success">    </p:cNvPr>
          <p:cNvPicPr>
            <a:picLocks noChangeAspect="1"/>
          </p:cNvPicPr>
          <p:nvPr/>
        </p:nvPicPr>
        <p:blipFill>
          <a:blip r:embed="rId1"/>
          <a:stretch>
            <a:fillRect/>
          </a:stretch>
        </p:blipFill>
        <p:spPr>
          <a:xfrm>
            <a:off x="146304" y="1426464"/>
            <a:ext cx="3954262" cy="3954262"/>
          </a:xfrm>
          <a:prstGeom prst="rect">
            <a:avLst/>
          </a:prstGeom>
        </p:spPr>
      </p:pic>
      <p:sp>
        <p:nvSpPr>
          <p:cNvPr id="7" name="Text 4"/>
          <p:cNvSpPr/>
          <p:nvPr/>
        </p:nvSpPr>
        <p:spPr>
          <a:xfrm>
            <a:off x="146304" y="5403586"/>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0</a:t>
            </a:r>
            <a:endParaRPr lang="en-US" sz="2700" dirty="0"/>
          </a:p>
        </p:txBody>
      </p:sp>
      <p:pic>
        <p:nvPicPr>
          <p:cNvPr id="8" name="Image 1" descr="ACPD, left view, LIBERO-spatial, task 9, episode 46, recorded step 23, success">    </p:cNvPr>
          <p:cNvPicPr>
            <a:picLocks noChangeAspect="1"/>
          </p:cNvPicPr>
          <p:nvPr/>
        </p:nvPicPr>
        <p:blipFill>
          <a:blip r:embed="rId2"/>
          <a:stretch>
            <a:fillRect/>
          </a:stretch>
        </p:blipFill>
        <p:spPr>
          <a:xfrm>
            <a:off x="4173718" y="1426464"/>
            <a:ext cx="3954262" cy="3954262"/>
          </a:xfrm>
          <a:prstGeom prst="rect">
            <a:avLst/>
          </a:prstGeom>
        </p:spPr>
      </p:pic>
      <p:sp>
        <p:nvSpPr>
          <p:cNvPr id="9" name="Text 5"/>
          <p:cNvSpPr/>
          <p:nvPr/>
        </p:nvSpPr>
        <p:spPr>
          <a:xfrm>
            <a:off x="4173718" y="5403586"/>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23</a:t>
            </a:r>
            <a:endParaRPr lang="en-US" sz="2700" dirty="0"/>
          </a:p>
        </p:txBody>
      </p:sp>
      <p:pic>
        <p:nvPicPr>
          <p:cNvPr id="10" name="Image 2" descr="ACPD, left view, LIBERO-spatial, task 9, episode 46, recorded step 47, success">    </p:cNvPr>
          <p:cNvPicPr>
            <a:picLocks noChangeAspect="1"/>
          </p:cNvPicPr>
          <p:nvPr/>
        </p:nvPicPr>
        <p:blipFill>
          <a:blip r:embed="rId3"/>
          <a:stretch>
            <a:fillRect/>
          </a:stretch>
        </p:blipFill>
        <p:spPr>
          <a:xfrm>
            <a:off x="8201132" y="1426464"/>
            <a:ext cx="3954262" cy="3954262"/>
          </a:xfrm>
          <a:prstGeom prst="rect">
            <a:avLst/>
          </a:prstGeom>
        </p:spPr>
      </p:pic>
      <p:sp>
        <p:nvSpPr>
          <p:cNvPr id="11" name="Text 6"/>
          <p:cNvSpPr/>
          <p:nvPr/>
        </p:nvSpPr>
        <p:spPr>
          <a:xfrm>
            <a:off x="8201132" y="5403586"/>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47</a:t>
            </a:r>
            <a:endParaRPr lang="en-US" sz="2700" dirty="0"/>
          </a:p>
        </p:txBody>
      </p:sp>
      <p:pic>
        <p:nvPicPr>
          <p:cNvPr id="12" name="Image 3" descr="ACPD, left view, LIBERO-spatial, task 9, episode 46, recorded step 70, success">    </p:cNvPr>
          <p:cNvPicPr>
            <a:picLocks noChangeAspect="1"/>
          </p:cNvPicPr>
          <p:nvPr/>
        </p:nvPicPr>
        <p:blipFill>
          <a:blip r:embed="rId4"/>
          <a:stretch>
            <a:fillRect/>
          </a:stretch>
        </p:blipFill>
        <p:spPr>
          <a:xfrm>
            <a:off x="12228546" y="1426464"/>
            <a:ext cx="3954262" cy="3954262"/>
          </a:xfrm>
          <a:prstGeom prst="rect">
            <a:avLst/>
          </a:prstGeom>
        </p:spPr>
      </p:pic>
      <p:sp>
        <p:nvSpPr>
          <p:cNvPr id="13" name="Text 7"/>
          <p:cNvSpPr/>
          <p:nvPr/>
        </p:nvSpPr>
        <p:spPr>
          <a:xfrm>
            <a:off x="12228546" y="5403586"/>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70</a:t>
            </a:r>
            <a:endParaRPr lang="en-US" sz="2700" dirty="0"/>
          </a:p>
        </p:txBody>
      </p:sp>
      <p:pic>
        <p:nvPicPr>
          <p:cNvPr id="14" name="Image 4" descr="ACPD, left view, LIBERO-spatial, task 9, episode 46, recorded step 94, success">    </p:cNvPr>
          <p:cNvPicPr>
            <a:picLocks noChangeAspect="1"/>
          </p:cNvPicPr>
          <p:nvPr/>
        </p:nvPicPr>
        <p:blipFill>
          <a:blip r:embed="rId5"/>
          <a:stretch>
            <a:fillRect/>
          </a:stretch>
        </p:blipFill>
        <p:spPr>
          <a:xfrm>
            <a:off x="16255959" y="1426464"/>
            <a:ext cx="3954262" cy="3954262"/>
          </a:xfrm>
          <a:prstGeom prst="rect">
            <a:avLst/>
          </a:prstGeom>
        </p:spPr>
      </p:pic>
      <p:sp>
        <p:nvSpPr>
          <p:cNvPr id="15" name="Text 8"/>
          <p:cNvSpPr/>
          <p:nvPr/>
        </p:nvSpPr>
        <p:spPr>
          <a:xfrm>
            <a:off x="16255959" y="5403586"/>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94</a:t>
            </a:r>
            <a:endParaRPr lang="en-US" sz="2700" dirty="0"/>
          </a:p>
        </p:txBody>
      </p:sp>
      <p:pic>
        <p:nvPicPr>
          <p:cNvPr id="16" name="Image 5" descr="ACPD, left view, LIBERO-spatial, task 9, episode 46, recorded step 117, success">    </p:cNvPr>
          <p:cNvPicPr>
            <a:picLocks noChangeAspect="1"/>
          </p:cNvPicPr>
          <p:nvPr/>
        </p:nvPicPr>
        <p:blipFill>
          <a:blip r:embed="rId6"/>
          <a:stretch>
            <a:fillRect/>
          </a:stretch>
        </p:blipFill>
        <p:spPr>
          <a:xfrm>
            <a:off x="20283373" y="1426464"/>
            <a:ext cx="3954262" cy="3954262"/>
          </a:xfrm>
          <a:prstGeom prst="rect">
            <a:avLst/>
          </a:prstGeom>
        </p:spPr>
      </p:pic>
      <p:sp>
        <p:nvSpPr>
          <p:cNvPr id="17" name="Text 9"/>
          <p:cNvSpPr/>
          <p:nvPr/>
        </p:nvSpPr>
        <p:spPr>
          <a:xfrm>
            <a:off x="20283373" y="5403586"/>
            <a:ext cx="3954262" cy="420624"/>
          </a:xfrm>
          <a:prstGeom prst="rect">
            <a:avLst/>
          </a:prstGeom>
          <a:noFill/>
          <a:ln/>
        </p:spPr>
        <p:txBody>
          <a:bodyPr wrap="square" lIns="0" tIns="0" rIns="0" bIns="0" rtlCol="0" anchor="ctr"/>
          <a:lstStyle/>
          <a:p>
            <a:pPr algn="ctr" indent="0" marL="0">
              <a:buNone/>
            </a:pPr>
            <a:r>
              <a:rPr lang="en-US" sz="2700" b="1" dirty="0">
                <a:solidFill>
                  <a:srgbClr val="666666"/>
                </a:solidFill>
                <a:latin typeface="Liberation Serif" pitchFamily="34" charset="0"/>
                <a:ea typeface="Liberation Serif" pitchFamily="34" charset="-122"/>
                <a:cs typeface="Liberation Serif" pitchFamily="34" charset="-120"/>
              </a:rPr>
              <a:t>Step 117 · Success</a:t>
            </a:r>
            <a:endParaRPr lang="en-US" sz="2700" dirty="0"/>
          </a:p>
        </p:txBody>
      </p:sp>
      <p:sp>
        <p:nvSpPr>
          <p:cNvPr id="18" name="Text 10"/>
          <p:cNvSpPr/>
          <p:nvPr/>
        </p:nvSpPr>
        <p:spPr>
          <a:xfrm>
            <a:off x="146304" y="6044184"/>
            <a:ext cx="2926080" cy="512064"/>
          </a:xfrm>
          <a:prstGeom prst="rect">
            <a:avLst/>
          </a:prstGeom>
          <a:noFill/>
          <a:ln/>
        </p:spPr>
        <p:txBody>
          <a:bodyPr wrap="square" lIns="0" tIns="0" rIns="0" bIns="0" rtlCol="0" anchor="ctr"/>
          <a:lstStyle/>
          <a:p>
            <a:pPr indent="0" marL="0">
              <a:buNone/>
            </a:pPr>
            <a:r>
              <a:rPr lang="en-US" sz="3400" b="1" dirty="0">
                <a:solidFill>
                  <a:srgbClr val="202020"/>
                </a:solidFill>
                <a:latin typeface="Liberation Serif" pitchFamily="34" charset="0"/>
                <a:ea typeface="Liberation Serif" pitchFamily="34" charset="-122"/>
                <a:cs typeface="Liberation Serif" pitchFamily="34" charset="-120"/>
              </a:rPr>
              <a:t>Object</a:t>
            </a:r>
            <a:endParaRPr lang="en-US" sz="3400" dirty="0"/>
          </a:p>
        </p:txBody>
      </p:sp>
      <p:sp>
        <p:nvSpPr>
          <p:cNvPr id="19" name="Text 11"/>
          <p:cNvSpPr/>
          <p:nvPr/>
        </p:nvSpPr>
        <p:spPr>
          <a:xfrm>
            <a:off x="3246120" y="6044184"/>
            <a:ext cx="20991515" cy="512064"/>
          </a:xfrm>
          <a:prstGeom prst="rect">
            <a:avLst/>
          </a:prstGeom>
          <a:noFill/>
          <a:ln/>
        </p:spPr>
        <p:txBody>
          <a:bodyPr wrap="square" lIns="0" tIns="0" rIns="0" bIns="0" rtlCol="0" anchor="ctr"/>
          <a:lstStyle/>
          <a:p>
            <a:pPr indent="0" marL="0">
              <a:buNone/>
            </a:pPr>
            <a:r>
              <a:rPr lang="en-US" sz="3000" dirty="0">
                <a:solidFill>
                  <a:srgbClr val="202020"/>
                </a:solidFill>
                <a:latin typeface="Liberation Serif" pitchFamily="34" charset="0"/>
                <a:ea typeface="Liberation Serif" pitchFamily="34" charset="-122"/>
                <a:cs typeface="Liberation Serif" pitchFamily="34" charset="-120"/>
              </a:rPr>
              <a:t>pick up the bbq sauce and place it in the basket</a:t>
            </a:r>
            <a:endParaRPr lang="en-US" sz="3000" dirty="0"/>
          </a:p>
        </p:txBody>
      </p:sp>
      <p:pic>
        <p:nvPicPr>
          <p:cNvPr id="20" name="Image 6" descr="ACPD, left view, LIBERO-object, task 3, episode 28, recorded step 0, success">    </p:cNvPr>
          <p:cNvPicPr>
            <a:picLocks noChangeAspect="1"/>
          </p:cNvPicPr>
          <p:nvPr/>
        </p:nvPicPr>
        <p:blipFill>
          <a:blip r:embed="rId7"/>
          <a:stretch>
            <a:fillRect/>
          </a:stretch>
        </p:blipFill>
        <p:spPr>
          <a:xfrm>
            <a:off x="146304" y="6601968"/>
            <a:ext cx="3954262" cy="3954262"/>
          </a:xfrm>
          <a:prstGeom prst="rect">
            <a:avLst/>
          </a:prstGeom>
        </p:spPr>
      </p:pic>
      <p:sp>
        <p:nvSpPr>
          <p:cNvPr id="21" name="Text 12"/>
          <p:cNvSpPr/>
          <p:nvPr/>
        </p:nvSpPr>
        <p:spPr>
          <a:xfrm>
            <a:off x="146304" y="10579090"/>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0</a:t>
            </a:r>
            <a:endParaRPr lang="en-US" sz="2700" dirty="0"/>
          </a:p>
        </p:txBody>
      </p:sp>
      <p:pic>
        <p:nvPicPr>
          <p:cNvPr id="22" name="Image 7" descr="ACPD, left view, LIBERO-object, task 3, episode 28, recorded step 25, success">    </p:cNvPr>
          <p:cNvPicPr>
            <a:picLocks noChangeAspect="1"/>
          </p:cNvPicPr>
          <p:nvPr/>
        </p:nvPicPr>
        <p:blipFill>
          <a:blip r:embed="rId8"/>
          <a:stretch>
            <a:fillRect/>
          </a:stretch>
        </p:blipFill>
        <p:spPr>
          <a:xfrm>
            <a:off x="4173718" y="6601968"/>
            <a:ext cx="3954262" cy="3954262"/>
          </a:xfrm>
          <a:prstGeom prst="rect">
            <a:avLst/>
          </a:prstGeom>
        </p:spPr>
      </p:pic>
      <p:sp>
        <p:nvSpPr>
          <p:cNvPr id="23" name="Text 13"/>
          <p:cNvSpPr/>
          <p:nvPr/>
        </p:nvSpPr>
        <p:spPr>
          <a:xfrm>
            <a:off x="4173718" y="10579090"/>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25</a:t>
            </a:r>
            <a:endParaRPr lang="en-US" sz="2700" dirty="0"/>
          </a:p>
        </p:txBody>
      </p:sp>
      <p:pic>
        <p:nvPicPr>
          <p:cNvPr id="24" name="Image 8" descr="ACPD, left view, LIBERO-object, task 3, episode 28, recorded step 50, success">    </p:cNvPr>
          <p:cNvPicPr>
            <a:picLocks noChangeAspect="1"/>
          </p:cNvPicPr>
          <p:nvPr/>
        </p:nvPicPr>
        <p:blipFill>
          <a:blip r:embed="rId9"/>
          <a:stretch>
            <a:fillRect/>
          </a:stretch>
        </p:blipFill>
        <p:spPr>
          <a:xfrm>
            <a:off x="8201132" y="6601968"/>
            <a:ext cx="3954262" cy="3954262"/>
          </a:xfrm>
          <a:prstGeom prst="rect">
            <a:avLst/>
          </a:prstGeom>
        </p:spPr>
      </p:pic>
      <p:sp>
        <p:nvSpPr>
          <p:cNvPr id="25" name="Text 14"/>
          <p:cNvSpPr/>
          <p:nvPr/>
        </p:nvSpPr>
        <p:spPr>
          <a:xfrm>
            <a:off x="8201132" y="10579090"/>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50</a:t>
            </a:r>
            <a:endParaRPr lang="en-US" sz="2700" dirty="0"/>
          </a:p>
        </p:txBody>
      </p:sp>
      <p:pic>
        <p:nvPicPr>
          <p:cNvPr id="26" name="Image 9" descr="ACPD, left view, LIBERO-object, task 3, episode 28, recorded step 76, success">    </p:cNvPr>
          <p:cNvPicPr>
            <a:picLocks noChangeAspect="1"/>
          </p:cNvPicPr>
          <p:nvPr/>
        </p:nvPicPr>
        <p:blipFill>
          <a:blip r:embed="rId10"/>
          <a:stretch>
            <a:fillRect/>
          </a:stretch>
        </p:blipFill>
        <p:spPr>
          <a:xfrm>
            <a:off x="12228546" y="6601968"/>
            <a:ext cx="3954262" cy="3954262"/>
          </a:xfrm>
          <a:prstGeom prst="rect">
            <a:avLst/>
          </a:prstGeom>
        </p:spPr>
      </p:pic>
      <p:sp>
        <p:nvSpPr>
          <p:cNvPr id="27" name="Text 15"/>
          <p:cNvSpPr/>
          <p:nvPr/>
        </p:nvSpPr>
        <p:spPr>
          <a:xfrm>
            <a:off x="12228546" y="10579090"/>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76</a:t>
            </a:r>
            <a:endParaRPr lang="en-US" sz="2700" dirty="0"/>
          </a:p>
        </p:txBody>
      </p:sp>
      <p:pic>
        <p:nvPicPr>
          <p:cNvPr id="28" name="Image 10" descr="ACPD, left view, LIBERO-object, task 3, episode 28, recorded step 101, success">    </p:cNvPr>
          <p:cNvPicPr>
            <a:picLocks noChangeAspect="1"/>
          </p:cNvPicPr>
          <p:nvPr/>
        </p:nvPicPr>
        <p:blipFill>
          <a:blip r:embed="rId11"/>
          <a:stretch>
            <a:fillRect/>
          </a:stretch>
        </p:blipFill>
        <p:spPr>
          <a:xfrm>
            <a:off x="16255959" y="6601968"/>
            <a:ext cx="3954262" cy="3954262"/>
          </a:xfrm>
          <a:prstGeom prst="rect">
            <a:avLst/>
          </a:prstGeom>
        </p:spPr>
      </p:pic>
      <p:sp>
        <p:nvSpPr>
          <p:cNvPr id="29" name="Text 16"/>
          <p:cNvSpPr/>
          <p:nvPr/>
        </p:nvSpPr>
        <p:spPr>
          <a:xfrm>
            <a:off x="16255959" y="10579090"/>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101</a:t>
            </a:r>
            <a:endParaRPr lang="en-US" sz="2700" dirty="0"/>
          </a:p>
        </p:txBody>
      </p:sp>
      <p:pic>
        <p:nvPicPr>
          <p:cNvPr id="30" name="Image 11" descr="ACPD, left view, LIBERO-object, task 3, episode 28, recorded step 126, success">    </p:cNvPr>
          <p:cNvPicPr>
            <a:picLocks noChangeAspect="1"/>
          </p:cNvPicPr>
          <p:nvPr/>
        </p:nvPicPr>
        <p:blipFill>
          <a:blip r:embed="rId12"/>
          <a:stretch>
            <a:fillRect/>
          </a:stretch>
        </p:blipFill>
        <p:spPr>
          <a:xfrm>
            <a:off x="20283373" y="6601968"/>
            <a:ext cx="3954262" cy="3954262"/>
          </a:xfrm>
          <a:prstGeom prst="rect">
            <a:avLst/>
          </a:prstGeom>
        </p:spPr>
      </p:pic>
      <p:sp>
        <p:nvSpPr>
          <p:cNvPr id="31" name="Text 17"/>
          <p:cNvSpPr/>
          <p:nvPr/>
        </p:nvSpPr>
        <p:spPr>
          <a:xfrm>
            <a:off x="20283373" y="10579090"/>
            <a:ext cx="3954262" cy="420624"/>
          </a:xfrm>
          <a:prstGeom prst="rect">
            <a:avLst/>
          </a:prstGeom>
          <a:noFill/>
          <a:ln/>
        </p:spPr>
        <p:txBody>
          <a:bodyPr wrap="square" lIns="0" tIns="0" rIns="0" bIns="0" rtlCol="0" anchor="ctr"/>
          <a:lstStyle/>
          <a:p>
            <a:pPr algn="ctr" indent="0" marL="0">
              <a:buNone/>
            </a:pPr>
            <a:r>
              <a:rPr lang="en-US" sz="2700" b="1" dirty="0">
                <a:solidFill>
                  <a:srgbClr val="666666"/>
                </a:solidFill>
                <a:latin typeface="Liberation Serif" pitchFamily="34" charset="0"/>
                <a:ea typeface="Liberation Serif" pitchFamily="34" charset="-122"/>
                <a:cs typeface="Liberation Serif" pitchFamily="34" charset="-120"/>
              </a:rPr>
              <a:t>Step 126 · Success</a:t>
            </a:r>
            <a:endParaRPr lang="en-US" sz="2700" dirty="0"/>
          </a:p>
        </p:txBody>
      </p:sp>
      <p:sp>
        <p:nvSpPr>
          <p:cNvPr id="32" name="Text 18"/>
          <p:cNvSpPr/>
          <p:nvPr/>
        </p:nvSpPr>
        <p:spPr>
          <a:xfrm>
            <a:off x="146304" y="11219688"/>
            <a:ext cx="2926080" cy="512064"/>
          </a:xfrm>
          <a:prstGeom prst="rect">
            <a:avLst/>
          </a:prstGeom>
          <a:noFill/>
          <a:ln/>
        </p:spPr>
        <p:txBody>
          <a:bodyPr wrap="square" lIns="0" tIns="0" rIns="0" bIns="0" rtlCol="0" anchor="ctr"/>
          <a:lstStyle/>
          <a:p>
            <a:pPr indent="0" marL="0">
              <a:buNone/>
            </a:pPr>
            <a:r>
              <a:rPr lang="en-US" sz="3400" b="1" dirty="0">
                <a:solidFill>
                  <a:srgbClr val="202020"/>
                </a:solidFill>
                <a:latin typeface="Liberation Serif" pitchFamily="34" charset="0"/>
                <a:ea typeface="Liberation Serif" pitchFamily="34" charset="-122"/>
                <a:cs typeface="Liberation Serif" pitchFamily="34" charset="-120"/>
              </a:rPr>
              <a:t>Goal</a:t>
            </a:r>
            <a:endParaRPr lang="en-US" sz="3400" dirty="0"/>
          </a:p>
        </p:txBody>
      </p:sp>
      <p:sp>
        <p:nvSpPr>
          <p:cNvPr id="33" name="Text 19"/>
          <p:cNvSpPr/>
          <p:nvPr/>
        </p:nvSpPr>
        <p:spPr>
          <a:xfrm>
            <a:off x="3246120" y="11219688"/>
            <a:ext cx="20991515" cy="512064"/>
          </a:xfrm>
          <a:prstGeom prst="rect">
            <a:avLst/>
          </a:prstGeom>
          <a:noFill/>
          <a:ln/>
        </p:spPr>
        <p:txBody>
          <a:bodyPr wrap="square" lIns="0" tIns="0" rIns="0" bIns="0" rtlCol="0" anchor="ctr"/>
          <a:lstStyle/>
          <a:p>
            <a:pPr indent="0" marL="0">
              <a:buNone/>
            </a:pPr>
            <a:r>
              <a:rPr lang="en-US" sz="3000" dirty="0">
                <a:solidFill>
                  <a:srgbClr val="202020"/>
                </a:solidFill>
                <a:latin typeface="Liberation Serif" pitchFamily="34" charset="0"/>
                <a:ea typeface="Liberation Serif" pitchFamily="34" charset="-122"/>
                <a:cs typeface="Liberation Serif" pitchFamily="34" charset="-120"/>
              </a:rPr>
              <a:t>put the bowl on top of the cabinet</a:t>
            </a:r>
            <a:endParaRPr lang="en-US" sz="3000" dirty="0"/>
          </a:p>
        </p:txBody>
      </p:sp>
      <p:pic>
        <p:nvPicPr>
          <p:cNvPr id="34" name="Image 12" descr="ACPD, left view, LIBERO-goal, task 4, episode 35, recorded step 0, success">    </p:cNvPr>
          <p:cNvPicPr>
            <a:picLocks noChangeAspect="1"/>
          </p:cNvPicPr>
          <p:nvPr/>
        </p:nvPicPr>
        <p:blipFill>
          <a:blip r:embed="rId13"/>
          <a:stretch>
            <a:fillRect/>
          </a:stretch>
        </p:blipFill>
        <p:spPr>
          <a:xfrm>
            <a:off x="146304" y="11777472"/>
            <a:ext cx="3954262" cy="3954262"/>
          </a:xfrm>
          <a:prstGeom prst="rect">
            <a:avLst/>
          </a:prstGeom>
        </p:spPr>
      </p:pic>
      <p:sp>
        <p:nvSpPr>
          <p:cNvPr id="35" name="Text 20"/>
          <p:cNvSpPr/>
          <p:nvPr/>
        </p:nvSpPr>
        <p:spPr>
          <a:xfrm>
            <a:off x="146304" y="15754594"/>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0</a:t>
            </a:r>
            <a:endParaRPr lang="en-US" sz="2700" dirty="0"/>
          </a:p>
        </p:txBody>
      </p:sp>
      <p:pic>
        <p:nvPicPr>
          <p:cNvPr id="36" name="Image 13" descr="ACPD, left view, LIBERO-goal, task 4, episode 35, recorded step 20, success">    </p:cNvPr>
          <p:cNvPicPr>
            <a:picLocks noChangeAspect="1"/>
          </p:cNvPicPr>
          <p:nvPr/>
        </p:nvPicPr>
        <p:blipFill>
          <a:blip r:embed="rId14"/>
          <a:stretch>
            <a:fillRect/>
          </a:stretch>
        </p:blipFill>
        <p:spPr>
          <a:xfrm>
            <a:off x="4173718" y="11777472"/>
            <a:ext cx="3954262" cy="3954262"/>
          </a:xfrm>
          <a:prstGeom prst="rect">
            <a:avLst/>
          </a:prstGeom>
        </p:spPr>
      </p:pic>
      <p:sp>
        <p:nvSpPr>
          <p:cNvPr id="37" name="Text 21"/>
          <p:cNvSpPr/>
          <p:nvPr/>
        </p:nvSpPr>
        <p:spPr>
          <a:xfrm>
            <a:off x="4173718" y="15754594"/>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20</a:t>
            </a:r>
            <a:endParaRPr lang="en-US" sz="2700" dirty="0"/>
          </a:p>
        </p:txBody>
      </p:sp>
      <p:pic>
        <p:nvPicPr>
          <p:cNvPr id="38" name="Image 14" descr="ACPD, left view, LIBERO-goal, task 4, episode 35, recorded step 40, success">    </p:cNvPr>
          <p:cNvPicPr>
            <a:picLocks noChangeAspect="1"/>
          </p:cNvPicPr>
          <p:nvPr/>
        </p:nvPicPr>
        <p:blipFill>
          <a:blip r:embed="rId15"/>
          <a:stretch>
            <a:fillRect/>
          </a:stretch>
        </p:blipFill>
        <p:spPr>
          <a:xfrm>
            <a:off x="8201132" y="11777472"/>
            <a:ext cx="3954262" cy="3954262"/>
          </a:xfrm>
          <a:prstGeom prst="rect">
            <a:avLst/>
          </a:prstGeom>
        </p:spPr>
      </p:pic>
      <p:sp>
        <p:nvSpPr>
          <p:cNvPr id="39" name="Text 22"/>
          <p:cNvSpPr/>
          <p:nvPr/>
        </p:nvSpPr>
        <p:spPr>
          <a:xfrm>
            <a:off x="8201132" y="15754594"/>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40</a:t>
            </a:r>
            <a:endParaRPr lang="en-US" sz="2700" dirty="0"/>
          </a:p>
        </p:txBody>
      </p:sp>
      <p:pic>
        <p:nvPicPr>
          <p:cNvPr id="40" name="Image 15" descr="ACPD, left view, LIBERO-goal, task 4, episode 35, recorded step 61, success">    </p:cNvPr>
          <p:cNvPicPr>
            <a:picLocks noChangeAspect="1"/>
          </p:cNvPicPr>
          <p:nvPr/>
        </p:nvPicPr>
        <p:blipFill>
          <a:blip r:embed="rId16"/>
          <a:stretch>
            <a:fillRect/>
          </a:stretch>
        </p:blipFill>
        <p:spPr>
          <a:xfrm>
            <a:off x="12228546" y="11777472"/>
            <a:ext cx="3954262" cy="3954262"/>
          </a:xfrm>
          <a:prstGeom prst="rect">
            <a:avLst/>
          </a:prstGeom>
        </p:spPr>
      </p:pic>
      <p:sp>
        <p:nvSpPr>
          <p:cNvPr id="41" name="Text 23"/>
          <p:cNvSpPr/>
          <p:nvPr/>
        </p:nvSpPr>
        <p:spPr>
          <a:xfrm>
            <a:off x="12228546" y="15754594"/>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61</a:t>
            </a:r>
            <a:endParaRPr lang="en-US" sz="2700" dirty="0"/>
          </a:p>
        </p:txBody>
      </p:sp>
      <p:pic>
        <p:nvPicPr>
          <p:cNvPr id="42" name="Image 16" descr="ACPD, left view, LIBERO-goal, task 4, episode 35, recorded step 81, success">    </p:cNvPr>
          <p:cNvPicPr>
            <a:picLocks noChangeAspect="1"/>
          </p:cNvPicPr>
          <p:nvPr/>
        </p:nvPicPr>
        <p:blipFill>
          <a:blip r:embed="rId17"/>
          <a:stretch>
            <a:fillRect/>
          </a:stretch>
        </p:blipFill>
        <p:spPr>
          <a:xfrm>
            <a:off x="16255959" y="11777472"/>
            <a:ext cx="3954262" cy="3954262"/>
          </a:xfrm>
          <a:prstGeom prst="rect">
            <a:avLst/>
          </a:prstGeom>
        </p:spPr>
      </p:pic>
      <p:sp>
        <p:nvSpPr>
          <p:cNvPr id="43" name="Text 24"/>
          <p:cNvSpPr/>
          <p:nvPr/>
        </p:nvSpPr>
        <p:spPr>
          <a:xfrm>
            <a:off x="16255959" y="15754594"/>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81</a:t>
            </a:r>
            <a:endParaRPr lang="en-US" sz="2700" dirty="0"/>
          </a:p>
        </p:txBody>
      </p:sp>
      <p:pic>
        <p:nvPicPr>
          <p:cNvPr id="44" name="Image 17" descr="ACPD, left view, LIBERO-goal, task 4, episode 35, recorded step 101, success">    </p:cNvPr>
          <p:cNvPicPr>
            <a:picLocks noChangeAspect="1"/>
          </p:cNvPicPr>
          <p:nvPr/>
        </p:nvPicPr>
        <p:blipFill>
          <a:blip r:embed="rId18"/>
          <a:stretch>
            <a:fillRect/>
          </a:stretch>
        </p:blipFill>
        <p:spPr>
          <a:xfrm>
            <a:off x="20283373" y="11777472"/>
            <a:ext cx="3954262" cy="3954262"/>
          </a:xfrm>
          <a:prstGeom prst="rect">
            <a:avLst/>
          </a:prstGeom>
        </p:spPr>
      </p:pic>
      <p:sp>
        <p:nvSpPr>
          <p:cNvPr id="45" name="Text 25"/>
          <p:cNvSpPr/>
          <p:nvPr/>
        </p:nvSpPr>
        <p:spPr>
          <a:xfrm>
            <a:off x="20283373" y="15754594"/>
            <a:ext cx="3954262" cy="420624"/>
          </a:xfrm>
          <a:prstGeom prst="rect">
            <a:avLst/>
          </a:prstGeom>
          <a:noFill/>
          <a:ln/>
        </p:spPr>
        <p:txBody>
          <a:bodyPr wrap="square" lIns="0" tIns="0" rIns="0" bIns="0" rtlCol="0" anchor="ctr"/>
          <a:lstStyle/>
          <a:p>
            <a:pPr algn="ctr" indent="0" marL="0">
              <a:buNone/>
            </a:pPr>
            <a:r>
              <a:rPr lang="en-US" sz="2700" b="1" dirty="0">
                <a:solidFill>
                  <a:srgbClr val="666666"/>
                </a:solidFill>
                <a:latin typeface="Liberation Serif" pitchFamily="34" charset="0"/>
                <a:ea typeface="Liberation Serif" pitchFamily="34" charset="-122"/>
                <a:cs typeface="Liberation Serif" pitchFamily="34" charset="-120"/>
              </a:rPr>
              <a:t>Step 101 · Success</a:t>
            </a:r>
            <a:endParaRPr lang="en-US" sz="2700" dirty="0"/>
          </a:p>
        </p:txBody>
      </p:sp>
      <p:sp>
        <p:nvSpPr>
          <p:cNvPr id="46" name="Text 26"/>
          <p:cNvSpPr/>
          <p:nvPr/>
        </p:nvSpPr>
        <p:spPr>
          <a:xfrm>
            <a:off x="146304" y="16395192"/>
            <a:ext cx="2926080" cy="512064"/>
          </a:xfrm>
          <a:prstGeom prst="rect">
            <a:avLst/>
          </a:prstGeom>
          <a:noFill/>
          <a:ln/>
        </p:spPr>
        <p:txBody>
          <a:bodyPr wrap="square" lIns="0" tIns="0" rIns="0" bIns="0" rtlCol="0" anchor="ctr"/>
          <a:lstStyle/>
          <a:p>
            <a:pPr indent="0" marL="0">
              <a:buNone/>
            </a:pPr>
            <a:r>
              <a:rPr lang="en-US" sz="3400" b="1" dirty="0">
                <a:solidFill>
                  <a:srgbClr val="202020"/>
                </a:solidFill>
                <a:latin typeface="Liberation Serif" pitchFamily="34" charset="0"/>
                <a:ea typeface="Liberation Serif" pitchFamily="34" charset="-122"/>
                <a:cs typeface="Liberation Serif" pitchFamily="34" charset="-120"/>
              </a:rPr>
              <a:t>Long</a:t>
            </a:r>
            <a:endParaRPr lang="en-US" sz="3400" dirty="0"/>
          </a:p>
        </p:txBody>
      </p:sp>
      <p:sp>
        <p:nvSpPr>
          <p:cNvPr id="47" name="Text 27"/>
          <p:cNvSpPr/>
          <p:nvPr/>
        </p:nvSpPr>
        <p:spPr>
          <a:xfrm>
            <a:off x="3246120" y="16395192"/>
            <a:ext cx="20991515" cy="512064"/>
          </a:xfrm>
          <a:prstGeom prst="rect">
            <a:avLst/>
          </a:prstGeom>
          <a:noFill/>
          <a:ln/>
        </p:spPr>
        <p:txBody>
          <a:bodyPr wrap="square" lIns="0" tIns="0" rIns="0" bIns="0" rtlCol="0" anchor="ctr"/>
          <a:lstStyle/>
          <a:p>
            <a:pPr indent="0" marL="0">
              <a:buNone/>
            </a:pPr>
            <a:r>
              <a:rPr lang="en-US" sz="3000" dirty="0">
                <a:solidFill>
                  <a:srgbClr val="202020"/>
                </a:solidFill>
                <a:latin typeface="Liberation Serif" pitchFamily="34" charset="0"/>
                <a:ea typeface="Liberation Serif" pitchFamily="34" charset="-122"/>
                <a:cs typeface="Liberation Serif" pitchFamily="34" charset="-120"/>
              </a:rPr>
              <a:t>turn on the stove and put the moka pot on it</a:t>
            </a:r>
            <a:endParaRPr lang="en-US" sz="3000" dirty="0"/>
          </a:p>
        </p:txBody>
      </p:sp>
      <p:pic>
        <p:nvPicPr>
          <p:cNvPr id="48" name="Image 18" descr="ACPD, left view, LIBERO-long, task 2, episode 45, recorded step 0, success">    </p:cNvPr>
          <p:cNvPicPr>
            <a:picLocks noChangeAspect="1"/>
          </p:cNvPicPr>
          <p:nvPr/>
        </p:nvPicPr>
        <p:blipFill>
          <a:blip r:embed="rId19"/>
          <a:stretch>
            <a:fillRect/>
          </a:stretch>
        </p:blipFill>
        <p:spPr>
          <a:xfrm>
            <a:off x="146304" y="16952976"/>
            <a:ext cx="3954262" cy="3954262"/>
          </a:xfrm>
          <a:prstGeom prst="rect">
            <a:avLst/>
          </a:prstGeom>
        </p:spPr>
      </p:pic>
      <p:sp>
        <p:nvSpPr>
          <p:cNvPr id="49" name="Text 28"/>
          <p:cNvSpPr/>
          <p:nvPr/>
        </p:nvSpPr>
        <p:spPr>
          <a:xfrm>
            <a:off x="146304" y="20930098"/>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0</a:t>
            </a:r>
            <a:endParaRPr lang="en-US" sz="2700" dirty="0"/>
          </a:p>
        </p:txBody>
      </p:sp>
      <p:pic>
        <p:nvPicPr>
          <p:cNvPr id="50" name="Image 19" descr="ACPD, left view, LIBERO-long, task 2, episode 45, recorded step 46, success">    </p:cNvPr>
          <p:cNvPicPr>
            <a:picLocks noChangeAspect="1"/>
          </p:cNvPicPr>
          <p:nvPr/>
        </p:nvPicPr>
        <p:blipFill>
          <a:blip r:embed="rId20"/>
          <a:stretch>
            <a:fillRect/>
          </a:stretch>
        </p:blipFill>
        <p:spPr>
          <a:xfrm>
            <a:off x="4173718" y="16952976"/>
            <a:ext cx="3954262" cy="3954262"/>
          </a:xfrm>
          <a:prstGeom prst="rect">
            <a:avLst/>
          </a:prstGeom>
        </p:spPr>
      </p:pic>
      <p:sp>
        <p:nvSpPr>
          <p:cNvPr id="51" name="Text 29"/>
          <p:cNvSpPr/>
          <p:nvPr/>
        </p:nvSpPr>
        <p:spPr>
          <a:xfrm>
            <a:off x="4173718" y="20930098"/>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46</a:t>
            </a:r>
            <a:endParaRPr lang="en-US" sz="2700" dirty="0"/>
          </a:p>
        </p:txBody>
      </p:sp>
      <p:pic>
        <p:nvPicPr>
          <p:cNvPr id="52" name="Image 20" descr="ACPD, left view, LIBERO-long, task 2, episode 45, recorded step 91, success">    </p:cNvPr>
          <p:cNvPicPr>
            <a:picLocks noChangeAspect="1"/>
          </p:cNvPicPr>
          <p:nvPr/>
        </p:nvPicPr>
        <p:blipFill>
          <a:blip r:embed="rId21"/>
          <a:stretch>
            <a:fillRect/>
          </a:stretch>
        </p:blipFill>
        <p:spPr>
          <a:xfrm>
            <a:off x="8201132" y="16952976"/>
            <a:ext cx="3954262" cy="3954262"/>
          </a:xfrm>
          <a:prstGeom prst="rect">
            <a:avLst/>
          </a:prstGeom>
        </p:spPr>
      </p:pic>
      <p:sp>
        <p:nvSpPr>
          <p:cNvPr id="53" name="Text 30"/>
          <p:cNvSpPr/>
          <p:nvPr/>
        </p:nvSpPr>
        <p:spPr>
          <a:xfrm>
            <a:off x="8201132" y="20930098"/>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91</a:t>
            </a:r>
            <a:endParaRPr lang="en-US" sz="2700" dirty="0"/>
          </a:p>
        </p:txBody>
      </p:sp>
      <p:pic>
        <p:nvPicPr>
          <p:cNvPr id="54" name="Image 21" descr="ACPD, left view, LIBERO-long, task 2, episode 45, recorded step 137, success">    </p:cNvPr>
          <p:cNvPicPr>
            <a:picLocks noChangeAspect="1"/>
          </p:cNvPicPr>
          <p:nvPr/>
        </p:nvPicPr>
        <p:blipFill>
          <a:blip r:embed="rId22"/>
          <a:stretch>
            <a:fillRect/>
          </a:stretch>
        </p:blipFill>
        <p:spPr>
          <a:xfrm>
            <a:off x="12228546" y="16952976"/>
            <a:ext cx="3954262" cy="3954262"/>
          </a:xfrm>
          <a:prstGeom prst="rect">
            <a:avLst/>
          </a:prstGeom>
        </p:spPr>
      </p:pic>
      <p:sp>
        <p:nvSpPr>
          <p:cNvPr id="55" name="Text 31"/>
          <p:cNvSpPr/>
          <p:nvPr/>
        </p:nvSpPr>
        <p:spPr>
          <a:xfrm>
            <a:off x="12228546" y="20930098"/>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137</a:t>
            </a:r>
            <a:endParaRPr lang="en-US" sz="2700" dirty="0"/>
          </a:p>
        </p:txBody>
      </p:sp>
      <p:pic>
        <p:nvPicPr>
          <p:cNvPr id="56" name="Image 22" descr="ACPD, left view, LIBERO-long, task 2, episode 45, recorded step 182, success">    </p:cNvPr>
          <p:cNvPicPr>
            <a:picLocks noChangeAspect="1"/>
          </p:cNvPicPr>
          <p:nvPr/>
        </p:nvPicPr>
        <p:blipFill>
          <a:blip r:embed="rId23"/>
          <a:stretch>
            <a:fillRect/>
          </a:stretch>
        </p:blipFill>
        <p:spPr>
          <a:xfrm>
            <a:off x="16255959" y="16952976"/>
            <a:ext cx="3954262" cy="3954262"/>
          </a:xfrm>
          <a:prstGeom prst="rect">
            <a:avLst/>
          </a:prstGeom>
        </p:spPr>
      </p:pic>
      <p:sp>
        <p:nvSpPr>
          <p:cNvPr id="57" name="Text 32"/>
          <p:cNvSpPr/>
          <p:nvPr/>
        </p:nvSpPr>
        <p:spPr>
          <a:xfrm>
            <a:off x="16255959" y="20930098"/>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182</a:t>
            </a:r>
            <a:endParaRPr lang="en-US" sz="2700" dirty="0"/>
          </a:p>
        </p:txBody>
      </p:sp>
      <p:pic>
        <p:nvPicPr>
          <p:cNvPr id="58" name="Image 23" descr="ACPD, left view, LIBERO-long, task 2, episode 45, recorded step 228, success">    </p:cNvPr>
          <p:cNvPicPr>
            <a:picLocks noChangeAspect="1"/>
          </p:cNvPicPr>
          <p:nvPr/>
        </p:nvPicPr>
        <p:blipFill>
          <a:blip r:embed="rId24"/>
          <a:stretch>
            <a:fillRect/>
          </a:stretch>
        </p:blipFill>
        <p:spPr>
          <a:xfrm>
            <a:off x="20283373" y="16952976"/>
            <a:ext cx="3954262" cy="3954262"/>
          </a:xfrm>
          <a:prstGeom prst="rect">
            <a:avLst/>
          </a:prstGeom>
        </p:spPr>
      </p:pic>
      <p:sp>
        <p:nvSpPr>
          <p:cNvPr id="59" name="Text 33"/>
          <p:cNvSpPr/>
          <p:nvPr/>
        </p:nvSpPr>
        <p:spPr>
          <a:xfrm>
            <a:off x="20283373" y="20930098"/>
            <a:ext cx="3954262" cy="420624"/>
          </a:xfrm>
          <a:prstGeom prst="rect">
            <a:avLst/>
          </a:prstGeom>
          <a:noFill/>
          <a:ln/>
        </p:spPr>
        <p:txBody>
          <a:bodyPr wrap="square" lIns="0" tIns="0" rIns="0" bIns="0" rtlCol="0" anchor="ctr"/>
          <a:lstStyle/>
          <a:p>
            <a:pPr algn="ctr" indent="0" marL="0">
              <a:buNone/>
            </a:pPr>
            <a:r>
              <a:rPr lang="en-US" sz="2700" b="1" dirty="0">
                <a:solidFill>
                  <a:srgbClr val="666666"/>
                </a:solidFill>
                <a:latin typeface="Liberation Serif" pitchFamily="34" charset="0"/>
                <a:ea typeface="Liberation Serif" pitchFamily="34" charset="-122"/>
                <a:cs typeface="Liberation Serif" pitchFamily="34" charset="-120"/>
              </a:rPr>
              <a:t>Step 228 · Success</a:t>
            </a:r>
            <a:endParaRPr lang="en-US" sz="2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46304" y="109728"/>
            <a:ext cx="16459200" cy="640080"/>
          </a:xfrm>
          <a:prstGeom prst="rect">
            <a:avLst/>
          </a:prstGeom>
          <a:noFill/>
          <a:ln/>
        </p:spPr>
        <p:txBody>
          <a:bodyPr wrap="square" lIns="0" tIns="0" rIns="0" bIns="0" rtlCol="0" anchor="ctr"/>
          <a:lstStyle/>
          <a:p>
            <a:pPr indent="0" marL="0">
              <a:buNone/>
            </a:pPr>
            <a:r>
              <a:rPr lang="en-US" sz="4400" b="1" dirty="0">
                <a:solidFill>
                  <a:srgbClr val="007D5D"/>
                </a:solidFill>
                <a:latin typeface="Liberation Serif" pitchFamily="34" charset="0"/>
                <a:ea typeface="Liberation Serif" pitchFamily="34" charset="-122"/>
                <a:cs typeface="Liberation Serif" pitchFamily="34" charset="-120"/>
              </a:rPr>
              <a:t>ACPD · Right view</a:t>
            </a:r>
            <a:endParaRPr lang="en-US" sz="4400" dirty="0"/>
          </a:p>
        </p:txBody>
      </p:sp>
      <p:sp>
        <p:nvSpPr>
          <p:cNvPr id="3" name="Text 1"/>
          <p:cNvSpPr/>
          <p:nvPr/>
        </p:nvSpPr>
        <p:spPr>
          <a:xfrm>
            <a:off x="17099280" y="201168"/>
            <a:ext cx="7138355" cy="475488"/>
          </a:xfrm>
          <a:prstGeom prst="rect">
            <a:avLst/>
          </a:prstGeom>
          <a:noFill/>
          <a:ln/>
        </p:spPr>
        <p:txBody>
          <a:bodyPr wrap="square" lIns="0" tIns="0" rIns="0" bIns="0" rtlCol="0" anchor="ctr"/>
          <a:lstStyle/>
          <a:p>
            <a:pPr algn="r" indent="0" marL="0">
              <a:buNone/>
            </a:pPr>
            <a:r>
              <a:rPr lang="en-US" sz="3200" dirty="0">
                <a:solidFill>
                  <a:srgbClr val="666666"/>
                </a:solidFill>
                <a:latin typeface="Liberation Serif" pitchFamily="34" charset="0"/>
                <a:ea typeface="Liberation Serif" pitchFamily="34" charset="-122"/>
                <a:cs typeface="Liberation Serif" pitchFamily="34" charset="-120"/>
              </a:rPr>
              <a:t>Episode progression →</a:t>
            </a:r>
            <a:endParaRPr lang="en-US" sz="3200" dirty="0"/>
          </a:p>
        </p:txBody>
      </p:sp>
      <p:sp>
        <p:nvSpPr>
          <p:cNvPr id="4" name="Text 2"/>
          <p:cNvSpPr/>
          <p:nvPr/>
        </p:nvSpPr>
        <p:spPr>
          <a:xfrm>
            <a:off x="146304" y="868680"/>
            <a:ext cx="2926080" cy="512064"/>
          </a:xfrm>
          <a:prstGeom prst="rect">
            <a:avLst/>
          </a:prstGeom>
          <a:noFill/>
          <a:ln/>
        </p:spPr>
        <p:txBody>
          <a:bodyPr wrap="square" lIns="0" tIns="0" rIns="0" bIns="0" rtlCol="0" anchor="ctr"/>
          <a:lstStyle/>
          <a:p>
            <a:pPr indent="0" marL="0">
              <a:buNone/>
            </a:pPr>
            <a:r>
              <a:rPr lang="en-US" sz="3400" b="1" dirty="0">
                <a:solidFill>
                  <a:srgbClr val="202020"/>
                </a:solidFill>
                <a:latin typeface="Liberation Serif" pitchFamily="34" charset="0"/>
                <a:ea typeface="Liberation Serif" pitchFamily="34" charset="-122"/>
                <a:cs typeface="Liberation Serif" pitchFamily="34" charset="-120"/>
              </a:rPr>
              <a:t>Spatial</a:t>
            </a:r>
            <a:endParaRPr lang="en-US" sz="3400" dirty="0"/>
          </a:p>
        </p:txBody>
      </p:sp>
      <p:sp>
        <p:nvSpPr>
          <p:cNvPr id="5" name="Text 3"/>
          <p:cNvSpPr/>
          <p:nvPr/>
        </p:nvSpPr>
        <p:spPr>
          <a:xfrm>
            <a:off x="3246120" y="868680"/>
            <a:ext cx="20991515" cy="512064"/>
          </a:xfrm>
          <a:prstGeom prst="rect">
            <a:avLst/>
          </a:prstGeom>
          <a:noFill/>
          <a:ln/>
        </p:spPr>
        <p:txBody>
          <a:bodyPr wrap="square" lIns="0" tIns="0" rIns="0" bIns="0" rtlCol="0" anchor="ctr"/>
          <a:lstStyle/>
          <a:p>
            <a:pPr indent="0" marL="0">
              <a:buNone/>
            </a:pPr>
            <a:r>
              <a:rPr lang="en-US" sz="3000" dirty="0">
                <a:solidFill>
                  <a:srgbClr val="202020"/>
                </a:solidFill>
                <a:latin typeface="Liberation Serif" pitchFamily="34" charset="0"/>
                <a:ea typeface="Liberation Serif" pitchFamily="34" charset="-122"/>
                <a:cs typeface="Liberation Serif" pitchFamily="34" charset="-120"/>
              </a:rPr>
              <a:t>pick up the black bowl next to the ramekin and place it on the plate</a:t>
            </a:r>
            <a:endParaRPr lang="en-US" sz="3000" dirty="0"/>
          </a:p>
        </p:txBody>
      </p:sp>
      <p:pic>
        <p:nvPicPr>
          <p:cNvPr id="6" name="Image 0" descr="ACPD, right view, LIBERO-spatial, task 1, episode 42, recorded step 0, success">    </p:cNvPr>
          <p:cNvPicPr>
            <a:picLocks noChangeAspect="1"/>
          </p:cNvPicPr>
          <p:nvPr/>
        </p:nvPicPr>
        <p:blipFill>
          <a:blip r:embed="rId1"/>
          <a:stretch>
            <a:fillRect/>
          </a:stretch>
        </p:blipFill>
        <p:spPr>
          <a:xfrm>
            <a:off x="146304" y="1426464"/>
            <a:ext cx="3954262" cy="3954262"/>
          </a:xfrm>
          <a:prstGeom prst="rect">
            <a:avLst/>
          </a:prstGeom>
        </p:spPr>
      </p:pic>
      <p:sp>
        <p:nvSpPr>
          <p:cNvPr id="7" name="Text 4"/>
          <p:cNvSpPr/>
          <p:nvPr/>
        </p:nvSpPr>
        <p:spPr>
          <a:xfrm>
            <a:off x="146304" y="5403586"/>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0</a:t>
            </a:r>
            <a:endParaRPr lang="en-US" sz="2700" dirty="0"/>
          </a:p>
        </p:txBody>
      </p:sp>
      <p:pic>
        <p:nvPicPr>
          <p:cNvPr id="8" name="Image 1" descr="ACPD, right view, LIBERO-spatial, task 1, episode 42, recorded step 21, success">    </p:cNvPr>
          <p:cNvPicPr>
            <a:picLocks noChangeAspect="1"/>
          </p:cNvPicPr>
          <p:nvPr/>
        </p:nvPicPr>
        <p:blipFill>
          <a:blip r:embed="rId2"/>
          <a:stretch>
            <a:fillRect/>
          </a:stretch>
        </p:blipFill>
        <p:spPr>
          <a:xfrm>
            <a:off x="4173718" y="1426464"/>
            <a:ext cx="3954262" cy="3954262"/>
          </a:xfrm>
          <a:prstGeom prst="rect">
            <a:avLst/>
          </a:prstGeom>
        </p:spPr>
      </p:pic>
      <p:sp>
        <p:nvSpPr>
          <p:cNvPr id="9" name="Text 5"/>
          <p:cNvSpPr/>
          <p:nvPr/>
        </p:nvSpPr>
        <p:spPr>
          <a:xfrm>
            <a:off x="4173718" y="5403586"/>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21</a:t>
            </a:r>
            <a:endParaRPr lang="en-US" sz="2700" dirty="0"/>
          </a:p>
        </p:txBody>
      </p:sp>
      <p:pic>
        <p:nvPicPr>
          <p:cNvPr id="10" name="Image 2" descr="ACPD, right view, LIBERO-spatial, task 1, episode 42, recorded step 41, success">    </p:cNvPr>
          <p:cNvPicPr>
            <a:picLocks noChangeAspect="1"/>
          </p:cNvPicPr>
          <p:nvPr/>
        </p:nvPicPr>
        <p:blipFill>
          <a:blip r:embed="rId3"/>
          <a:stretch>
            <a:fillRect/>
          </a:stretch>
        </p:blipFill>
        <p:spPr>
          <a:xfrm>
            <a:off x="8201132" y="1426464"/>
            <a:ext cx="3954262" cy="3954262"/>
          </a:xfrm>
          <a:prstGeom prst="rect">
            <a:avLst/>
          </a:prstGeom>
        </p:spPr>
      </p:pic>
      <p:sp>
        <p:nvSpPr>
          <p:cNvPr id="11" name="Text 6"/>
          <p:cNvSpPr/>
          <p:nvPr/>
        </p:nvSpPr>
        <p:spPr>
          <a:xfrm>
            <a:off x="8201132" y="5403586"/>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41</a:t>
            </a:r>
            <a:endParaRPr lang="en-US" sz="2700" dirty="0"/>
          </a:p>
        </p:txBody>
      </p:sp>
      <p:pic>
        <p:nvPicPr>
          <p:cNvPr id="12" name="Image 3" descr="ACPD, right view, LIBERO-spatial, task 1, episode 42, recorded step 62, success">    </p:cNvPr>
          <p:cNvPicPr>
            <a:picLocks noChangeAspect="1"/>
          </p:cNvPicPr>
          <p:nvPr/>
        </p:nvPicPr>
        <p:blipFill>
          <a:blip r:embed="rId4"/>
          <a:stretch>
            <a:fillRect/>
          </a:stretch>
        </p:blipFill>
        <p:spPr>
          <a:xfrm>
            <a:off x="12228546" y="1426464"/>
            <a:ext cx="3954262" cy="3954262"/>
          </a:xfrm>
          <a:prstGeom prst="rect">
            <a:avLst/>
          </a:prstGeom>
        </p:spPr>
      </p:pic>
      <p:sp>
        <p:nvSpPr>
          <p:cNvPr id="13" name="Text 7"/>
          <p:cNvSpPr/>
          <p:nvPr/>
        </p:nvSpPr>
        <p:spPr>
          <a:xfrm>
            <a:off x="12228546" y="5403586"/>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62</a:t>
            </a:r>
            <a:endParaRPr lang="en-US" sz="2700" dirty="0"/>
          </a:p>
        </p:txBody>
      </p:sp>
      <p:pic>
        <p:nvPicPr>
          <p:cNvPr id="14" name="Image 4" descr="ACPD, right view, LIBERO-spatial, task 1, episode 42, recorded step 82, success">    </p:cNvPr>
          <p:cNvPicPr>
            <a:picLocks noChangeAspect="1"/>
          </p:cNvPicPr>
          <p:nvPr/>
        </p:nvPicPr>
        <p:blipFill>
          <a:blip r:embed="rId5"/>
          <a:stretch>
            <a:fillRect/>
          </a:stretch>
        </p:blipFill>
        <p:spPr>
          <a:xfrm>
            <a:off x="16255959" y="1426464"/>
            <a:ext cx="3954262" cy="3954262"/>
          </a:xfrm>
          <a:prstGeom prst="rect">
            <a:avLst/>
          </a:prstGeom>
        </p:spPr>
      </p:pic>
      <p:sp>
        <p:nvSpPr>
          <p:cNvPr id="15" name="Text 8"/>
          <p:cNvSpPr/>
          <p:nvPr/>
        </p:nvSpPr>
        <p:spPr>
          <a:xfrm>
            <a:off x="16255959" y="5403586"/>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82</a:t>
            </a:r>
            <a:endParaRPr lang="en-US" sz="2700" dirty="0"/>
          </a:p>
        </p:txBody>
      </p:sp>
      <p:pic>
        <p:nvPicPr>
          <p:cNvPr id="16" name="Image 5" descr="ACPD, right view, LIBERO-spatial, task 1, episode 42, recorded step 103, success">    </p:cNvPr>
          <p:cNvPicPr>
            <a:picLocks noChangeAspect="1"/>
          </p:cNvPicPr>
          <p:nvPr/>
        </p:nvPicPr>
        <p:blipFill>
          <a:blip r:embed="rId6"/>
          <a:stretch>
            <a:fillRect/>
          </a:stretch>
        </p:blipFill>
        <p:spPr>
          <a:xfrm>
            <a:off x="20283373" y="1426464"/>
            <a:ext cx="3954262" cy="3954262"/>
          </a:xfrm>
          <a:prstGeom prst="rect">
            <a:avLst/>
          </a:prstGeom>
        </p:spPr>
      </p:pic>
      <p:sp>
        <p:nvSpPr>
          <p:cNvPr id="17" name="Text 9"/>
          <p:cNvSpPr/>
          <p:nvPr/>
        </p:nvSpPr>
        <p:spPr>
          <a:xfrm>
            <a:off x="20283373" y="5403586"/>
            <a:ext cx="3954262" cy="420624"/>
          </a:xfrm>
          <a:prstGeom prst="rect">
            <a:avLst/>
          </a:prstGeom>
          <a:noFill/>
          <a:ln/>
        </p:spPr>
        <p:txBody>
          <a:bodyPr wrap="square" lIns="0" tIns="0" rIns="0" bIns="0" rtlCol="0" anchor="ctr"/>
          <a:lstStyle/>
          <a:p>
            <a:pPr algn="ctr" indent="0" marL="0">
              <a:buNone/>
            </a:pPr>
            <a:r>
              <a:rPr lang="en-US" sz="2700" b="1" dirty="0">
                <a:solidFill>
                  <a:srgbClr val="666666"/>
                </a:solidFill>
                <a:latin typeface="Liberation Serif" pitchFamily="34" charset="0"/>
                <a:ea typeface="Liberation Serif" pitchFamily="34" charset="-122"/>
                <a:cs typeface="Liberation Serif" pitchFamily="34" charset="-120"/>
              </a:rPr>
              <a:t>Step 103 · Success</a:t>
            </a:r>
            <a:endParaRPr lang="en-US" sz="2700" dirty="0"/>
          </a:p>
        </p:txBody>
      </p:sp>
      <p:sp>
        <p:nvSpPr>
          <p:cNvPr id="18" name="Text 10"/>
          <p:cNvSpPr/>
          <p:nvPr/>
        </p:nvSpPr>
        <p:spPr>
          <a:xfrm>
            <a:off x="146304" y="6044184"/>
            <a:ext cx="2926080" cy="512064"/>
          </a:xfrm>
          <a:prstGeom prst="rect">
            <a:avLst/>
          </a:prstGeom>
          <a:noFill/>
          <a:ln/>
        </p:spPr>
        <p:txBody>
          <a:bodyPr wrap="square" lIns="0" tIns="0" rIns="0" bIns="0" rtlCol="0" anchor="ctr"/>
          <a:lstStyle/>
          <a:p>
            <a:pPr indent="0" marL="0">
              <a:buNone/>
            </a:pPr>
            <a:r>
              <a:rPr lang="en-US" sz="3400" b="1" dirty="0">
                <a:solidFill>
                  <a:srgbClr val="202020"/>
                </a:solidFill>
                <a:latin typeface="Liberation Serif" pitchFamily="34" charset="0"/>
                <a:ea typeface="Liberation Serif" pitchFamily="34" charset="-122"/>
                <a:cs typeface="Liberation Serif" pitchFamily="34" charset="-120"/>
              </a:rPr>
              <a:t>Object</a:t>
            </a:r>
            <a:endParaRPr lang="en-US" sz="3400" dirty="0"/>
          </a:p>
        </p:txBody>
      </p:sp>
      <p:sp>
        <p:nvSpPr>
          <p:cNvPr id="19" name="Text 11"/>
          <p:cNvSpPr/>
          <p:nvPr/>
        </p:nvSpPr>
        <p:spPr>
          <a:xfrm>
            <a:off x="3246120" y="6044184"/>
            <a:ext cx="20991515" cy="512064"/>
          </a:xfrm>
          <a:prstGeom prst="rect">
            <a:avLst/>
          </a:prstGeom>
          <a:noFill/>
          <a:ln/>
        </p:spPr>
        <p:txBody>
          <a:bodyPr wrap="square" lIns="0" tIns="0" rIns="0" bIns="0" rtlCol="0" anchor="ctr"/>
          <a:lstStyle/>
          <a:p>
            <a:pPr indent="0" marL="0">
              <a:buNone/>
            </a:pPr>
            <a:r>
              <a:rPr lang="en-US" sz="3000" dirty="0">
                <a:solidFill>
                  <a:srgbClr val="202020"/>
                </a:solidFill>
                <a:latin typeface="Liberation Serif" pitchFamily="34" charset="0"/>
                <a:ea typeface="Liberation Serif" pitchFamily="34" charset="-122"/>
                <a:cs typeface="Liberation Serif" pitchFamily="34" charset="-120"/>
              </a:rPr>
              <a:t>pick up the milk and place it in the basket</a:t>
            </a:r>
            <a:endParaRPr lang="en-US" sz="3000" dirty="0"/>
          </a:p>
        </p:txBody>
      </p:sp>
      <p:pic>
        <p:nvPicPr>
          <p:cNvPr id="20" name="Image 6" descr="ACPD, right view, LIBERO-object, task 7, episode 19, recorded step 0, failure">    </p:cNvPr>
          <p:cNvPicPr>
            <a:picLocks noChangeAspect="1"/>
          </p:cNvPicPr>
          <p:nvPr/>
        </p:nvPicPr>
        <p:blipFill>
          <a:blip r:embed="rId7"/>
          <a:stretch>
            <a:fillRect/>
          </a:stretch>
        </p:blipFill>
        <p:spPr>
          <a:xfrm>
            <a:off x="146304" y="6601968"/>
            <a:ext cx="3954262" cy="3954262"/>
          </a:xfrm>
          <a:prstGeom prst="rect">
            <a:avLst/>
          </a:prstGeom>
        </p:spPr>
      </p:pic>
      <p:sp>
        <p:nvSpPr>
          <p:cNvPr id="21" name="Text 12"/>
          <p:cNvSpPr/>
          <p:nvPr/>
        </p:nvSpPr>
        <p:spPr>
          <a:xfrm>
            <a:off x="146304" y="10579090"/>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0</a:t>
            </a:r>
            <a:endParaRPr lang="en-US" sz="2700" dirty="0"/>
          </a:p>
        </p:txBody>
      </p:sp>
      <p:pic>
        <p:nvPicPr>
          <p:cNvPr id="22" name="Image 7" descr="ACPD, right view, LIBERO-object, task 7, episode 19, recorded step 56, failure">    </p:cNvPr>
          <p:cNvPicPr>
            <a:picLocks noChangeAspect="1"/>
          </p:cNvPicPr>
          <p:nvPr/>
        </p:nvPicPr>
        <p:blipFill>
          <a:blip r:embed="rId8"/>
          <a:stretch>
            <a:fillRect/>
          </a:stretch>
        </p:blipFill>
        <p:spPr>
          <a:xfrm>
            <a:off x="4173718" y="6601968"/>
            <a:ext cx="3954262" cy="3954262"/>
          </a:xfrm>
          <a:prstGeom prst="rect">
            <a:avLst/>
          </a:prstGeom>
        </p:spPr>
      </p:pic>
      <p:sp>
        <p:nvSpPr>
          <p:cNvPr id="23" name="Text 13"/>
          <p:cNvSpPr/>
          <p:nvPr/>
        </p:nvSpPr>
        <p:spPr>
          <a:xfrm>
            <a:off x="4173718" y="10579090"/>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56</a:t>
            </a:r>
            <a:endParaRPr lang="en-US" sz="2700" dirty="0"/>
          </a:p>
        </p:txBody>
      </p:sp>
      <p:pic>
        <p:nvPicPr>
          <p:cNvPr id="24" name="Image 8" descr="ACPD, right view, LIBERO-object, task 7, episode 19, recorded step 112, failure">    </p:cNvPr>
          <p:cNvPicPr>
            <a:picLocks noChangeAspect="1"/>
          </p:cNvPicPr>
          <p:nvPr/>
        </p:nvPicPr>
        <p:blipFill>
          <a:blip r:embed="rId9"/>
          <a:stretch>
            <a:fillRect/>
          </a:stretch>
        </p:blipFill>
        <p:spPr>
          <a:xfrm>
            <a:off x="8201132" y="6601968"/>
            <a:ext cx="3954262" cy="3954262"/>
          </a:xfrm>
          <a:prstGeom prst="rect">
            <a:avLst/>
          </a:prstGeom>
        </p:spPr>
      </p:pic>
      <p:sp>
        <p:nvSpPr>
          <p:cNvPr id="25" name="Text 14"/>
          <p:cNvSpPr/>
          <p:nvPr/>
        </p:nvSpPr>
        <p:spPr>
          <a:xfrm>
            <a:off x="8201132" y="10579090"/>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112</a:t>
            </a:r>
            <a:endParaRPr lang="en-US" sz="2700" dirty="0"/>
          </a:p>
        </p:txBody>
      </p:sp>
      <p:pic>
        <p:nvPicPr>
          <p:cNvPr id="26" name="Image 9" descr="ACPD, right view, LIBERO-object, task 7, episode 19, recorded step 167, failure">    </p:cNvPr>
          <p:cNvPicPr>
            <a:picLocks noChangeAspect="1"/>
          </p:cNvPicPr>
          <p:nvPr/>
        </p:nvPicPr>
        <p:blipFill>
          <a:blip r:embed="rId10"/>
          <a:stretch>
            <a:fillRect/>
          </a:stretch>
        </p:blipFill>
        <p:spPr>
          <a:xfrm>
            <a:off x="12228546" y="6601968"/>
            <a:ext cx="3954262" cy="3954262"/>
          </a:xfrm>
          <a:prstGeom prst="rect">
            <a:avLst/>
          </a:prstGeom>
        </p:spPr>
      </p:pic>
      <p:sp>
        <p:nvSpPr>
          <p:cNvPr id="27" name="Text 15"/>
          <p:cNvSpPr/>
          <p:nvPr/>
        </p:nvSpPr>
        <p:spPr>
          <a:xfrm>
            <a:off x="12228546" y="10579090"/>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167</a:t>
            </a:r>
            <a:endParaRPr lang="en-US" sz="2700" dirty="0"/>
          </a:p>
        </p:txBody>
      </p:sp>
      <p:pic>
        <p:nvPicPr>
          <p:cNvPr id="28" name="Image 10" descr="ACPD, right view, LIBERO-object, task 7, episode 19, recorded step 223, failure">    </p:cNvPr>
          <p:cNvPicPr>
            <a:picLocks noChangeAspect="1"/>
          </p:cNvPicPr>
          <p:nvPr/>
        </p:nvPicPr>
        <p:blipFill>
          <a:blip r:embed="rId11"/>
          <a:stretch>
            <a:fillRect/>
          </a:stretch>
        </p:blipFill>
        <p:spPr>
          <a:xfrm>
            <a:off x="16255959" y="6601968"/>
            <a:ext cx="3954262" cy="3954262"/>
          </a:xfrm>
          <a:prstGeom prst="rect">
            <a:avLst/>
          </a:prstGeom>
        </p:spPr>
      </p:pic>
      <p:sp>
        <p:nvSpPr>
          <p:cNvPr id="29" name="Text 16"/>
          <p:cNvSpPr/>
          <p:nvPr/>
        </p:nvSpPr>
        <p:spPr>
          <a:xfrm>
            <a:off x="16255959" y="10579090"/>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223</a:t>
            </a:r>
            <a:endParaRPr lang="en-US" sz="2700" dirty="0"/>
          </a:p>
        </p:txBody>
      </p:sp>
      <p:pic>
        <p:nvPicPr>
          <p:cNvPr id="30" name="Image 11" descr="ACPD, right view, LIBERO-object, task 7, episode 19, recorded step 279, failure">    </p:cNvPr>
          <p:cNvPicPr>
            <a:picLocks noChangeAspect="1"/>
          </p:cNvPicPr>
          <p:nvPr/>
        </p:nvPicPr>
        <p:blipFill>
          <a:blip r:embed="rId12"/>
          <a:stretch>
            <a:fillRect/>
          </a:stretch>
        </p:blipFill>
        <p:spPr>
          <a:xfrm>
            <a:off x="20283373" y="6601968"/>
            <a:ext cx="3954262" cy="3954262"/>
          </a:xfrm>
          <a:prstGeom prst="rect">
            <a:avLst/>
          </a:prstGeom>
        </p:spPr>
      </p:pic>
      <p:sp>
        <p:nvSpPr>
          <p:cNvPr id="31" name="Text 17"/>
          <p:cNvSpPr/>
          <p:nvPr/>
        </p:nvSpPr>
        <p:spPr>
          <a:xfrm>
            <a:off x="20283373" y="10579090"/>
            <a:ext cx="3954262" cy="420624"/>
          </a:xfrm>
          <a:prstGeom prst="rect">
            <a:avLst/>
          </a:prstGeom>
          <a:noFill/>
          <a:ln/>
        </p:spPr>
        <p:txBody>
          <a:bodyPr wrap="square" lIns="0" tIns="0" rIns="0" bIns="0" rtlCol="0" anchor="ctr"/>
          <a:lstStyle/>
          <a:p>
            <a:pPr algn="ctr" indent="0" marL="0">
              <a:buNone/>
            </a:pPr>
            <a:r>
              <a:rPr lang="en-US" sz="2700" b="1" dirty="0">
                <a:solidFill>
                  <a:srgbClr val="666666"/>
                </a:solidFill>
                <a:latin typeface="Liberation Serif" pitchFamily="34" charset="0"/>
                <a:ea typeface="Liberation Serif" pitchFamily="34" charset="-122"/>
                <a:cs typeface="Liberation Serif" pitchFamily="34" charset="-120"/>
              </a:rPr>
              <a:t>Step 279 · Failure</a:t>
            </a:r>
            <a:endParaRPr lang="en-US" sz="2700" dirty="0"/>
          </a:p>
        </p:txBody>
      </p:sp>
      <p:sp>
        <p:nvSpPr>
          <p:cNvPr id="32" name="Text 18"/>
          <p:cNvSpPr/>
          <p:nvPr/>
        </p:nvSpPr>
        <p:spPr>
          <a:xfrm>
            <a:off x="146304" y="11219688"/>
            <a:ext cx="2926080" cy="512064"/>
          </a:xfrm>
          <a:prstGeom prst="rect">
            <a:avLst/>
          </a:prstGeom>
          <a:noFill/>
          <a:ln/>
        </p:spPr>
        <p:txBody>
          <a:bodyPr wrap="square" lIns="0" tIns="0" rIns="0" bIns="0" rtlCol="0" anchor="ctr"/>
          <a:lstStyle/>
          <a:p>
            <a:pPr indent="0" marL="0">
              <a:buNone/>
            </a:pPr>
            <a:r>
              <a:rPr lang="en-US" sz="3400" b="1" dirty="0">
                <a:solidFill>
                  <a:srgbClr val="202020"/>
                </a:solidFill>
                <a:latin typeface="Liberation Serif" pitchFamily="34" charset="0"/>
                <a:ea typeface="Liberation Serif" pitchFamily="34" charset="-122"/>
                <a:cs typeface="Liberation Serif" pitchFamily="34" charset="-120"/>
              </a:rPr>
              <a:t>Goal</a:t>
            </a:r>
            <a:endParaRPr lang="en-US" sz="3400" dirty="0"/>
          </a:p>
        </p:txBody>
      </p:sp>
      <p:sp>
        <p:nvSpPr>
          <p:cNvPr id="33" name="Text 19"/>
          <p:cNvSpPr/>
          <p:nvPr/>
        </p:nvSpPr>
        <p:spPr>
          <a:xfrm>
            <a:off x="3246120" y="11219688"/>
            <a:ext cx="20991515" cy="512064"/>
          </a:xfrm>
          <a:prstGeom prst="rect">
            <a:avLst/>
          </a:prstGeom>
          <a:noFill/>
          <a:ln/>
        </p:spPr>
        <p:txBody>
          <a:bodyPr wrap="square" lIns="0" tIns="0" rIns="0" bIns="0" rtlCol="0" anchor="ctr"/>
          <a:lstStyle/>
          <a:p>
            <a:pPr indent="0" marL="0">
              <a:buNone/>
            </a:pPr>
            <a:r>
              <a:rPr lang="en-US" sz="3000" dirty="0">
                <a:solidFill>
                  <a:srgbClr val="202020"/>
                </a:solidFill>
                <a:latin typeface="Liberation Serif" pitchFamily="34" charset="0"/>
                <a:ea typeface="Liberation Serif" pitchFamily="34" charset="-122"/>
                <a:cs typeface="Liberation Serif" pitchFamily="34" charset="-120"/>
              </a:rPr>
              <a:t>turn on the stove</a:t>
            </a:r>
            <a:endParaRPr lang="en-US" sz="3000" dirty="0"/>
          </a:p>
        </p:txBody>
      </p:sp>
      <p:pic>
        <p:nvPicPr>
          <p:cNvPr id="34" name="Image 12" descr="ACPD, right view, LIBERO-goal, task 7, episode 0, recorded step 0, success">    </p:cNvPr>
          <p:cNvPicPr>
            <a:picLocks noChangeAspect="1"/>
          </p:cNvPicPr>
          <p:nvPr/>
        </p:nvPicPr>
        <p:blipFill>
          <a:blip r:embed="rId13"/>
          <a:stretch>
            <a:fillRect/>
          </a:stretch>
        </p:blipFill>
        <p:spPr>
          <a:xfrm>
            <a:off x="146304" y="11777472"/>
            <a:ext cx="3954262" cy="3954262"/>
          </a:xfrm>
          <a:prstGeom prst="rect">
            <a:avLst/>
          </a:prstGeom>
        </p:spPr>
      </p:pic>
      <p:sp>
        <p:nvSpPr>
          <p:cNvPr id="35" name="Text 20"/>
          <p:cNvSpPr/>
          <p:nvPr/>
        </p:nvSpPr>
        <p:spPr>
          <a:xfrm>
            <a:off x="146304" y="15754594"/>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0</a:t>
            </a:r>
            <a:endParaRPr lang="en-US" sz="2700" dirty="0"/>
          </a:p>
        </p:txBody>
      </p:sp>
      <p:pic>
        <p:nvPicPr>
          <p:cNvPr id="36" name="Image 13" descr="ACPD, right view, LIBERO-goal, task 7, episode 0, recorded step 18, success">    </p:cNvPr>
          <p:cNvPicPr>
            <a:picLocks noChangeAspect="1"/>
          </p:cNvPicPr>
          <p:nvPr/>
        </p:nvPicPr>
        <p:blipFill>
          <a:blip r:embed="rId14"/>
          <a:stretch>
            <a:fillRect/>
          </a:stretch>
        </p:blipFill>
        <p:spPr>
          <a:xfrm>
            <a:off x="4173718" y="11777472"/>
            <a:ext cx="3954262" cy="3954262"/>
          </a:xfrm>
          <a:prstGeom prst="rect">
            <a:avLst/>
          </a:prstGeom>
        </p:spPr>
      </p:pic>
      <p:sp>
        <p:nvSpPr>
          <p:cNvPr id="37" name="Text 21"/>
          <p:cNvSpPr/>
          <p:nvPr/>
        </p:nvSpPr>
        <p:spPr>
          <a:xfrm>
            <a:off x="4173718" y="15754594"/>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18</a:t>
            </a:r>
            <a:endParaRPr lang="en-US" sz="2700" dirty="0"/>
          </a:p>
        </p:txBody>
      </p:sp>
      <p:pic>
        <p:nvPicPr>
          <p:cNvPr id="38" name="Image 14" descr="ACPD, right view, LIBERO-goal, task 7, episode 0, recorded step 36, success">    </p:cNvPr>
          <p:cNvPicPr>
            <a:picLocks noChangeAspect="1"/>
          </p:cNvPicPr>
          <p:nvPr/>
        </p:nvPicPr>
        <p:blipFill>
          <a:blip r:embed="rId15"/>
          <a:stretch>
            <a:fillRect/>
          </a:stretch>
        </p:blipFill>
        <p:spPr>
          <a:xfrm>
            <a:off x="8201132" y="11777472"/>
            <a:ext cx="3954262" cy="3954262"/>
          </a:xfrm>
          <a:prstGeom prst="rect">
            <a:avLst/>
          </a:prstGeom>
        </p:spPr>
      </p:pic>
      <p:sp>
        <p:nvSpPr>
          <p:cNvPr id="39" name="Text 22"/>
          <p:cNvSpPr/>
          <p:nvPr/>
        </p:nvSpPr>
        <p:spPr>
          <a:xfrm>
            <a:off x="8201132" y="15754594"/>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36</a:t>
            </a:r>
            <a:endParaRPr lang="en-US" sz="2700" dirty="0"/>
          </a:p>
        </p:txBody>
      </p:sp>
      <p:pic>
        <p:nvPicPr>
          <p:cNvPr id="40" name="Image 15" descr="ACPD, right view, LIBERO-goal, task 7, episode 0, recorded step 55, success">    </p:cNvPr>
          <p:cNvPicPr>
            <a:picLocks noChangeAspect="1"/>
          </p:cNvPicPr>
          <p:nvPr/>
        </p:nvPicPr>
        <p:blipFill>
          <a:blip r:embed="rId16"/>
          <a:stretch>
            <a:fillRect/>
          </a:stretch>
        </p:blipFill>
        <p:spPr>
          <a:xfrm>
            <a:off x="12228546" y="11777472"/>
            <a:ext cx="3954262" cy="3954262"/>
          </a:xfrm>
          <a:prstGeom prst="rect">
            <a:avLst/>
          </a:prstGeom>
        </p:spPr>
      </p:pic>
      <p:sp>
        <p:nvSpPr>
          <p:cNvPr id="41" name="Text 23"/>
          <p:cNvSpPr/>
          <p:nvPr/>
        </p:nvSpPr>
        <p:spPr>
          <a:xfrm>
            <a:off x="12228546" y="15754594"/>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55</a:t>
            </a:r>
            <a:endParaRPr lang="en-US" sz="2700" dirty="0"/>
          </a:p>
        </p:txBody>
      </p:sp>
      <p:pic>
        <p:nvPicPr>
          <p:cNvPr id="42" name="Image 16" descr="ACPD, right view, LIBERO-goal, task 7, episode 0, recorded step 73, success">    </p:cNvPr>
          <p:cNvPicPr>
            <a:picLocks noChangeAspect="1"/>
          </p:cNvPicPr>
          <p:nvPr/>
        </p:nvPicPr>
        <p:blipFill>
          <a:blip r:embed="rId17"/>
          <a:stretch>
            <a:fillRect/>
          </a:stretch>
        </p:blipFill>
        <p:spPr>
          <a:xfrm>
            <a:off x="16255959" y="11777472"/>
            <a:ext cx="3954262" cy="3954262"/>
          </a:xfrm>
          <a:prstGeom prst="rect">
            <a:avLst/>
          </a:prstGeom>
        </p:spPr>
      </p:pic>
      <p:sp>
        <p:nvSpPr>
          <p:cNvPr id="43" name="Text 24"/>
          <p:cNvSpPr/>
          <p:nvPr/>
        </p:nvSpPr>
        <p:spPr>
          <a:xfrm>
            <a:off x="16255959" y="15754594"/>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73</a:t>
            </a:r>
            <a:endParaRPr lang="en-US" sz="2700" dirty="0"/>
          </a:p>
        </p:txBody>
      </p:sp>
      <p:pic>
        <p:nvPicPr>
          <p:cNvPr id="44" name="Image 17" descr="ACPD, right view, LIBERO-goal, task 7, episode 0, recorded step 91, success">    </p:cNvPr>
          <p:cNvPicPr>
            <a:picLocks noChangeAspect="1"/>
          </p:cNvPicPr>
          <p:nvPr/>
        </p:nvPicPr>
        <p:blipFill>
          <a:blip r:embed="rId18"/>
          <a:stretch>
            <a:fillRect/>
          </a:stretch>
        </p:blipFill>
        <p:spPr>
          <a:xfrm>
            <a:off x="20283373" y="11777472"/>
            <a:ext cx="3954262" cy="3954262"/>
          </a:xfrm>
          <a:prstGeom prst="rect">
            <a:avLst/>
          </a:prstGeom>
        </p:spPr>
      </p:pic>
      <p:sp>
        <p:nvSpPr>
          <p:cNvPr id="45" name="Text 25"/>
          <p:cNvSpPr/>
          <p:nvPr/>
        </p:nvSpPr>
        <p:spPr>
          <a:xfrm>
            <a:off x="20283373" y="15754594"/>
            <a:ext cx="3954262" cy="420624"/>
          </a:xfrm>
          <a:prstGeom prst="rect">
            <a:avLst/>
          </a:prstGeom>
          <a:noFill/>
          <a:ln/>
        </p:spPr>
        <p:txBody>
          <a:bodyPr wrap="square" lIns="0" tIns="0" rIns="0" bIns="0" rtlCol="0" anchor="ctr"/>
          <a:lstStyle/>
          <a:p>
            <a:pPr algn="ctr" indent="0" marL="0">
              <a:buNone/>
            </a:pPr>
            <a:r>
              <a:rPr lang="en-US" sz="2700" b="1" dirty="0">
                <a:solidFill>
                  <a:srgbClr val="666666"/>
                </a:solidFill>
                <a:latin typeface="Liberation Serif" pitchFamily="34" charset="0"/>
                <a:ea typeface="Liberation Serif" pitchFamily="34" charset="-122"/>
                <a:cs typeface="Liberation Serif" pitchFamily="34" charset="-120"/>
              </a:rPr>
              <a:t>Step 91 · Success</a:t>
            </a:r>
            <a:endParaRPr lang="en-US" sz="2700" dirty="0"/>
          </a:p>
        </p:txBody>
      </p:sp>
      <p:sp>
        <p:nvSpPr>
          <p:cNvPr id="46" name="Text 26"/>
          <p:cNvSpPr/>
          <p:nvPr/>
        </p:nvSpPr>
        <p:spPr>
          <a:xfrm>
            <a:off x="146304" y="16395192"/>
            <a:ext cx="2926080" cy="512064"/>
          </a:xfrm>
          <a:prstGeom prst="rect">
            <a:avLst/>
          </a:prstGeom>
          <a:noFill/>
          <a:ln/>
        </p:spPr>
        <p:txBody>
          <a:bodyPr wrap="square" lIns="0" tIns="0" rIns="0" bIns="0" rtlCol="0" anchor="ctr"/>
          <a:lstStyle/>
          <a:p>
            <a:pPr indent="0" marL="0">
              <a:buNone/>
            </a:pPr>
            <a:r>
              <a:rPr lang="en-US" sz="3400" b="1" dirty="0">
                <a:solidFill>
                  <a:srgbClr val="202020"/>
                </a:solidFill>
                <a:latin typeface="Liberation Serif" pitchFamily="34" charset="0"/>
                <a:ea typeface="Liberation Serif" pitchFamily="34" charset="-122"/>
                <a:cs typeface="Liberation Serif" pitchFamily="34" charset="-120"/>
              </a:rPr>
              <a:t>Long</a:t>
            </a:r>
            <a:endParaRPr lang="en-US" sz="3400" dirty="0"/>
          </a:p>
        </p:txBody>
      </p:sp>
      <p:sp>
        <p:nvSpPr>
          <p:cNvPr id="47" name="Text 27"/>
          <p:cNvSpPr/>
          <p:nvPr/>
        </p:nvSpPr>
        <p:spPr>
          <a:xfrm>
            <a:off x="3246120" y="16395192"/>
            <a:ext cx="20991515" cy="512064"/>
          </a:xfrm>
          <a:prstGeom prst="rect">
            <a:avLst/>
          </a:prstGeom>
          <a:noFill/>
          <a:ln/>
        </p:spPr>
        <p:txBody>
          <a:bodyPr wrap="square" lIns="0" tIns="0" rIns="0" bIns="0" rtlCol="0" anchor="ctr"/>
          <a:lstStyle/>
          <a:p>
            <a:pPr indent="0" marL="0">
              <a:buNone/>
            </a:pPr>
            <a:r>
              <a:rPr lang="en-US" sz="3000" dirty="0">
                <a:solidFill>
                  <a:srgbClr val="202020"/>
                </a:solidFill>
                <a:latin typeface="Liberation Serif" pitchFamily="34" charset="0"/>
                <a:ea typeface="Liberation Serif" pitchFamily="34" charset="-122"/>
                <a:cs typeface="Liberation Serif" pitchFamily="34" charset="-120"/>
              </a:rPr>
              <a:t>put the white mug on the left plate and put the yellow and white mug on the right plate</a:t>
            </a:r>
            <a:endParaRPr lang="en-US" sz="3000" dirty="0"/>
          </a:p>
        </p:txBody>
      </p:sp>
      <p:pic>
        <p:nvPicPr>
          <p:cNvPr id="48" name="Image 18" descr="ACPD, right view, LIBERO-long, task 4, episode 34, recorded step 0, success">    </p:cNvPr>
          <p:cNvPicPr>
            <a:picLocks noChangeAspect="1"/>
          </p:cNvPicPr>
          <p:nvPr/>
        </p:nvPicPr>
        <p:blipFill>
          <a:blip r:embed="rId19"/>
          <a:stretch>
            <a:fillRect/>
          </a:stretch>
        </p:blipFill>
        <p:spPr>
          <a:xfrm>
            <a:off x="146304" y="16952976"/>
            <a:ext cx="3954262" cy="3954262"/>
          </a:xfrm>
          <a:prstGeom prst="rect">
            <a:avLst/>
          </a:prstGeom>
        </p:spPr>
      </p:pic>
      <p:sp>
        <p:nvSpPr>
          <p:cNvPr id="49" name="Text 28"/>
          <p:cNvSpPr/>
          <p:nvPr/>
        </p:nvSpPr>
        <p:spPr>
          <a:xfrm>
            <a:off x="146304" y="20930098"/>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0</a:t>
            </a:r>
            <a:endParaRPr lang="en-US" sz="2700" dirty="0"/>
          </a:p>
        </p:txBody>
      </p:sp>
      <p:pic>
        <p:nvPicPr>
          <p:cNvPr id="50" name="Image 19" descr="ACPD, right view, LIBERO-long, task 4, episode 34, recorded step 51, success">    </p:cNvPr>
          <p:cNvPicPr>
            <a:picLocks noChangeAspect="1"/>
          </p:cNvPicPr>
          <p:nvPr/>
        </p:nvPicPr>
        <p:blipFill>
          <a:blip r:embed="rId20"/>
          <a:stretch>
            <a:fillRect/>
          </a:stretch>
        </p:blipFill>
        <p:spPr>
          <a:xfrm>
            <a:off x="4173718" y="16952976"/>
            <a:ext cx="3954262" cy="3954262"/>
          </a:xfrm>
          <a:prstGeom prst="rect">
            <a:avLst/>
          </a:prstGeom>
        </p:spPr>
      </p:pic>
      <p:sp>
        <p:nvSpPr>
          <p:cNvPr id="51" name="Text 29"/>
          <p:cNvSpPr/>
          <p:nvPr/>
        </p:nvSpPr>
        <p:spPr>
          <a:xfrm>
            <a:off x="4173718" y="20930098"/>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51</a:t>
            </a:r>
            <a:endParaRPr lang="en-US" sz="2700" dirty="0"/>
          </a:p>
        </p:txBody>
      </p:sp>
      <p:pic>
        <p:nvPicPr>
          <p:cNvPr id="52" name="Image 20" descr="ACPD, right view, LIBERO-long, task 4, episode 34, recorded step 101, success">    </p:cNvPr>
          <p:cNvPicPr>
            <a:picLocks noChangeAspect="1"/>
          </p:cNvPicPr>
          <p:nvPr/>
        </p:nvPicPr>
        <p:blipFill>
          <a:blip r:embed="rId21"/>
          <a:stretch>
            <a:fillRect/>
          </a:stretch>
        </p:blipFill>
        <p:spPr>
          <a:xfrm>
            <a:off x="8201132" y="16952976"/>
            <a:ext cx="3954262" cy="3954262"/>
          </a:xfrm>
          <a:prstGeom prst="rect">
            <a:avLst/>
          </a:prstGeom>
        </p:spPr>
      </p:pic>
      <p:sp>
        <p:nvSpPr>
          <p:cNvPr id="53" name="Text 30"/>
          <p:cNvSpPr/>
          <p:nvPr/>
        </p:nvSpPr>
        <p:spPr>
          <a:xfrm>
            <a:off x="8201132" y="20930098"/>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101</a:t>
            </a:r>
            <a:endParaRPr lang="en-US" sz="2700" dirty="0"/>
          </a:p>
        </p:txBody>
      </p:sp>
      <p:pic>
        <p:nvPicPr>
          <p:cNvPr id="54" name="Image 21" descr="ACPD, right view, LIBERO-long, task 4, episode 34, recorded step 152, success">    </p:cNvPr>
          <p:cNvPicPr>
            <a:picLocks noChangeAspect="1"/>
          </p:cNvPicPr>
          <p:nvPr/>
        </p:nvPicPr>
        <p:blipFill>
          <a:blip r:embed="rId22"/>
          <a:stretch>
            <a:fillRect/>
          </a:stretch>
        </p:blipFill>
        <p:spPr>
          <a:xfrm>
            <a:off x="12228546" y="16952976"/>
            <a:ext cx="3954262" cy="3954262"/>
          </a:xfrm>
          <a:prstGeom prst="rect">
            <a:avLst/>
          </a:prstGeom>
        </p:spPr>
      </p:pic>
      <p:sp>
        <p:nvSpPr>
          <p:cNvPr id="55" name="Text 31"/>
          <p:cNvSpPr/>
          <p:nvPr/>
        </p:nvSpPr>
        <p:spPr>
          <a:xfrm>
            <a:off x="12228546" y="20930098"/>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152</a:t>
            </a:r>
            <a:endParaRPr lang="en-US" sz="2700" dirty="0"/>
          </a:p>
        </p:txBody>
      </p:sp>
      <p:pic>
        <p:nvPicPr>
          <p:cNvPr id="56" name="Image 22" descr="ACPD, right view, LIBERO-long, task 4, episode 34, recorded step 202, success">    </p:cNvPr>
          <p:cNvPicPr>
            <a:picLocks noChangeAspect="1"/>
          </p:cNvPicPr>
          <p:nvPr/>
        </p:nvPicPr>
        <p:blipFill>
          <a:blip r:embed="rId23"/>
          <a:stretch>
            <a:fillRect/>
          </a:stretch>
        </p:blipFill>
        <p:spPr>
          <a:xfrm>
            <a:off x="16255959" y="16952976"/>
            <a:ext cx="3954262" cy="3954262"/>
          </a:xfrm>
          <a:prstGeom prst="rect">
            <a:avLst/>
          </a:prstGeom>
        </p:spPr>
      </p:pic>
      <p:sp>
        <p:nvSpPr>
          <p:cNvPr id="57" name="Text 32"/>
          <p:cNvSpPr/>
          <p:nvPr/>
        </p:nvSpPr>
        <p:spPr>
          <a:xfrm>
            <a:off x="16255959" y="20930098"/>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202</a:t>
            </a:r>
            <a:endParaRPr lang="en-US" sz="2700" dirty="0"/>
          </a:p>
        </p:txBody>
      </p:sp>
      <p:pic>
        <p:nvPicPr>
          <p:cNvPr id="58" name="Image 23" descr="ACPD, right view, LIBERO-long, task 4, episode 34, recorded step 253, success">    </p:cNvPr>
          <p:cNvPicPr>
            <a:picLocks noChangeAspect="1"/>
          </p:cNvPicPr>
          <p:nvPr/>
        </p:nvPicPr>
        <p:blipFill>
          <a:blip r:embed="rId24"/>
          <a:stretch>
            <a:fillRect/>
          </a:stretch>
        </p:blipFill>
        <p:spPr>
          <a:xfrm>
            <a:off x="20283373" y="16952976"/>
            <a:ext cx="3954262" cy="3954262"/>
          </a:xfrm>
          <a:prstGeom prst="rect">
            <a:avLst/>
          </a:prstGeom>
        </p:spPr>
      </p:pic>
      <p:sp>
        <p:nvSpPr>
          <p:cNvPr id="59" name="Text 33"/>
          <p:cNvSpPr/>
          <p:nvPr/>
        </p:nvSpPr>
        <p:spPr>
          <a:xfrm>
            <a:off x="20283373" y="20930098"/>
            <a:ext cx="3954262" cy="420624"/>
          </a:xfrm>
          <a:prstGeom prst="rect">
            <a:avLst/>
          </a:prstGeom>
          <a:noFill/>
          <a:ln/>
        </p:spPr>
        <p:txBody>
          <a:bodyPr wrap="square" lIns="0" tIns="0" rIns="0" bIns="0" rtlCol="0" anchor="ctr"/>
          <a:lstStyle/>
          <a:p>
            <a:pPr algn="ctr" indent="0" marL="0">
              <a:buNone/>
            </a:pPr>
            <a:r>
              <a:rPr lang="en-US" sz="2700" b="1" dirty="0">
                <a:solidFill>
                  <a:srgbClr val="666666"/>
                </a:solidFill>
                <a:latin typeface="Liberation Serif" pitchFamily="34" charset="0"/>
                <a:ea typeface="Liberation Serif" pitchFamily="34" charset="-122"/>
                <a:cs typeface="Liberation Serif" pitchFamily="34" charset="-120"/>
              </a:rPr>
              <a:t>Step 253 · Success</a:t>
            </a:r>
            <a:endParaRPr lang="en-US" sz="2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46304" y="109728"/>
            <a:ext cx="16459200" cy="640080"/>
          </a:xfrm>
          <a:prstGeom prst="rect">
            <a:avLst/>
          </a:prstGeom>
          <a:noFill/>
          <a:ln/>
        </p:spPr>
        <p:txBody>
          <a:bodyPr wrap="square" lIns="0" tIns="0" rIns="0" bIns="0" rtlCol="0" anchor="ctr"/>
          <a:lstStyle/>
          <a:p>
            <a:pPr indent="0" marL="0">
              <a:buNone/>
            </a:pPr>
            <a:r>
              <a:rPr lang="en-US" sz="4400" b="1" dirty="0">
                <a:solidFill>
                  <a:srgbClr val="9E4C7E"/>
                </a:solidFill>
                <a:latin typeface="Liberation Serif" pitchFamily="34" charset="0"/>
                <a:ea typeface="Liberation Serif" pitchFamily="34" charset="-122"/>
                <a:cs typeface="Liberation Serif" pitchFamily="34" charset="-120"/>
              </a:rPr>
              <a:t>ACPD · Top view</a:t>
            </a:r>
            <a:endParaRPr lang="en-US" sz="4400" dirty="0"/>
          </a:p>
        </p:txBody>
      </p:sp>
      <p:sp>
        <p:nvSpPr>
          <p:cNvPr id="3" name="Text 1"/>
          <p:cNvSpPr/>
          <p:nvPr/>
        </p:nvSpPr>
        <p:spPr>
          <a:xfrm>
            <a:off x="17099280" y="201168"/>
            <a:ext cx="7138355" cy="475488"/>
          </a:xfrm>
          <a:prstGeom prst="rect">
            <a:avLst/>
          </a:prstGeom>
          <a:noFill/>
          <a:ln/>
        </p:spPr>
        <p:txBody>
          <a:bodyPr wrap="square" lIns="0" tIns="0" rIns="0" bIns="0" rtlCol="0" anchor="ctr"/>
          <a:lstStyle/>
          <a:p>
            <a:pPr algn="r" indent="0" marL="0">
              <a:buNone/>
            </a:pPr>
            <a:r>
              <a:rPr lang="en-US" sz="3200" dirty="0">
                <a:solidFill>
                  <a:srgbClr val="666666"/>
                </a:solidFill>
                <a:latin typeface="Liberation Serif" pitchFamily="34" charset="0"/>
                <a:ea typeface="Liberation Serif" pitchFamily="34" charset="-122"/>
                <a:cs typeface="Liberation Serif" pitchFamily="34" charset="-120"/>
              </a:rPr>
              <a:t>Episode progression →</a:t>
            </a:r>
            <a:endParaRPr lang="en-US" sz="3200" dirty="0"/>
          </a:p>
        </p:txBody>
      </p:sp>
      <p:sp>
        <p:nvSpPr>
          <p:cNvPr id="4" name="Text 2"/>
          <p:cNvSpPr/>
          <p:nvPr/>
        </p:nvSpPr>
        <p:spPr>
          <a:xfrm>
            <a:off x="146304" y="868680"/>
            <a:ext cx="2926080" cy="512064"/>
          </a:xfrm>
          <a:prstGeom prst="rect">
            <a:avLst/>
          </a:prstGeom>
          <a:noFill/>
          <a:ln/>
        </p:spPr>
        <p:txBody>
          <a:bodyPr wrap="square" lIns="0" tIns="0" rIns="0" bIns="0" rtlCol="0" anchor="ctr"/>
          <a:lstStyle/>
          <a:p>
            <a:pPr indent="0" marL="0">
              <a:buNone/>
            </a:pPr>
            <a:r>
              <a:rPr lang="en-US" sz="3400" b="1" dirty="0">
                <a:solidFill>
                  <a:srgbClr val="202020"/>
                </a:solidFill>
                <a:latin typeface="Liberation Serif" pitchFamily="34" charset="0"/>
                <a:ea typeface="Liberation Serif" pitchFamily="34" charset="-122"/>
                <a:cs typeface="Liberation Serif" pitchFamily="34" charset="-120"/>
              </a:rPr>
              <a:t>Spatial</a:t>
            </a:r>
            <a:endParaRPr lang="en-US" sz="3400" dirty="0"/>
          </a:p>
        </p:txBody>
      </p:sp>
      <p:sp>
        <p:nvSpPr>
          <p:cNvPr id="5" name="Text 3"/>
          <p:cNvSpPr/>
          <p:nvPr/>
        </p:nvSpPr>
        <p:spPr>
          <a:xfrm>
            <a:off x="3246120" y="868680"/>
            <a:ext cx="20991515" cy="512064"/>
          </a:xfrm>
          <a:prstGeom prst="rect">
            <a:avLst/>
          </a:prstGeom>
          <a:noFill/>
          <a:ln/>
        </p:spPr>
        <p:txBody>
          <a:bodyPr wrap="square" lIns="0" tIns="0" rIns="0" bIns="0" rtlCol="0" anchor="ctr"/>
          <a:lstStyle/>
          <a:p>
            <a:pPr indent="0" marL="0">
              <a:buNone/>
            </a:pPr>
            <a:r>
              <a:rPr lang="en-US" sz="3000" dirty="0">
                <a:solidFill>
                  <a:srgbClr val="202020"/>
                </a:solidFill>
                <a:latin typeface="Liberation Serif" pitchFamily="34" charset="0"/>
                <a:ea typeface="Liberation Serif" pitchFamily="34" charset="-122"/>
                <a:cs typeface="Liberation Serif" pitchFamily="34" charset="-120"/>
              </a:rPr>
              <a:t>pick up the black bowl on the stove and place it on the plate</a:t>
            </a:r>
            <a:endParaRPr lang="en-US" sz="3000" dirty="0"/>
          </a:p>
        </p:txBody>
      </p:sp>
      <p:pic>
        <p:nvPicPr>
          <p:cNvPr id="6" name="Image 0" descr="ACPD, top view, LIBERO-spatial, task 7, episode 4, recorded step 0, success">    </p:cNvPr>
          <p:cNvPicPr>
            <a:picLocks noChangeAspect="1"/>
          </p:cNvPicPr>
          <p:nvPr/>
        </p:nvPicPr>
        <p:blipFill>
          <a:blip r:embed="rId1"/>
          <a:stretch>
            <a:fillRect/>
          </a:stretch>
        </p:blipFill>
        <p:spPr>
          <a:xfrm>
            <a:off x="146304" y="1426464"/>
            <a:ext cx="3954262" cy="3954262"/>
          </a:xfrm>
          <a:prstGeom prst="rect">
            <a:avLst/>
          </a:prstGeom>
        </p:spPr>
      </p:pic>
      <p:sp>
        <p:nvSpPr>
          <p:cNvPr id="7" name="Text 4"/>
          <p:cNvSpPr/>
          <p:nvPr/>
        </p:nvSpPr>
        <p:spPr>
          <a:xfrm>
            <a:off x="146304" y="5403586"/>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0</a:t>
            </a:r>
            <a:endParaRPr lang="en-US" sz="2700" dirty="0"/>
          </a:p>
        </p:txBody>
      </p:sp>
      <p:pic>
        <p:nvPicPr>
          <p:cNvPr id="8" name="Image 1" descr="ACPD, top view, LIBERO-spatial, task 7, episode 4, recorded step 36, success">    </p:cNvPr>
          <p:cNvPicPr>
            <a:picLocks noChangeAspect="1"/>
          </p:cNvPicPr>
          <p:nvPr/>
        </p:nvPicPr>
        <p:blipFill>
          <a:blip r:embed="rId2"/>
          <a:stretch>
            <a:fillRect/>
          </a:stretch>
        </p:blipFill>
        <p:spPr>
          <a:xfrm>
            <a:off x="4173718" y="1426464"/>
            <a:ext cx="3954262" cy="3954262"/>
          </a:xfrm>
          <a:prstGeom prst="rect">
            <a:avLst/>
          </a:prstGeom>
        </p:spPr>
      </p:pic>
      <p:sp>
        <p:nvSpPr>
          <p:cNvPr id="9" name="Text 5"/>
          <p:cNvSpPr/>
          <p:nvPr/>
        </p:nvSpPr>
        <p:spPr>
          <a:xfrm>
            <a:off x="4173718" y="5403586"/>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36</a:t>
            </a:r>
            <a:endParaRPr lang="en-US" sz="2700" dirty="0"/>
          </a:p>
        </p:txBody>
      </p:sp>
      <p:pic>
        <p:nvPicPr>
          <p:cNvPr id="10" name="Image 2" descr="ACPD, top view, LIBERO-spatial, task 7, episode 4, recorded step 73, success">    </p:cNvPr>
          <p:cNvPicPr>
            <a:picLocks noChangeAspect="1"/>
          </p:cNvPicPr>
          <p:nvPr/>
        </p:nvPicPr>
        <p:blipFill>
          <a:blip r:embed="rId3"/>
          <a:stretch>
            <a:fillRect/>
          </a:stretch>
        </p:blipFill>
        <p:spPr>
          <a:xfrm>
            <a:off x="8201132" y="1426464"/>
            <a:ext cx="3954262" cy="3954262"/>
          </a:xfrm>
          <a:prstGeom prst="rect">
            <a:avLst/>
          </a:prstGeom>
        </p:spPr>
      </p:pic>
      <p:sp>
        <p:nvSpPr>
          <p:cNvPr id="11" name="Text 6"/>
          <p:cNvSpPr/>
          <p:nvPr/>
        </p:nvSpPr>
        <p:spPr>
          <a:xfrm>
            <a:off x="8201132" y="5403586"/>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73</a:t>
            </a:r>
            <a:endParaRPr lang="en-US" sz="2700" dirty="0"/>
          </a:p>
        </p:txBody>
      </p:sp>
      <p:pic>
        <p:nvPicPr>
          <p:cNvPr id="12" name="Image 3" descr="ACPD, top view, LIBERO-spatial, task 7, episode 4, recorded step 109, success">    </p:cNvPr>
          <p:cNvPicPr>
            <a:picLocks noChangeAspect="1"/>
          </p:cNvPicPr>
          <p:nvPr/>
        </p:nvPicPr>
        <p:blipFill>
          <a:blip r:embed="rId4"/>
          <a:stretch>
            <a:fillRect/>
          </a:stretch>
        </p:blipFill>
        <p:spPr>
          <a:xfrm>
            <a:off x="12228546" y="1426464"/>
            <a:ext cx="3954262" cy="3954262"/>
          </a:xfrm>
          <a:prstGeom prst="rect">
            <a:avLst/>
          </a:prstGeom>
        </p:spPr>
      </p:pic>
      <p:sp>
        <p:nvSpPr>
          <p:cNvPr id="13" name="Text 7"/>
          <p:cNvSpPr/>
          <p:nvPr/>
        </p:nvSpPr>
        <p:spPr>
          <a:xfrm>
            <a:off x="12228546" y="5403586"/>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109</a:t>
            </a:r>
            <a:endParaRPr lang="en-US" sz="2700" dirty="0"/>
          </a:p>
        </p:txBody>
      </p:sp>
      <p:pic>
        <p:nvPicPr>
          <p:cNvPr id="14" name="Image 4" descr="ACPD, top view, LIBERO-spatial, task 7, episode 4, recorded step 146, success">    </p:cNvPr>
          <p:cNvPicPr>
            <a:picLocks noChangeAspect="1"/>
          </p:cNvPicPr>
          <p:nvPr/>
        </p:nvPicPr>
        <p:blipFill>
          <a:blip r:embed="rId5"/>
          <a:stretch>
            <a:fillRect/>
          </a:stretch>
        </p:blipFill>
        <p:spPr>
          <a:xfrm>
            <a:off x="16255959" y="1426464"/>
            <a:ext cx="3954262" cy="3954262"/>
          </a:xfrm>
          <a:prstGeom prst="rect">
            <a:avLst/>
          </a:prstGeom>
        </p:spPr>
      </p:pic>
      <p:sp>
        <p:nvSpPr>
          <p:cNvPr id="15" name="Text 8"/>
          <p:cNvSpPr/>
          <p:nvPr/>
        </p:nvSpPr>
        <p:spPr>
          <a:xfrm>
            <a:off x="16255959" y="5403586"/>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146</a:t>
            </a:r>
            <a:endParaRPr lang="en-US" sz="2700" dirty="0"/>
          </a:p>
        </p:txBody>
      </p:sp>
      <p:pic>
        <p:nvPicPr>
          <p:cNvPr id="16" name="Image 5" descr="ACPD, top view, LIBERO-spatial, task 7, episode 4, recorded step 182, success">    </p:cNvPr>
          <p:cNvPicPr>
            <a:picLocks noChangeAspect="1"/>
          </p:cNvPicPr>
          <p:nvPr/>
        </p:nvPicPr>
        <p:blipFill>
          <a:blip r:embed="rId6"/>
          <a:stretch>
            <a:fillRect/>
          </a:stretch>
        </p:blipFill>
        <p:spPr>
          <a:xfrm>
            <a:off x="20283373" y="1426464"/>
            <a:ext cx="3954262" cy="3954262"/>
          </a:xfrm>
          <a:prstGeom prst="rect">
            <a:avLst/>
          </a:prstGeom>
        </p:spPr>
      </p:pic>
      <p:sp>
        <p:nvSpPr>
          <p:cNvPr id="17" name="Text 9"/>
          <p:cNvSpPr/>
          <p:nvPr/>
        </p:nvSpPr>
        <p:spPr>
          <a:xfrm>
            <a:off x="20283373" y="5403586"/>
            <a:ext cx="3954262" cy="420624"/>
          </a:xfrm>
          <a:prstGeom prst="rect">
            <a:avLst/>
          </a:prstGeom>
          <a:noFill/>
          <a:ln/>
        </p:spPr>
        <p:txBody>
          <a:bodyPr wrap="square" lIns="0" tIns="0" rIns="0" bIns="0" rtlCol="0" anchor="ctr"/>
          <a:lstStyle/>
          <a:p>
            <a:pPr algn="ctr" indent="0" marL="0">
              <a:buNone/>
            </a:pPr>
            <a:r>
              <a:rPr lang="en-US" sz="2700" b="1" dirty="0">
                <a:solidFill>
                  <a:srgbClr val="666666"/>
                </a:solidFill>
                <a:latin typeface="Liberation Serif" pitchFamily="34" charset="0"/>
                <a:ea typeface="Liberation Serif" pitchFamily="34" charset="-122"/>
                <a:cs typeface="Liberation Serif" pitchFamily="34" charset="-120"/>
              </a:rPr>
              <a:t>Step 182 · Success</a:t>
            </a:r>
            <a:endParaRPr lang="en-US" sz="2700" dirty="0"/>
          </a:p>
        </p:txBody>
      </p:sp>
      <p:sp>
        <p:nvSpPr>
          <p:cNvPr id="18" name="Text 10"/>
          <p:cNvSpPr/>
          <p:nvPr/>
        </p:nvSpPr>
        <p:spPr>
          <a:xfrm>
            <a:off x="146304" y="6044184"/>
            <a:ext cx="2926080" cy="512064"/>
          </a:xfrm>
          <a:prstGeom prst="rect">
            <a:avLst/>
          </a:prstGeom>
          <a:noFill/>
          <a:ln/>
        </p:spPr>
        <p:txBody>
          <a:bodyPr wrap="square" lIns="0" tIns="0" rIns="0" bIns="0" rtlCol="0" anchor="ctr"/>
          <a:lstStyle/>
          <a:p>
            <a:pPr indent="0" marL="0">
              <a:buNone/>
            </a:pPr>
            <a:r>
              <a:rPr lang="en-US" sz="3400" b="1" dirty="0">
                <a:solidFill>
                  <a:srgbClr val="202020"/>
                </a:solidFill>
                <a:latin typeface="Liberation Serif" pitchFamily="34" charset="0"/>
                <a:ea typeface="Liberation Serif" pitchFamily="34" charset="-122"/>
                <a:cs typeface="Liberation Serif" pitchFamily="34" charset="-120"/>
              </a:rPr>
              <a:t>Object</a:t>
            </a:r>
            <a:endParaRPr lang="en-US" sz="3400" dirty="0"/>
          </a:p>
        </p:txBody>
      </p:sp>
      <p:sp>
        <p:nvSpPr>
          <p:cNvPr id="19" name="Text 11"/>
          <p:cNvSpPr/>
          <p:nvPr/>
        </p:nvSpPr>
        <p:spPr>
          <a:xfrm>
            <a:off x="3246120" y="6044184"/>
            <a:ext cx="20991515" cy="512064"/>
          </a:xfrm>
          <a:prstGeom prst="rect">
            <a:avLst/>
          </a:prstGeom>
          <a:noFill/>
          <a:ln/>
        </p:spPr>
        <p:txBody>
          <a:bodyPr wrap="square" lIns="0" tIns="0" rIns="0" bIns="0" rtlCol="0" anchor="ctr"/>
          <a:lstStyle/>
          <a:p>
            <a:pPr indent="0" marL="0">
              <a:buNone/>
            </a:pPr>
            <a:r>
              <a:rPr lang="en-US" sz="3000" dirty="0">
                <a:solidFill>
                  <a:srgbClr val="202020"/>
                </a:solidFill>
                <a:latin typeface="Liberation Serif" pitchFamily="34" charset="0"/>
                <a:ea typeface="Liberation Serif" pitchFamily="34" charset="-122"/>
                <a:cs typeface="Liberation Serif" pitchFamily="34" charset="-120"/>
              </a:rPr>
              <a:t>pick up the ketchup and place it in the basket</a:t>
            </a:r>
            <a:endParaRPr lang="en-US" sz="3000" dirty="0"/>
          </a:p>
        </p:txBody>
      </p:sp>
      <p:pic>
        <p:nvPicPr>
          <p:cNvPr id="20" name="Image 6" descr="ACPD, top view, LIBERO-object, task 4, episode 17, recorded step 0, success">    </p:cNvPr>
          <p:cNvPicPr>
            <a:picLocks noChangeAspect="1"/>
          </p:cNvPicPr>
          <p:nvPr/>
        </p:nvPicPr>
        <p:blipFill>
          <a:blip r:embed="rId7"/>
          <a:stretch>
            <a:fillRect/>
          </a:stretch>
        </p:blipFill>
        <p:spPr>
          <a:xfrm>
            <a:off x="146304" y="6601968"/>
            <a:ext cx="3954262" cy="3954262"/>
          </a:xfrm>
          <a:prstGeom prst="rect">
            <a:avLst/>
          </a:prstGeom>
        </p:spPr>
      </p:pic>
      <p:sp>
        <p:nvSpPr>
          <p:cNvPr id="21" name="Text 12"/>
          <p:cNvSpPr/>
          <p:nvPr/>
        </p:nvSpPr>
        <p:spPr>
          <a:xfrm>
            <a:off x="146304" y="10579090"/>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0</a:t>
            </a:r>
            <a:endParaRPr lang="en-US" sz="2700" dirty="0"/>
          </a:p>
        </p:txBody>
      </p:sp>
      <p:pic>
        <p:nvPicPr>
          <p:cNvPr id="22" name="Image 7" descr="ACPD, top view, LIBERO-object, task 4, episode 17, recorded step 32, success">    </p:cNvPr>
          <p:cNvPicPr>
            <a:picLocks noChangeAspect="1"/>
          </p:cNvPicPr>
          <p:nvPr/>
        </p:nvPicPr>
        <p:blipFill>
          <a:blip r:embed="rId8"/>
          <a:stretch>
            <a:fillRect/>
          </a:stretch>
        </p:blipFill>
        <p:spPr>
          <a:xfrm>
            <a:off x="4173718" y="6601968"/>
            <a:ext cx="3954262" cy="3954262"/>
          </a:xfrm>
          <a:prstGeom prst="rect">
            <a:avLst/>
          </a:prstGeom>
        </p:spPr>
      </p:pic>
      <p:sp>
        <p:nvSpPr>
          <p:cNvPr id="23" name="Text 13"/>
          <p:cNvSpPr/>
          <p:nvPr/>
        </p:nvSpPr>
        <p:spPr>
          <a:xfrm>
            <a:off x="4173718" y="10579090"/>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32</a:t>
            </a:r>
            <a:endParaRPr lang="en-US" sz="2700" dirty="0"/>
          </a:p>
        </p:txBody>
      </p:sp>
      <p:pic>
        <p:nvPicPr>
          <p:cNvPr id="24" name="Image 8" descr="ACPD, top view, LIBERO-object, task 4, episode 17, recorded step 64, success">    </p:cNvPr>
          <p:cNvPicPr>
            <a:picLocks noChangeAspect="1"/>
          </p:cNvPicPr>
          <p:nvPr/>
        </p:nvPicPr>
        <p:blipFill>
          <a:blip r:embed="rId9"/>
          <a:stretch>
            <a:fillRect/>
          </a:stretch>
        </p:blipFill>
        <p:spPr>
          <a:xfrm>
            <a:off x="8201132" y="6601968"/>
            <a:ext cx="3954262" cy="3954262"/>
          </a:xfrm>
          <a:prstGeom prst="rect">
            <a:avLst/>
          </a:prstGeom>
        </p:spPr>
      </p:pic>
      <p:sp>
        <p:nvSpPr>
          <p:cNvPr id="25" name="Text 14"/>
          <p:cNvSpPr/>
          <p:nvPr/>
        </p:nvSpPr>
        <p:spPr>
          <a:xfrm>
            <a:off x="8201132" y="10579090"/>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64</a:t>
            </a:r>
            <a:endParaRPr lang="en-US" sz="2700" dirty="0"/>
          </a:p>
        </p:txBody>
      </p:sp>
      <p:pic>
        <p:nvPicPr>
          <p:cNvPr id="26" name="Image 9" descr="ACPD, top view, LIBERO-object, task 4, episode 17, recorded step 97, success">    </p:cNvPr>
          <p:cNvPicPr>
            <a:picLocks noChangeAspect="1"/>
          </p:cNvPicPr>
          <p:nvPr/>
        </p:nvPicPr>
        <p:blipFill>
          <a:blip r:embed="rId10"/>
          <a:stretch>
            <a:fillRect/>
          </a:stretch>
        </p:blipFill>
        <p:spPr>
          <a:xfrm>
            <a:off x="12228546" y="6601968"/>
            <a:ext cx="3954262" cy="3954262"/>
          </a:xfrm>
          <a:prstGeom prst="rect">
            <a:avLst/>
          </a:prstGeom>
        </p:spPr>
      </p:pic>
      <p:sp>
        <p:nvSpPr>
          <p:cNvPr id="27" name="Text 15"/>
          <p:cNvSpPr/>
          <p:nvPr/>
        </p:nvSpPr>
        <p:spPr>
          <a:xfrm>
            <a:off x="12228546" y="10579090"/>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97</a:t>
            </a:r>
            <a:endParaRPr lang="en-US" sz="2700" dirty="0"/>
          </a:p>
        </p:txBody>
      </p:sp>
      <p:pic>
        <p:nvPicPr>
          <p:cNvPr id="28" name="Image 10" descr="ACPD, top view, LIBERO-object, task 4, episode 17, recorded step 129, success">    </p:cNvPr>
          <p:cNvPicPr>
            <a:picLocks noChangeAspect="1"/>
          </p:cNvPicPr>
          <p:nvPr/>
        </p:nvPicPr>
        <p:blipFill>
          <a:blip r:embed="rId11"/>
          <a:stretch>
            <a:fillRect/>
          </a:stretch>
        </p:blipFill>
        <p:spPr>
          <a:xfrm>
            <a:off x="16255959" y="6601968"/>
            <a:ext cx="3954262" cy="3954262"/>
          </a:xfrm>
          <a:prstGeom prst="rect">
            <a:avLst/>
          </a:prstGeom>
        </p:spPr>
      </p:pic>
      <p:sp>
        <p:nvSpPr>
          <p:cNvPr id="29" name="Text 16"/>
          <p:cNvSpPr/>
          <p:nvPr/>
        </p:nvSpPr>
        <p:spPr>
          <a:xfrm>
            <a:off x="16255959" y="10579090"/>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129</a:t>
            </a:r>
            <a:endParaRPr lang="en-US" sz="2700" dirty="0"/>
          </a:p>
        </p:txBody>
      </p:sp>
      <p:pic>
        <p:nvPicPr>
          <p:cNvPr id="30" name="Image 11" descr="ACPD, top view, LIBERO-object, task 4, episode 17, recorded step 161, success">    </p:cNvPr>
          <p:cNvPicPr>
            <a:picLocks noChangeAspect="1"/>
          </p:cNvPicPr>
          <p:nvPr/>
        </p:nvPicPr>
        <p:blipFill>
          <a:blip r:embed="rId12"/>
          <a:stretch>
            <a:fillRect/>
          </a:stretch>
        </p:blipFill>
        <p:spPr>
          <a:xfrm>
            <a:off x="20283373" y="6601968"/>
            <a:ext cx="3954262" cy="3954262"/>
          </a:xfrm>
          <a:prstGeom prst="rect">
            <a:avLst/>
          </a:prstGeom>
        </p:spPr>
      </p:pic>
      <p:sp>
        <p:nvSpPr>
          <p:cNvPr id="31" name="Text 17"/>
          <p:cNvSpPr/>
          <p:nvPr/>
        </p:nvSpPr>
        <p:spPr>
          <a:xfrm>
            <a:off x="20283373" y="10579090"/>
            <a:ext cx="3954262" cy="420624"/>
          </a:xfrm>
          <a:prstGeom prst="rect">
            <a:avLst/>
          </a:prstGeom>
          <a:noFill/>
          <a:ln/>
        </p:spPr>
        <p:txBody>
          <a:bodyPr wrap="square" lIns="0" tIns="0" rIns="0" bIns="0" rtlCol="0" anchor="ctr"/>
          <a:lstStyle/>
          <a:p>
            <a:pPr algn="ctr" indent="0" marL="0">
              <a:buNone/>
            </a:pPr>
            <a:r>
              <a:rPr lang="en-US" sz="2700" b="1" dirty="0">
                <a:solidFill>
                  <a:srgbClr val="666666"/>
                </a:solidFill>
                <a:latin typeface="Liberation Serif" pitchFamily="34" charset="0"/>
                <a:ea typeface="Liberation Serif" pitchFamily="34" charset="-122"/>
                <a:cs typeface="Liberation Serif" pitchFamily="34" charset="-120"/>
              </a:rPr>
              <a:t>Step 161 · Success</a:t>
            </a:r>
            <a:endParaRPr lang="en-US" sz="2700" dirty="0"/>
          </a:p>
        </p:txBody>
      </p:sp>
      <p:sp>
        <p:nvSpPr>
          <p:cNvPr id="32" name="Text 18"/>
          <p:cNvSpPr/>
          <p:nvPr/>
        </p:nvSpPr>
        <p:spPr>
          <a:xfrm>
            <a:off x="146304" y="11219688"/>
            <a:ext cx="2926080" cy="512064"/>
          </a:xfrm>
          <a:prstGeom prst="rect">
            <a:avLst/>
          </a:prstGeom>
          <a:noFill/>
          <a:ln/>
        </p:spPr>
        <p:txBody>
          <a:bodyPr wrap="square" lIns="0" tIns="0" rIns="0" bIns="0" rtlCol="0" anchor="ctr"/>
          <a:lstStyle/>
          <a:p>
            <a:pPr indent="0" marL="0">
              <a:buNone/>
            </a:pPr>
            <a:r>
              <a:rPr lang="en-US" sz="3400" b="1" dirty="0">
                <a:solidFill>
                  <a:srgbClr val="202020"/>
                </a:solidFill>
                <a:latin typeface="Liberation Serif" pitchFamily="34" charset="0"/>
                <a:ea typeface="Liberation Serif" pitchFamily="34" charset="-122"/>
                <a:cs typeface="Liberation Serif" pitchFamily="34" charset="-120"/>
              </a:rPr>
              <a:t>Goal</a:t>
            </a:r>
            <a:endParaRPr lang="en-US" sz="3400" dirty="0"/>
          </a:p>
        </p:txBody>
      </p:sp>
      <p:sp>
        <p:nvSpPr>
          <p:cNvPr id="33" name="Text 19"/>
          <p:cNvSpPr/>
          <p:nvPr/>
        </p:nvSpPr>
        <p:spPr>
          <a:xfrm>
            <a:off x="3246120" y="11219688"/>
            <a:ext cx="20991515" cy="512064"/>
          </a:xfrm>
          <a:prstGeom prst="rect">
            <a:avLst/>
          </a:prstGeom>
          <a:noFill/>
          <a:ln/>
        </p:spPr>
        <p:txBody>
          <a:bodyPr wrap="square" lIns="0" tIns="0" rIns="0" bIns="0" rtlCol="0" anchor="ctr"/>
          <a:lstStyle/>
          <a:p>
            <a:pPr indent="0" marL="0">
              <a:buNone/>
            </a:pPr>
            <a:r>
              <a:rPr lang="en-US" sz="3000" dirty="0">
                <a:solidFill>
                  <a:srgbClr val="202020"/>
                </a:solidFill>
                <a:latin typeface="Liberation Serif" pitchFamily="34" charset="0"/>
                <a:ea typeface="Liberation Serif" pitchFamily="34" charset="-122"/>
                <a:cs typeface="Liberation Serif" pitchFamily="34" charset="-120"/>
              </a:rPr>
              <a:t>put the wine bottle on the rack</a:t>
            </a:r>
            <a:endParaRPr lang="en-US" sz="3000" dirty="0"/>
          </a:p>
        </p:txBody>
      </p:sp>
      <p:pic>
        <p:nvPicPr>
          <p:cNvPr id="34" name="Image 12" descr="ACPD, top view, LIBERO-goal, task 9, episode 2, recorded step 0, failure">    </p:cNvPr>
          <p:cNvPicPr>
            <a:picLocks noChangeAspect="1"/>
          </p:cNvPicPr>
          <p:nvPr/>
        </p:nvPicPr>
        <p:blipFill>
          <a:blip r:embed="rId13"/>
          <a:stretch>
            <a:fillRect/>
          </a:stretch>
        </p:blipFill>
        <p:spPr>
          <a:xfrm>
            <a:off x="146304" y="11777472"/>
            <a:ext cx="3954262" cy="3954262"/>
          </a:xfrm>
          <a:prstGeom prst="rect">
            <a:avLst/>
          </a:prstGeom>
        </p:spPr>
      </p:pic>
      <p:sp>
        <p:nvSpPr>
          <p:cNvPr id="35" name="Text 20"/>
          <p:cNvSpPr/>
          <p:nvPr/>
        </p:nvSpPr>
        <p:spPr>
          <a:xfrm>
            <a:off x="146304" y="15754594"/>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0</a:t>
            </a:r>
            <a:endParaRPr lang="en-US" sz="2700" dirty="0"/>
          </a:p>
        </p:txBody>
      </p:sp>
      <p:pic>
        <p:nvPicPr>
          <p:cNvPr id="36" name="Image 13" descr="ACPD, top view, LIBERO-goal, task 9, episode 2, recorded step 60, failure">    </p:cNvPr>
          <p:cNvPicPr>
            <a:picLocks noChangeAspect="1"/>
          </p:cNvPicPr>
          <p:nvPr/>
        </p:nvPicPr>
        <p:blipFill>
          <a:blip r:embed="rId14"/>
          <a:stretch>
            <a:fillRect/>
          </a:stretch>
        </p:blipFill>
        <p:spPr>
          <a:xfrm>
            <a:off x="4173718" y="11777472"/>
            <a:ext cx="3954262" cy="3954262"/>
          </a:xfrm>
          <a:prstGeom prst="rect">
            <a:avLst/>
          </a:prstGeom>
        </p:spPr>
      </p:pic>
      <p:sp>
        <p:nvSpPr>
          <p:cNvPr id="37" name="Text 21"/>
          <p:cNvSpPr/>
          <p:nvPr/>
        </p:nvSpPr>
        <p:spPr>
          <a:xfrm>
            <a:off x="4173718" y="15754594"/>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60</a:t>
            </a:r>
            <a:endParaRPr lang="en-US" sz="2700" dirty="0"/>
          </a:p>
        </p:txBody>
      </p:sp>
      <p:pic>
        <p:nvPicPr>
          <p:cNvPr id="38" name="Image 14" descr="ACPD, top view, LIBERO-goal, task 9, episode 2, recorded step 120, failure">    </p:cNvPr>
          <p:cNvPicPr>
            <a:picLocks noChangeAspect="1"/>
          </p:cNvPicPr>
          <p:nvPr/>
        </p:nvPicPr>
        <p:blipFill>
          <a:blip r:embed="rId15"/>
          <a:stretch>
            <a:fillRect/>
          </a:stretch>
        </p:blipFill>
        <p:spPr>
          <a:xfrm>
            <a:off x="8201132" y="11777472"/>
            <a:ext cx="3954262" cy="3954262"/>
          </a:xfrm>
          <a:prstGeom prst="rect">
            <a:avLst/>
          </a:prstGeom>
        </p:spPr>
      </p:pic>
      <p:sp>
        <p:nvSpPr>
          <p:cNvPr id="39" name="Text 22"/>
          <p:cNvSpPr/>
          <p:nvPr/>
        </p:nvSpPr>
        <p:spPr>
          <a:xfrm>
            <a:off x="8201132" y="15754594"/>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120</a:t>
            </a:r>
            <a:endParaRPr lang="en-US" sz="2700" dirty="0"/>
          </a:p>
        </p:txBody>
      </p:sp>
      <p:pic>
        <p:nvPicPr>
          <p:cNvPr id="40" name="Image 15" descr="ACPD, top view, LIBERO-goal, task 9, episode 2, recorded step 179, failure">    </p:cNvPr>
          <p:cNvPicPr>
            <a:picLocks noChangeAspect="1"/>
          </p:cNvPicPr>
          <p:nvPr/>
        </p:nvPicPr>
        <p:blipFill>
          <a:blip r:embed="rId16"/>
          <a:stretch>
            <a:fillRect/>
          </a:stretch>
        </p:blipFill>
        <p:spPr>
          <a:xfrm>
            <a:off x="12228546" y="11777472"/>
            <a:ext cx="3954262" cy="3954262"/>
          </a:xfrm>
          <a:prstGeom prst="rect">
            <a:avLst/>
          </a:prstGeom>
        </p:spPr>
      </p:pic>
      <p:sp>
        <p:nvSpPr>
          <p:cNvPr id="41" name="Text 23"/>
          <p:cNvSpPr/>
          <p:nvPr/>
        </p:nvSpPr>
        <p:spPr>
          <a:xfrm>
            <a:off x="12228546" y="15754594"/>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179</a:t>
            </a:r>
            <a:endParaRPr lang="en-US" sz="2700" dirty="0"/>
          </a:p>
        </p:txBody>
      </p:sp>
      <p:pic>
        <p:nvPicPr>
          <p:cNvPr id="42" name="Image 16" descr="ACPD, top view, LIBERO-goal, task 9, episode 2, recorded step 239, failure">    </p:cNvPr>
          <p:cNvPicPr>
            <a:picLocks noChangeAspect="1"/>
          </p:cNvPicPr>
          <p:nvPr/>
        </p:nvPicPr>
        <p:blipFill>
          <a:blip r:embed="rId17"/>
          <a:stretch>
            <a:fillRect/>
          </a:stretch>
        </p:blipFill>
        <p:spPr>
          <a:xfrm>
            <a:off x="16255959" y="11777472"/>
            <a:ext cx="3954262" cy="3954262"/>
          </a:xfrm>
          <a:prstGeom prst="rect">
            <a:avLst/>
          </a:prstGeom>
        </p:spPr>
      </p:pic>
      <p:sp>
        <p:nvSpPr>
          <p:cNvPr id="43" name="Text 24"/>
          <p:cNvSpPr/>
          <p:nvPr/>
        </p:nvSpPr>
        <p:spPr>
          <a:xfrm>
            <a:off x="16255959" y="15754594"/>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239</a:t>
            </a:r>
            <a:endParaRPr lang="en-US" sz="2700" dirty="0"/>
          </a:p>
        </p:txBody>
      </p:sp>
      <p:pic>
        <p:nvPicPr>
          <p:cNvPr id="44" name="Image 17" descr="ACPD, top view, LIBERO-goal, task 9, episode 2, recorded step 299, failure">    </p:cNvPr>
          <p:cNvPicPr>
            <a:picLocks noChangeAspect="1"/>
          </p:cNvPicPr>
          <p:nvPr/>
        </p:nvPicPr>
        <p:blipFill>
          <a:blip r:embed="rId18"/>
          <a:stretch>
            <a:fillRect/>
          </a:stretch>
        </p:blipFill>
        <p:spPr>
          <a:xfrm>
            <a:off x="20283373" y="11777472"/>
            <a:ext cx="3954262" cy="3954262"/>
          </a:xfrm>
          <a:prstGeom prst="rect">
            <a:avLst/>
          </a:prstGeom>
        </p:spPr>
      </p:pic>
      <p:sp>
        <p:nvSpPr>
          <p:cNvPr id="45" name="Text 25"/>
          <p:cNvSpPr/>
          <p:nvPr/>
        </p:nvSpPr>
        <p:spPr>
          <a:xfrm>
            <a:off x="20283373" y="15754594"/>
            <a:ext cx="3954262" cy="420624"/>
          </a:xfrm>
          <a:prstGeom prst="rect">
            <a:avLst/>
          </a:prstGeom>
          <a:noFill/>
          <a:ln/>
        </p:spPr>
        <p:txBody>
          <a:bodyPr wrap="square" lIns="0" tIns="0" rIns="0" bIns="0" rtlCol="0" anchor="ctr"/>
          <a:lstStyle/>
          <a:p>
            <a:pPr algn="ctr" indent="0" marL="0">
              <a:buNone/>
            </a:pPr>
            <a:r>
              <a:rPr lang="en-US" sz="2700" b="1" dirty="0">
                <a:solidFill>
                  <a:srgbClr val="666666"/>
                </a:solidFill>
                <a:latin typeface="Liberation Serif" pitchFamily="34" charset="0"/>
                <a:ea typeface="Liberation Serif" pitchFamily="34" charset="-122"/>
                <a:cs typeface="Liberation Serif" pitchFamily="34" charset="-120"/>
              </a:rPr>
              <a:t>Step 299 · Failure</a:t>
            </a:r>
            <a:endParaRPr lang="en-US" sz="2700" dirty="0"/>
          </a:p>
        </p:txBody>
      </p:sp>
      <p:sp>
        <p:nvSpPr>
          <p:cNvPr id="46" name="Text 26"/>
          <p:cNvSpPr/>
          <p:nvPr/>
        </p:nvSpPr>
        <p:spPr>
          <a:xfrm>
            <a:off x="146304" y="16395192"/>
            <a:ext cx="2926080" cy="512064"/>
          </a:xfrm>
          <a:prstGeom prst="rect">
            <a:avLst/>
          </a:prstGeom>
          <a:noFill/>
          <a:ln/>
        </p:spPr>
        <p:txBody>
          <a:bodyPr wrap="square" lIns="0" tIns="0" rIns="0" bIns="0" rtlCol="0" anchor="ctr"/>
          <a:lstStyle/>
          <a:p>
            <a:pPr indent="0" marL="0">
              <a:buNone/>
            </a:pPr>
            <a:r>
              <a:rPr lang="en-US" sz="3400" b="1" dirty="0">
                <a:solidFill>
                  <a:srgbClr val="202020"/>
                </a:solidFill>
                <a:latin typeface="Liberation Serif" pitchFamily="34" charset="0"/>
                <a:ea typeface="Liberation Serif" pitchFamily="34" charset="-122"/>
                <a:cs typeface="Liberation Serif" pitchFamily="34" charset="-120"/>
              </a:rPr>
              <a:t>Long</a:t>
            </a:r>
            <a:endParaRPr lang="en-US" sz="3400" dirty="0"/>
          </a:p>
        </p:txBody>
      </p:sp>
      <p:sp>
        <p:nvSpPr>
          <p:cNvPr id="47" name="Text 27"/>
          <p:cNvSpPr/>
          <p:nvPr/>
        </p:nvSpPr>
        <p:spPr>
          <a:xfrm>
            <a:off x="3246120" y="16395192"/>
            <a:ext cx="20991515" cy="512064"/>
          </a:xfrm>
          <a:prstGeom prst="rect">
            <a:avLst/>
          </a:prstGeom>
          <a:noFill/>
          <a:ln/>
        </p:spPr>
        <p:txBody>
          <a:bodyPr wrap="square" lIns="0" tIns="0" rIns="0" bIns="0" rtlCol="0" anchor="ctr"/>
          <a:lstStyle/>
          <a:p>
            <a:pPr indent="0" marL="0">
              <a:buNone/>
            </a:pPr>
            <a:r>
              <a:rPr lang="en-US" sz="3000" dirty="0">
                <a:solidFill>
                  <a:srgbClr val="202020"/>
                </a:solidFill>
                <a:latin typeface="Liberation Serif" pitchFamily="34" charset="0"/>
                <a:ea typeface="Liberation Serif" pitchFamily="34" charset="-122"/>
                <a:cs typeface="Liberation Serif" pitchFamily="34" charset="-120"/>
              </a:rPr>
              <a:t>put both the alphabet soup and the tomato sauce in the basket</a:t>
            </a:r>
            <a:endParaRPr lang="en-US" sz="3000" dirty="0"/>
          </a:p>
        </p:txBody>
      </p:sp>
      <p:pic>
        <p:nvPicPr>
          <p:cNvPr id="48" name="Image 18" descr="ACPD, top view, LIBERO-long, task 0, episode 44, recorded step 0, success">    </p:cNvPr>
          <p:cNvPicPr>
            <a:picLocks noChangeAspect="1"/>
          </p:cNvPicPr>
          <p:nvPr/>
        </p:nvPicPr>
        <p:blipFill>
          <a:blip r:embed="rId19"/>
          <a:stretch>
            <a:fillRect/>
          </a:stretch>
        </p:blipFill>
        <p:spPr>
          <a:xfrm>
            <a:off x="146304" y="16952976"/>
            <a:ext cx="3954262" cy="3954262"/>
          </a:xfrm>
          <a:prstGeom prst="rect">
            <a:avLst/>
          </a:prstGeom>
        </p:spPr>
      </p:pic>
      <p:sp>
        <p:nvSpPr>
          <p:cNvPr id="49" name="Text 28"/>
          <p:cNvSpPr/>
          <p:nvPr/>
        </p:nvSpPr>
        <p:spPr>
          <a:xfrm>
            <a:off x="146304" y="20930098"/>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0</a:t>
            </a:r>
            <a:endParaRPr lang="en-US" sz="2700" dirty="0"/>
          </a:p>
        </p:txBody>
      </p:sp>
      <p:pic>
        <p:nvPicPr>
          <p:cNvPr id="50" name="Image 19" descr="ACPD, top view, LIBERO-long, task 0, episode 44, recorded step 87, success">    </p:cNvPr>
          <p:cNvPicPr>
            <a:picLocks noChangeAspect="1"/>
          </p:cNvPicPr>
          <p:nvPr/>
        </p:nvPicPr>
        <p:blipFill>
          <a:blip r:embed="rId20"/>
          <a:stretch>
            <a:fillRect/>
          </a:stretch>
        </p:blipFill>
        <p:spPr>
          <a:xfrm>
            <a:off x="4173718" y="16952976"/>
            <a:ext cx="3954262" cy="3954262"/>
          </a:xfrm>
          <a:prstGeom prst="rect">
            <a:avLst/>
          </a:prstGeom>
        </p:spPr>
      </p:pic>
      <p:sp>
        <p:nvSpPr>
          <p:cNvPr id="51" name="Text 29"/>
          <p:cNvSpPr/>
          <p:nvPr/>
        </p:nvSpPr>
        <p:spPr>
          <a:xfrm>
            <a:off x="4173718" y="20930098"/>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87</a:t>
            </a:r>
            <a:endParaRPr lang="en-US" sz="2700" dirty="0"/>
          </a:p>
        </p:txBody>
      </p:sp>
      <p:pic>
        <p:nvPicPr>
          <p:cNvPr id="52" name="Image 20" descr="ACPD, top view, LIBERO-long, task 0, episode 44, recorded step 175, success">    </p:cNvPr>
          <p:cNvPicPr>
            <a:picLocks noChangeAspect="1"/>
          </p:cNvPicPr>
          <p:nvPr/>
        </p:nvPicPr>
        <p:blipFill>
          <a:blip r:embed="rId21"/>
          <a:stretch>
            <a:fillRect/>
          </a:stretch>
        </p:blipFill>
        <p:spPr>
          <a:xfrm>
            <a:off x="8201132" y="16952976"/>
            <a:ext cx="3954262" cy="3954262"/>
          </a:xfrm>
          <a:prstGeom prst="rect">
            <a:avLst/>
          </a:prstGeom>
        </p:spPr>
      </p:pic>
      <p:sp>
        <p:nvSpPr>
          <p:cNvPr id="53" name="Text 30"/>
          <p:cNvSpPr/>
          <p:nvPr/>
        </p:nvSpPr>
        <p:spPr>
          <a:xfrm>
            <a:off x="8201132" y="20930098"/>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175</a:t>
            </a:r>
            <a:endParaRPr lang="en-US" sz="2700" dirty="0"/>
          </a:p>
        </p:txBody>
      </p:sp>
      <p:pic>
        <p:nvPicPr>
          <p:cNvPr id="54" name="Image 21" descr="ACPD, top view, LIBERO-long, task 0, episode 44, recorded step 262, success">    </p:cNvPr>
          <p:cNvPicPr>
            <a:picLocks noChangeAspect="1"/>
          </p:cNvPicPr>
          <p:nvPr/>
        </p:nvPicPr>
        <p:blipFill>
          <a:blip r:embed="rId22"/>
          <a:stretch>
            <a:fillRect/>
          </a:stretch>
        </p:blipFill>
        <p:spPr>
          <a:xfrm>
            <a:off x="12228546" y="16952976"/>
            <a:ext cx="3954262" cy="3954262"/>
          </a:xfrm>
          <a:prstGeom prst="rect">
            <a:avLst/>
          </a:prstGeom>
        </p:spPr>
      </p:pic>
      <p:sp>
        <p:nvSpPr>
          <p:cNvPr id="55" name="Text 31"/>
          <p:cNvSpPr/>
          <p:nvPr/>
        </p:nvSpPr>
        <p:spPr>
          <a:xfrm>
            <a:off x="12228546" y="20930098"/>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262</a:t>
            </a:r>
            <a:endParaRPr lang="en-US" sz="2700" dirty="0"/>
          </a:p>
        </p:txBody>
      </p:sp>
      <p:pic>
        <p:nvPicPr>
          <p:cNvPr id="56" name="Image 22" descr="ACPD, top view, LIBERO-long, task 0, episode 44, recorded step 350, success">    </p:cNvPr>
          <p:cNvPicPr>
            <a:picLocks noChangeAspect="1"/>
          </p:cNvPicPr>
          <p:nvPr/>
        </p:nvPicPr>
        <p:blipFill>
          <a:blip r:embed="rId23"/>
          <a:stretch>
            <a:fillRect/>
          </a:stretch>
        </p:blipFill>
        <p:spPr>
          <a:xfrm>
            <a:off x="16255959" y="16952976"/>
            <a:ext cx="3954262" cy="3954262"/>
          </a:xfrm>
          <a:prstGeom prst="rect">
            <a:avLst/>
          </a:prstGeom>
        </p:spPr>
      </p:pic>
      <p:sp>
        <p:nvSpPr>
          <p:cNvPr id="57" name="Text 32"/>
          <p:cNvSpPr/>
          <p:nvPr/>
        </p:nvSpPr>
        <p:spPr>
          <a:xfrm>
            <a:off x="16255959" y="20930098"/>
            <a:ext cx="3954262" cy="420624"/>
          </a:xfrm>
          <a:prstGeom prst="rect">
            <a:avLst/>
          </a:prstGeom>
          <a:noFill/>
          <a:ln/>
        </p:spPr>
        <p:txBody>
          <a:bodyPr wrap="square" lIns="0" tIns="0" rIns="0" bIns="0" rtlCol="0" anchor="ctr"/>
          <a:lstStyle/>
          <a:p>
            <a:pPr algn="ctr" indent="0" marL="0">
              <a:buNone/>
            </a:pPr>
            <a:r>
              <a:rPr lang="en-US" sz="2700" dirty="0">
                <a:solidFill>
                  <a:srgbClr val="666666"/>
                </a:solidFill>
                <a:latin typeface="Liberation Serif" pitchFamily="34" charset="0"/>
                <a:ea typeface="Liberation Serif" pitchFamily="34" charset="-122"/>
                <a:cs typeface="Liberation Serif" pitchFamily="34" charset="-120"/>
              </a:rPr>
              <a:t>Step 350</a:t>
            </a:r>
            <a:endParaRPr lang="en-US" sz="2700" dirty="0"/>
          </a:p>
        </p:txBody>
      </p:sp>
      <p:pic>
        <p:nvPicPr>
          <p:cNvPr id="58" name="Image 23" descr="ACPD, top view, LIBERO-long, task 0, episode 44, recorded step 437, success">    </p:cNvPr>
          <p:cNvPicPr>
            <a:picLocks noChangeAspect="1"/>
          </p:cNvPicPr>
          <p:nvPr/>
        </p:nvPicPr>
        <p:blipFill>
          <a:blip r:embed="rId24"/>
          <a:stretch>
            <a:fillRect/>
          </a:stretch>
        </p:blipFill>
        <p:spPr>
          <a:xfrm>
            <a:off x="20283373" y="16952976"/>
            <a:ext cx="3954262" cy="3954262"/>
          </a:xfrm>
          <a:prstGeom prst="rect">
            <a:avLst/>
          </a:prstGeom>
        </p:spPr>
      </p:pic>
      <p:sp>
        <p:nvSpPr>
          <p:cNvPr id="59" name="Text 33"/>
          <p:cNvSpPr/>
          <p:nvPr/>
        </p:nvSpPr>
        <p:spPr>
          <a:xfrm>
            <a:off x="20283373" y="20930098"/>
            <a:ext cx="3954262" cy="420624"/>
          </a:xfrm>
          <a:prstGeom prst="rect">
            <a:avLst/>
          </a:prstGeom>
          <a:noFill/>
          <a:ln/>
        </p:spPr>
        <p:txBody>
          <a:bodyPr wrap="square" lIns="0" tIns="0" rIns="0" bIns="0" rtlCol="0" anchor="ctr"/>
          <a:lstStyle/>
          <a:p>
            <a:pPr algn="ctr" indent="0" marL="0">
              <a:buNone/>
            </a:pPr>
            <a:r>
              <a:rPr lang="en-US" sz="2700" b="1" dirty="0">
                <a:solidFill>
                  <a:srgbClr val="666666"/>
                </a:solidFill>
                <a:latin typeface="Liberation Serif" pitchFamily="34" charset="0"/>
                <a:ea typeface="Liberation Serif" pitchFamily="34" charset="-122"/>
                <a:cs typeface="Liberation Serif" pitchFamily="34" charset="-120"/>
              </a:rPr>
              <a:t>Step 437 · Success</a:t>
            </a:r>
            <a:endParaRPr lang="en-US" sz="2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iberation Serif"/>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iberation Serif"/>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ACPD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ACPD rollouts across four deployment views and four LIBERO suites</dc:title>
  <dc:subject>Randomly sampled ACPD evaluation episodes, four views by four LIBERO suites</dc:subject>
  <dc:creator>ACPD research</dc:creator>
  <cp:lastModifiedBy>ACPD research</cp:lastModifiedBy>
  <cp:revision>1</cp:revision>
  <dcterms:created xsi:type="dcterms:W3CDTF">2026-10-29T02:42:58Z</dcterms:created>
  <dcterms:modified xsi:type="dcterms:W3CDTF">2026-10-29T02:42:58Z</dcterms:modified>
</cp:coreProperties>
</file>